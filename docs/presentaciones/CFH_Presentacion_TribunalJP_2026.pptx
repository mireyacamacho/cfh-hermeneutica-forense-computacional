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4191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Saludo institucional. Esta presentación expone la metodología CFH, sus tres índices y una propuesta de colaboración técnica académica para las sentencias colectivas de Justicia y Paz.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agenda brevemente. Total: 45 minutos + preguntas.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índices son complementarios. DIS e IEI aplican siempre sobre texto. ICM solo si el Tribunal tiene grabaciones de versiones libres o audiencias.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768d es la arquitectura de ConfliBERT, no un parámetro arbitrario. Es el mismo espacio que BERT pero entrenado en corpus de conflicto. La distancia coseno mide qué tan lejos está una sentencia del lenguaje de las víctimas.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claro que el trabajo con la JEP (Macrocaso 003) y este ejercicio con el Tribunal son colaboraciones académicas independientes, con corpus y resultados separados.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hallazgos son reales. El CFH produce evidencia cuantitativa reproducible, no interpretaciones subjetivas.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la arquitectura técnica es idéntica — DIS, IEI, (ICM si aplica). Lo que cambia es el corpus de referencia y la fuente del centroide de víctimas.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Escenario A es más rápido (1-2 semanas). Escenario B tiene mayor legitimidad pero requiere coordinación. Ambos producen los mismos tres índices: DIS, IEI y opcionalmente ICM.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corpus ya está procesado localmente. Enfatizar que incluye las sentencias CIDH específicas de paramilitarismo colombiano que anclan el centroide de referencia interamericano.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fases progresivas. La Fase 1 puede empezar de inmediato con el corpus ya disponible. Las fases son acumulativas — cada una entrega resultados utilizables.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framing de colaboración académica protege tanto al Tribunal como a la investigadora. No hay transferencia de propiedad intelectual ni relación contractual.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Fase 1 no requiere ningún acuerdo formal previo — puede empezar de inmediato con el corpus ya disponible.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recordando los tres índices. El ICM es la puerta de entrada si el Tribunal tiene material audiovisual — puede ser el diferenciador metodológico más potente.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0D7377">
              <a:alpha val="25000"/>
            </a:srgbClr>
          </a:solidFill>
          <a:ln w="12700">
            <a:solidFill>
              <a:srgbClr val="0D7377"/>
            </a:solidFill>
            <a:prstDash val="solid"/>
          </a:ln>
        </p:spPr>
        <p:txBody>
          <a:bodyPr/>
          <a:lstStyle/>
          <a:p>
            <a:endParaRPr lang="es-CO"/>
          </a:p>
        </p:txBody>
      </p:sp>
      <p:sp>
        <p:nvSpPr>
          <p:cNvPr id="3" name="Shape 1"/>
          <p:cNvSpPr/>
          <p:nvPr/>
        </p:nvSpPr>
        <p:spPr>
          <a:xfrm>
            <a:off x="7498080" y="-457200"/>
            <a:ext cx="2560320" cy="2560320"/>
          </a:xfrm>
          <a:prstGeom prst="ellipse">
            <a:avLst/>
          </a:prstGeom>
          <a:solidFill>
            <a:srgbClr val="14A0A4">
              <a:alpha val="40000"/>
            </a:srgbClr>
          </a:solidFill>
          <a:ln w="12700">
            <a:solidFill>
              <a:srgbClr val="0D7377"/>
            </a:solidFill>
            <a:prstDash val="solid"/>
          </a:ln>
        </p:spPr>
        <p:txBody>
          <a:bodyPr/>
          <a:lstStyle/>
          <a:p>
            <a:endParaRPr lang="es-CO"/>
          </a:p>
        </p:txBody>
      </p:sp>
      <p:sp>
        <p:nvSpPr>
          <p:cNvPr id="4" name="Text 2"/>
          <p:cNvSpPr/>
          <p:nvPr/>
        </p:nvSpPr>
        <p:spPr>
          <a:xfrm>
            <a:off x="548640" y="365760"/>
            <a:ext cx="7772400" cy="365760"/>
          </a:xfrm>
          <a:prstGeom prst="rect">
            <a:avLst/>
          </a:prstGeom>
          <a:noFill/>
          <a:ln/>
        </p:spPr>
        <p:txBody>
          <a:bodyPr wrap="square" lIns="0" tIns="0" rIns="0" bIns="0" rtlCol="0" anchor="ctr"/>
          <a:lstStyle/>
          <a:p>
            <a:pPr marL="0" indent="0">
              <a:buNone/>
            </a:pPr>
            <a:r>
              <a:rPr lang="en-US" sz="1000" b="1" kern="0" spc="200" dirty="0">
                <a:solidFill>
                  <a:srgbClr val="14A0A4"/>
                </a:solidFill>
              </a:rPr>
              <a:t>TRIBUNAL SUPERIOR — SALA DE JUSTICIA Y PAZ</a:t>
            </a:r>
            <a:endParaRPr lang="en-US" sz="1000" dirty="0"/>
          </a:p>
        </p:txBody>
      </p:sp>
      <p:sp>
        <p:nvSpPr>
          <p:cNvPr id="5" name="Text 3"/>
          <p:cNvSpPr/>
          <p:nvPr/>
        </p:nvSpPr>
        <p:spPr>
          <a:xfrm>
            <a:off x="548640" y="914400"/>
            <a:ext cx="7772400" cy="1645920"/>
          </a:xfrm>
          <a:prstGeom prst="rect">
            <a:avLst/>
          </a:prstGeom>
          <a:noFill/>
          <a:ln/>
        </p:spPr>
        <p:txBody>
          <a:bodyPr wrap="square" lIns="0" tIns="0" rIns="0" bIns="0" rtlCol="0" anchor="ctr"/>
          <a:lstStyle/>
          <a:p>
            <a:pPr marL="0" indent="0" algn="l">
              <a:buNone/>
            </a:pPr>
            <a:r>
              <a:rPr lang="en-US" sz="4000" b="1" dirty="0">
                <a:solidFill>
                  <a:srgbClr val="FFFFFF"/>
                </a:solidFill>
              </a:rPr>
              <a:t>Hermenéutica Forense</a:t>
            </a:r>
            <a:endParaRPr lang="en-US" sz="4000" dirty="0"/>
          </a:p>
          <a:p>
            <a:pPr marL="0" indent="0" algn="l">
              <a:buNone/>
            </a:pPr>
            <a:r>
              <a:rPr lang="en-US" sz="4000" b="1" dirty="0">
                <a:solidFill>
                  <a:srgbClr val="FFFFFF"/>
                </a:solidFill>
              </a:rPr>
              <a:t>Computacional (CFH)</a:t>
            </a:r>
            <a:endParaRPr lang="en-US" sz="4000" dirty="0"/>
          </a:p>
        </p:txBody>
      </p:sp>
      <p:sp>
        <p:nvSpPr>
          <p:cNvPr id="6" name="Text 4"/>
          <p:cNvSpPr/>
          <p:nvPr/>
        </p:nvSpPr>
        <p:spPr>
          <a:xfrm>
            <a:off x="548640" y="2606040"/>
            <a:ext cx="6858000" cy="822960"/>
          </a:xfrm>
          <a:prstGeom prst="rect">
            <a:avLst/>
          </a:prstGeom>
          <a:noFill/>
          <a:ln/>
        </p:spPr>
        <p:txBody>
          <a:bodyPr wrap="square" lIns="0" tIns="0" rIns="0" bIns="0" rtlCol="0" anchor="ctr"/>
          <a:lstStyle/>
          <a:p>
            <a:pPr marL="0" indent="0" algn="l">
              <a:buNone/>
            </a:pPr>
            <a:r>
              <a:rPr lang="en-US" sz="1600" dirty="0">
                <a:solidFill>
                  <a:srgbClr val="E8ECF2"/>
                </a:solidFill>
              </a:rPr>
              <a:t>Metodología que combina análisis del lenguaje, inteligencia artificial y estándares internacionales de derechos humanos para medir la injusticia epistémica y discursiva en sentencias judiciales</a:t>
            </a:r>
            <a:endParaRPr lang="en-US" sz="1600" dirty="0"/>
          </a:p>
        </p:txBody>
      </p:sp>
      <p:sp>
        <p:nvSpPr>
          <p:cNvPr id="7" name="Shape 5"/>
          <p:cNvSpPr/>
          <p:nvPr/>
        </p:nvSpPr>
        <p:spPr>
          <a:xfrm>
            <a:off x="548640" y="3520440"/>
            <a:ext cx="3200400" cy="36576"/>
          </a:xfrm>
          <a:prstGeom prst="rect">
            <a:avLst/>
          </a:prstGeom>
          <a:solidFill>
            <a:srgbClr val="C9A84C"/>
          </a:solidFill>
          <a:ln w="12700">
            <a:solidFill>
              <a:srgbClr val="C9A84C"/>
            </a:solidFill>
            <a:prstDash val="solid"/>
          </a:ln>
        </p:spPr>
        <p:txBody>
          <a:bodyPr/>
          <a:lstStyle/>
          <a:p>
            <a:endParaRPr lang="es-CO"/>
          </a:p>
        </p:txBody>
      </p:sp>
      <p:sp>
        <p:nvSpPr>
          <p:cNvPr id="8" name="Text 6"/>
          <p:cNvSpPr/>
          <p:nvPr/>
        </p:nvSpPr>
        <p:spPr>
          <a:xfrm>
            <a:off x="548640" y="3749040"/>
            <a:ext cx="5486400" cy="365760"/>
          </a:xfrm>
          <a:prstGeom prst="rect">
            <a:avLst/>
          </a:prstGeom>
          <a:noFill/>
          <a:ln/>
        </p:spPr>
        <p:txBody>
          <a:bodyPr wrap="square" lIns="0" tIns="0" rIns="0" bIns="0" rtlCol="0" anchor="ctr"/>
          <a:lstStyle/>
          <a:p>
            <a:pPr marL="0" indent="0" algn="l">
              <a:buNone/>
            </a:pPr>
            <a:r>
              <a:rPr lang="en-US" sz="1300" dirty="0">
                <a:solidFill>
                  <a:srgbClr val="64748B"/>
                </a:solidFill>
              </a:rPr>
              <a:t>Mireya Camacho  ·  Junio 2026</a:t>
            </a:r>
            <a:endParaRPr lang="en-US" sz="1300" dirty="0"/>
          </a:p>
        </p:txBody>
      </p:sp>
      <p:sp>
        <p:nvSpPr>
          <p:cNvPr id="9" name="Text 7"/>
          <p:cNvSpPr/>
          <p:nvPr/>
        </p:nvSpPr>
        <p:spPr>
          <a:xfrm>
            <a:off x="548640" y="4572000"/>
            <a:ext cx="7315200" cy="320040"/>
          </a:xfrm>
          <a:prstGeom prst="rect">
            <a:avLst/>
          </a:prstGeom>
          <a:noFill/>
          <a:ln/>
        </p:spPr>
        <p:txBody>
          <a:bodyPr wrap="square" lIns="0" tIns="0" rIns="0" bIns="0" rtlCol="0" anchor="ctr"/>
          <a:lstStyle/>
          <a:p>
            <a:pPr marL="0" indent="0">
              <a:buNone/>
            </a:pPr>
            <a:r>
              <a:rPr lang="en-US" sz="1000" i="1" dirty="0">
                <a:solidFill>
                  <a:srgbClr val="B83232"/>
                </a:solidFill>
              </a:rPr>
              <a:t>CONFIDENCIAL — Para uso exclusivo del Tribunal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20040"/>
            <a:ext cx="7772400" cy="548640"/>
          </a:xfrm>
          <a:prstGeom prst="rect">
            <a:avLst/>
          </a:prstGeom>
          <a:noFill/>
          <a:ln/>
        </p:spPr>
        <p:txBody>
          <a:bodyPr wrap="square" lIns="0" tIns="0" rIns="0" bIns="0" rtlCol="0" anchor="ctr"/>
          <a:lstStyle/>
          <a:p>
            <a:pPr marL="0" indent="0">
              <a:buNone/>
            </a:pPr>
            <a:r>
              <a:rPr lang="en-US" sz="3200" b="1" dirty="0">
                <a:solidFill>
                  <a:srgbClr val="1A2744"/>
                </a:solidFill>
              </a:rPr>
              <a:t>Agenda</a:t>
            </a:r>
            <a:endParaRPr lang="en-US" sz="3200" dirty="0"/>
          </a:p>
        </p:txBody>
      </p:sp>
      <p:sp>
        <p:nvSpPr>
          <p:cNvPr id="3" name="Shape 1"/>
          <p:cNvSpPr/>
          <p:nvPr/>
        </p:nvSpPr>
        <p:spPr>
          <a:xfrm>
            <a:off x="548640" y="1051560"/>
            <a:ext cx="8046720" cy="658368"/>
          </a:xfrm>
          <a:prstGeom prst="roundRect">
            <a:avLst>
              <a:gd name="adj" fmla="val 11111"/>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4" name="Shape 2"/>
          <p:cNvSpPr/>
          <p:nvPr/>
        </p:nvSpPr>
        <p:spPr>
          <a:xfrm>
            <a:off x="594360" y="1124712"/>
            <a:ext cx="502920" cy="502920"/>
          </a:xfrm>
          <a:prstGeom prst="roundRect">
            <a:avLst>
              <a:gd name="adj" fmla="val 10909"/>
            </a:avLst>
          </a:prstGeom>
          <a:solidFill>
            <a:srgbClr val="1A2744"/>
          </a:solidFill>
          <a:ln w="12700">
            <a:solidFill>
              <a:srgbClr val="1A2744"/>
            </a:solidFill>
            <a:prstDash val="solid"/>
          </a:ln>
        </p:spPr>
        <p:txBody>
          <a:bodyPr/>
          <a:lstStyle/>
          <a:p>
            <a:endParaRPr lang="es-CO"/>
          </a:p>
        </p:txBody>
      </p:sp>
      <p:sp>
        <p:nvSpPr>
          <p:cNvPr id="5" name="Text 3"/>
          <p:cNvSpPr/>
          <p:nvPr/>
        </p:nvSpPr>
        <p:spPr>
          <a:xfrm>
            <a:off x="594360" y="112471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6" name="Text 4"/>
          <p:cNvSpPr/>
          <p:nvPr/>
        </p:nvSpPr>
        <p:spPr>
          <a:xfrm>
            <a:off x="1234440" y="1143000"/>
            <a:ext cx="2926080" cy="256032"/>
          </a:xfrm>
          <a:prstGeom prst="rect">
            <a:avLst/>
          </a:prstGeom>
          <a:noFill/>
          <a:ln/>
        </p:spPr>
        <p:txBody>
          <a:bodyPr wrap="square" lIns="0" tIns="0" rIns="0" bIns="0" rtlCol="0" anchor="ctr"/>
          <a:lstStyle/>
          <a:p>
            <a:pPr marL="0" indent="0">
              <a:buNone/>
            </a:pPr>
            <a:r>
              <a:rPr lang="en-US" sz="1400" b="1" dirty="0">
                <a:solidFill>
                  <a:srgbClr val="1A2744"/>
                </a:solidFill>
              </a:rPr>
              <a:t>¿Qué es el CFH?</a:t>
            </a:r>
            <a:endParaRPr lang="en-US" sz="1400" dirty="0"/>
          </a:p>
        </p:txBody>
      </p:sp>
      <p:sp>
        <p:nvSpPr>
          <p:cNvPr id="7" name="Text 5"/>
          <p:cNvSpPr/>
          <p:nvPr/>
        </p:nvSpPr>
        <p:spPr>
          <a:xfrm>
            <a:off x="1234440" y="1399032"/>
            <a:ext cx="7132320" cy="228600"/>
          </a:xfrm>
          <a:prstGeom prst="rect">
            <a:avLst/>
          </a:prstGeom>
          <a:noFill/>
          <a:ln/>
        </p:spPr>
        <p:txBody>
          <a:bodyPr wrap="square" lIns="0" tIns="0" rIns="0" bIns="0" rtlCol="0" anchor="ctr"/>
          <a:lstStyle/>
          <a:p>
            <a:pPr marL="0" indent="0">
              <a:buNone/>
            </a:pPr>
            <a:r>
              <a:rPr lang="en-US" sz="1100" dirty="0">
                <a:solidFill>
                  <a:srgbClr val="64748B"/>
                </a:solidFill>
              </a:rPr>
              <a:t>Definición, origen y los tres índices de la metodología</a:t>
            </a:r>
            <a:endParaRPr lang="en-US" sz="1100" dirty="0"/>
          </a:p>
        </p:txBody>
      </p:sp>
      <p:sp>
        <p:nvSpPr>
          <p:cNvPr id="8" name="Shape 6"/>
          <p:cNvSpPr/>
          <p:nvPr/>
        </p:nvSpPr>
        <p:spPr>
          <a:xfrm>
            <a:off x="548640" y="1819656"/>
            <a:ext cx="8046720" cy="658368"/>
          </a:xfrm>
          <a:prstGeom prst="roundRect">
            <a:avLst>
              <a:gd name="adj" fmla="val 11111"/>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9" name="Shape 7"/>
          <p:cNvSpPr/>
          <p:nvPr/>
        </p:nvSpPr>
        <p:spPr>
          <a:xfrm>
            <a:off x="594360" y="1892808"/>
            <a:ext cx="502920" cy="502920"/>
          </a:xfrm>
          <a:prstGeom prst="roundRect">
            <a:avLst>
              <a:gd name="adj" fmla="val 10909"/>
            </a:avLst>
          </a:prstGeom>
          <a:solidFill>
            <a:srgbClr val="1A2744"/>
          </a:solidFill>
          <a:ln w="12700">
            <a:solidFill>
              <a:srgbClr val="1A2744"/>
            </a:solidFill>
            <a:prstDash val="solid"/>
          </a:ln>
        </p:spPr>
        <p:txBody>
          <a:bodyPr/>
          <a:lstStyle/>
          <a:p>
            <a:endParaRPr lang="es-CO"/>
          </a:p>
        </p:txBody>
      </p:sp>
      <p:sp>
        <p:nvSpPr>
          <p:cNvPr id="10" name="Text 8"/>
          <p:cNvSpPr/>
          <p:nvPr/>
        </p:nvSpPr>
        <p:spPr>
          <a:xfrm>
            <a:off x="594360" y="189280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1" name="Text 9"/>
          <p:cNvSpPr/>
          <p:nvPr/>
        </p:nvSpPr>
        <p:spPr>
          <a:xfrm>
            <a:off x="1234440" y="1911096"/>
            <a:ext cx="2926080" cy="256032"/>
          </a:xfrm>
          <a:prstGeom prst="rect">
            <a:avLst/>
          </a:prstGeom>
          <a:noFill/>
          <a:ln/>
        </p:spPr>
        <p:txBody>
          <a:bodyPr wrap="square" lIns="0" tIns="0" rIns="0" bIns="0" rtlCol="0" anchor="ctr"/>
          <a:lstStyle/>
          <a:p>
            <a:pPr marL="0" indent="0">
              <a:buNone/>
            </a:pPr>
            <a:r>
              <a:rPr lang="en-US" sz="1400" b="1" dirty="0">
                <a:solidFill>
                  <a:srgbClr val="1A2744"/>
                </a:solidFill>
              </a:rPr>
              <a:t>Resultados Macrocaso 003</a:t>
            </a:r>
            <a:endParaRPr lang="en-US" sz="1400" dirty="0"/>
          </a:p>
        </p:txBody>
      </p:sp>
      <p:sp>
        <p:nvSpPr>
          <p:cNvPr id="12" name="Text 10"/>
          <p:cNvSpPr/>
          <p:nvPr/>
        </p:nvSpPr>
        <p:spPr>
          <a:xfrm>
            <a:off x="1234440" y="2167128"/>
            <a:ext cx="7132320" cy="228600"/>
          </a:xfrm>
          <a:prstGeom prst="rect">
            <a:avLst/>
          </a:prstGeom>
          <a:noFill/>
          <a:ln/>
        </p:spPr>
        <p:txBody>
          <a:bodyPr wrap="square" lIns="0" tIns="0" rIns="0" bIns="0" rtlCol="0" anchor="ctr"/>
          <a:lstStyle/>
          <a:p>
            <a:pPr marL="0" indent="0">
              <a:buNone/>
            </a:pPr>
            <a:r>
              <a:rPr lang="en-US" sz="1100" dirty="0">
                <a:solidFill>
                  <a:srgbClr val="64748B"/>
                </a:solidFill>
              </a:rPr>
              <a:t>Aplicación en falsos positivos — hallazgos clave</a:t>
            </a:r>
            <a:endParaRPr lang="en-US" sz="1100" dirty="0"/>
          </a:p>
        </p:txBody>
      </p:sp>
      <p:sp>
        <p:nvSpPr>
          <p:cNvPr id="13" name="Shape 11"/>
          <p:cNvSpPr/>
          <p:nvPr/>
        </p:nvSpPr>
        <p:spPr>
          <a:xfrm>
            <a:off x="548640" y="2587752"/>
            <a:ext cx="8046720" cy="658368"/>
          </a:xfrm>
          <a:prstGeom prst="roundRect">
            <a:avLst>
              <a:gd name="adj" fmla="val 11111"/>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14" name="Shape 12"/>
          <p:cNvSpPr/>
          <p:nvPr/>
        </p:nvSpPr>
        <p:spPr>
          <a:xfrm>
            <a:off x="594360" y="2660904"/>
            <a:ext cx="502920" cy="502920"/>
          </a:xfrm>
          <a:prstGeom prst="roundRect">
            <a:avLst>
              <a:gd name="adj" fmla="val 10909"/>
            </a:avLst>
          </a:prstGeom>
          <a:solidFill>
            <a:srgbClr val="1A2744"/>
          </a:solidFill>
          <a:ln w="12700">
            <a:solidFill>
              <a:srgbClr val="1A2744"/>
            </a:solidFill>
            <a:prstDash val="solid"/>
          </a:ln>
        </p:spPr>
        <p:txBody>
          <a:bodyPr/>
          <a:lstStyle/>
          <a:p>
            <a:endParaRPr lang="es-CO"/>
          </a:p>
        </p:txBody>
      </p:sp>
      <p:sp>
        <p:nvSpPr>
          <p:cNvPr id="15" name="Text 13"/>
          <p:cNvSpPr/>
          <p:nvPr/>
        </p:nvSpPr>
        <p:spPr>
          <a:xfrm>
            <a:off x="594360" y="266090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6" name="Text 14"/>
          <p:cNvSpPr/>
          <p:nvPr/>
        </p:nvSpPr>
        <p:spPr>
          <a:xfrm>
            <a:off x="1234440" y="2679192"/>
            <a:ext cx="2926080" cy="256032"/>
          </a:xfrm>
          <a:prstGeom prst="rect">
            <a:avLst/>
          </a:prstGeom>
          <a:noFill/>
          <a:ln/>
        </p:spPr>
        <p:txBody>
          <a:bodyPr wrap="square" lIns="0" tIns="0" rIns="0" bIns="0" rtlCol="0" anchor="ctr"/>
          <a:lstStyle/>
          <a:p>
            <a:pPr marL="0" indent="0">
              <a:buNone/>
            </a:pPr>
            <a:r>
              <a:rPr lang="en-US" sz="1400" b="1" dirty="0">
                <a:solidFill>
                  <a:srgbClr val="1A2744"/>
                </a:solidFill>
              </a:rPr>
              <a:t>Adaptación a Justicia y Paz</a:t>
            </a:r>
            <a:endParaRPr lang="en-US" sz="1400" dirty="0"/>
          </a:p>
        </p:txBody>
      </p:sp>
      <p:sp>
        <p:nvSpPr>
          <p:cNvPr id="17" name="Text 15"/>
          <p:cNvSpPr/>
          <p:nvPr/>
        </p:nvSpPr>
        <p:spPr>
          <a:xfrm>
            <a:off x="1234440" y="2935224"/>
            <a:ext cx="7132320" cy="228600"/>
          </a:xfrm>
          <a:prstGeom prst="rect">
            <a:avLst/>
          </a:prstGeom>
          <a:noFill/>
          <a:ln/>
        </p:spPr>
        <p:txBody>
          <a:bodyPr wrap="square" lIns="0" tIns="0" rIns="0" bIns="0" rtlCol="0" anchor="ctr"/>
          <a:lstStyle/>
          <a:p>
            <a:pPr marL="0" indent="0">
              <a:buNone/>
            </a:pPr>
            <a:r>
              <a:rPr lang="en-US" sz="1100" dirty="0">
                <a:solidFill>
                  <a:srgbClr val="64748B"/>
                </a:solidFill>
              </a:rPr>
              <a:t>Paramilitarismo, centroide de víctimas, dos escenarios</a:t>
            </a:r>
            <a:endParaRPr lang="en-US" sz="1100" dirty="0"/>
          </a:p>
        </p:txBody>
      </p:sp>
      <p:sp>
        <p:nvSpPr>
          <p:cNvPr id="18" name="Shape 16"/>
          <p:cNvSpPr/>
          <p:nvPr/>
        </p:nvSpPr>
        <p:spPr>
          <a:xfrm>
            <a:off x="548640" y="3355848"/>
            <a:ext cx="8046720" cy="658368"/>
          </a:xfrm>
          <a:prstGeom prst="roundRect">
            <a:avLst>
              <a:gd name="adj" fmla="val 11111"/>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19" name="Shape 17"/>
          <p:cNvSpPr/>
          <p:nvPr/>
        </p:nvSpPr>
        <p:spPr>
          <a:xfrm>
            <a:off x="594360" y="3429000"/>
            <a:ext cx="502920" cy="502920"/>
          </a:xfrm>
          <a:prstGeom prst="roundRect">
            <a:avLst>
              <a:gd name="adj" fmla="val 10909"/>
            </a:avLst>
          </a:prstGeom>
          <a:solidFill>
            <a:srgbClr val="1A2744"/>
          </a:solidFill>
          <a:ln w="12700">
            <a:solidFill>
              <a:srgbClr val="1A2744"/>
            </a:solidFill>
            <a:prstDash val="solid"/>
          </a:ln>
        </p:spPr>
        <p:txBody>
          <a:bodyPr/>
          <a:lstStyle/>
          <a:p>
            <a:endParaRPr lang="es-CO"/>
          </a:p>
        </p:txBody>
      </p:sp>
      <p:sp>
        <p:nvSpPr>
          <p:cNvPr id="20" name="Text 18"/>
          <p:cNvSpPr/>
          <p:nvPr/>
        </p:nvSpPr>
        <p:spPr>
          <a:xfrm>
            <a:off x="594360" y="34290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1" name="Text 19"/>
          <p:cNvSpPr/>
          <p:nvPr/>
        </p:nvSpPr>
        <p:spPr>
          <a:xfrm>
            <a:off x="1234440" y="3447288"/>
            <a:ext cx="2926080" cy="256032"/>
          </a:xfrm>
          <a:prstGeom prst="rect">
            <a:avLst/>
          </a:prstGeom>
          <a:noFill/>
          <a:ln/>
        </p:spPr>
        <p:txBody>
          <a:bodyPr wrap="square" lIns="0" tIns="0" rIns="0" bIns="0" rtlCol="0" anchor="ctr"/>
          <a:lstStyle/>
          <a:p>
            <a:pPr marL="0" indent="0">
              <a:buNone/>
            </a:pPr>
            <a:r>
              <a:rPr lang="en-US" sz="1400" b="1" dirty="0">
                <a:solidFill>
                  <a:srgbClr val="1A2744"/>
                </a:solidFill>
              </a:rPr>
              <a:t>Propuesta de colaboración técnica</a:t>
            </a:r>
            <a:endParaRPr lang="en-US" sz="1400" dirty="0"/>
          </a:p>
        </p:txBody>
      </p:sp>
      <p:sp>
        <p:nvSpPr>
          <p:cNvPr id="22" name="Text 20"/>
          <p:cNvSpPr/>
          <p:nvPr/>
        </p:nvSpPr>
        <p:spPr>
          <a:xfrm>
            <a:off x="1234440" y="3703320"/>
            <a:ext cx="7132320" cy="228600"/>
          </a:xfrm>
          <a:prstGeom prst="rect">
            <a:avLst/>
          </a:prstGeom>
          <a:noFill/>
          <a:ln/>
        </p:spPr>
        <p:txBody>
          <a:bodyPr wrap="square" lIns="0" tIns="0" rIns="0" bIns="0" rtlCol="0" anchor="ctr"/>
          <a:lstStyle/>
          <a:p>
            <a:pPr marL="0" indent="0">
              <a:buNone/>
            </a:pPr>
            <a:r>
              <a:rPr lang="en-US" sz="1100" dirty="0">
                <a:solidFill>
                  <a:srgbClr val="64748B"/>
                </a:solidFill>
              </a:rPr>
              <a:t>Modalidades académicas, tiempos y confidencialidad</a:t>
            </a:r>
            <a:endParaRPr lang="en-US" sz="1100" dirty="0"/>
          </a:p>
        </p:txBody>
      </p:sp>
      <p:sp>
        <p:nvSpPr>
          <p:cNvPr id="23" name="Shape 21"/>
          <p:cNvSpPr/>
          <p:nvPr/>
        </p:nvSpPr>
        <p:spPr>
          <a:xfrm>
            <a:off x="548640" y="4123944"/>
            <a:ext cx="8046720" cy="658368"/>
          </a:xfrm>
          <a:prstGeom prst="roundRect">
            <a:avLst>
              <a:gd name="adj" fmla="val 11111"/>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24" name="Shape 22"/>
          <p:cNvSpPr/>
          <p:nvPr/>
        </p:nvSpPr>
        <p:spPr>
          <a:xfrm>
            <a:off x="594360" y="4197096"/>
            <a:ext cx="502920" cy="502920"/>
          </a:xfrm>
          <a:prstGeom prst="roundRect">
            <a:avLst>
              <a:gd name="adj" fmla="val 10909"/>
            </a:avLst>
          </a:prstGeom>
          <a:solidFill>
            <a:srgbClr val="1A2744"/>
          </a:solidFill>
          <a:ln w="12700">
            <a:solidFill>
              <a:srgbClr val="1A2744"/>
            </a:solidFill>
            <a:prstDash val="solid"/>
          </a:ln>
        </p:spPr>
        <p:txBody>
          <a:bodyPr/>
          <a:lstStyle/>
          <a:p>
            <a:endParaRPr lang="es-CO"/>
          </a:p>
        </p:txBody>
      </p:sp>
      <p:sp>
        <p:nvSpPr>
          <p:cNvPr id="25" name="Text 23"/>
          <p:cNvSpPr/>
          <p:nvPr/>
        </p:nvSpPr>
        <p:spPr>
          <a:xfrm>
            <a:off x="594360" y="4197096"/>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26" name="Text 24"/>
          <p:cNvSpPr/>
          <p:nvPr/>
        </p:nvSpPr>
        <p:spPr>
          <a:xfrm>
            <a:off x="1234440" y="4215384"/>
            <a:ext cx="2926080" cy="256032"/>
          </a:xfrm>
          <a:prstGeom prst="rect">
            <a:avLst/>
          </a:prstGeom>
          <a:noFill/>
          <a:ln/>
        </p:spPr>
        <p:txBody>
          <a:bodyPr wrap="square" lIns="0" tIns="0" rIns="0" bIns="0" rtlCol="0" anchor="ctr"/>
          <a:lstStyle/>
          <a:p>
            <a:pPr marL="0" indent="0">
              <a:buNone/>
            </a:pPr>
            <a:r>
              <a:rPr lang="en-US" sz="1400" b="1" dirty="0">
                <a:solidFill>
                  <a:srgbClr val="1A2744"/>
                </a:solidFill>
              </a:rPr>
              <a:t>Próximos pasos</a:t>
            </a:r>
            <a:endParaRPr lang="en-US" sz="1400" dirty="0"/>
          </a:p>
        </p:txBody>
      </p:sp>
      <p:sp>
        <p:nvSpPr>
          <p:cNvPr id="27" name="Text 25"/>
          <p:cNvSpPr/>
          <p:nvPr/>
        </p:nvSpPr>
        <p:spPr>
          <a:xfrm>
            <a:off x="1234440" y="4471416"/>
            <a:ext cx="7132320" cy="228600"/>
          </a:xfrm>
          <a:prstGeom prst="rect">
            <a:avLst/>
          </a:prstGeom>
          <a:noFill/>
          <a:ln/>
        </p:spPr>
        <p:txBody>
          <a:bodyPr wrap="square" lIns="0" tIns="0" rIns="0" bIns="0" rtlCol="0" anchor="ctr"/>
          <a:lstStyle/>
          <a:p>
            <a:pPr marL="0" indent="0">
              <a:buNone/>
            </a:pPr>
            <a:r>
              <a:rPr lang="en-US" sz="1100" dirty="0">
                <a:solidFill>
                  <a:srgbClr val="64748B"/>
                </a:solidFill>
              </a:rPr>
              <a:t>Hoja de ruta y decisiones requeridas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A2744"/>
          </a:solidFill>
          <a:ln w="12700">
            <a:solidFill>
              <a:srgbClr val="1A2744"/>
            </a:solidFill>
            <a:prstDash val="solid"/>
          </a:ln>
        </p:spPr>
        <p:txBody>
          <a:bodyPr/>
          <a:lstStyle/>
          <a:p>
            <a:endParaRPr lang="es-CO"/>
          </a:p>
        </p:txBody>
      </p:sp>
      <p:sp>
        <p:nvSpPr>
          <p:cNvPr id="3" name="Text 1"/>
          <p:cNvSpPr/>
          <p:nvPr/>
        </p:nvSpPr>
        <p:spPr>
          <a:xfrm>
            <a:off x="548640" y="0"/>
            <a:ext cx="8229600" cy="1188720"/>
          </a:xfrm>
          <a:prstGeom prst="rect">
            <a:avLst/>
          </a:prstGeom>
          <a:noFill/>
          <a:ln/>
        </p:spPr>
        <p:txBody>
          <a:bodyPr wrap="square" lIns="0" tIns="0" rIns="0" bIns="0" rtlCol="0" anchor="ctr"/>
          <a:lstStyle/>
          <a:p>
            <a:pPr marL="0" indent="0">
              <a:buNone/>
            </a:pPr>
            <a:r>
              <a:rPr lang="en-US" sz="2800" b="1" dirty="0">
                <a:solidFill>
                  <a:srgbClr val="FFFFFF"/>
                </a:solidFill>
              </a:rPr>
              <a:t>01  ·  ¿Qué es el CFH?</a:t>
            </a:r>
            <a:endParaRPr lang="en-US" sz="2800" dirty="0"/>
          </a:p>
        </p:txBody>
      </p:sp>
      <p:sp>
        <p:nvSpPr>
          <p:cNvPr id="4" name="Shape 2"/>
          <p:cNvSpPr/>
          <p:nvPr/>
        </p:nvSpPr>
        <p:spPr>
          <a:xfrm>
            <a:off x="548640" y="1325880"/>
            <a:ext cx="8046720" cy="1234440"/>
          </a:xfrm>
          <a:prstGeom prst="roundRect">
            <a:avLst>
              <a:gd name="adj" fmla="val 7407"/>
            </a:avLst>
          </a:prstGeom>
          <a:solidFill>
            <a:srgbClr val="EBF4F5"/>
          </a:solidFill>
          <a:ln w="19050">
            <a:solidFill>
              <a:srgbClr val="0D7377"/>
            </a:solidFill>
            <a:prstDash val="solid"/>
          </a:ln>
        </p:spPr>
        <p:txBody>
          <a:bodyPr/>
          <a:lstStyle/>
          <a:p>
            <a:endParaRPr lang="es-CO"/>
          </a:p>
        </p:txBody>
      </p:sp>
      <p:sp>
        <p:nvSpPr>
          <p:cNvPr id="5" name="Text 3"/>
          <p:cNvSpPr/>
          <p:nvPr/>
        </p:nvSpPr>
        <p:spPr>
          <a:xfrm>
            <a:off x="777240" y="1417320"/>
            <a:ext cx="7589520" cy="1051560"/>
          </a:xfrm>
          <a:prstGeom prst="rect">
            <a:avLst/>
          </a:prstGeom>
          <a:noFill/>
          <a:ln/>
        </p:spPr>
        <p:txBody>
          <a:bodyPr wrap="square" lIns="0" tIns="0" rIns="0" bIns="0" rtlCol="0" anchor="ctr"/>
          <a:lstStyle/>
          <a:p>
            <a:pPr marL="0" indent="0" algn="l">
              <a:buNone/>
            </a:pPr>
            <a:r>
              <a:rPr lang="en-US" sz="1350" b="1" dirty="0">
                <a:solidFill>
                  <a:srgbClr val="1A2744"/>
                </a:solidFill>
              </a:rPr>
              <a:t>El Forense Computacional Hermenéutico (CFH) </a:t>
            </a:r>
            <a:r>
              <a:rPr lang="en-US" sz="1350" dirty="0">
                <a:solidFill>
                  <a:srgbClr val="1E293B"/>
                </a:solidFill>
              </a:rPr>
              <a:t>es una metodología que combina procesamiento de lenguaje natural, modelos entrenados en conflicto armado y análisis jurídico para </a:t>
            </a:r>
            <a:r>
              <a:rPr lang="en-US" sz="1350" b="1" dirty="0">
                <a:solidFill>
                  <a:srgbClr val="0D7377"/>
                </a:solidFill>
              </a:rPr>
              <a:t>medir la injusticia epistémica y discursiva en sentencias judiciales.</a:t>
            </a:r>
            <a:endParaRPr lang="en-US" sz="1350" dirty="0"/>
          </a:p>
        </p:txBody>
      </p:sp>
      <p:sp>
        <p:nvSpPr>
          <p:cNvPr id="6" name="Shape 4"/>
          <p:cNvSpPr/>
          <p:nvPr/>
        </p:nvSpPr>
        <p:spPr>
          <a:xfrm>
            <a:off x="548640" y="2743200"/>
            <a:ext cx="2606040" cy="1920240"/>
          </a:xfrm>
          <a:prstGeom prst="roundRect">
            <a:avLst>
              <a:gd name="adj" fmla="val 4762"/>
            </a:avLst>
          </a:prstGeom>
          <a:solidFill>
            <a:srgbClr val="FFFFFF"/>
          </a:solidFill>
          <a:ln/>
          <a:effectLst>
            <a:outerShdw blurRad="101600" dist="38100" dir="2700000" algn="bl" rotWithShape="0">
              <a:srgbClr val="000000">
                <a:alpha val="12000"/>
              </a:srgbClr>
            </a:outerShdw>
          </a:effectLst>
        </p:spPr>
        <p:txBody>
          <a:bodyPr/>
          <a:lstStyle/>
          <a:p>
            <a:endParaRPr lang="es-CO"/>
          </a:p>
        </p:txBody>
      </p:sp>
      <p:pic>
        <p:nvPicPr>
          <p:cNvPr id="7" name="Image 0" descr="preencoded.png"/>
          <p:cNvPicPr>
            <a:picLocks noChangeAspect="1"/>
          </p:cNvPicPr>
          <p:nvPr/>
        </p:nvPicPr>
        <p:blipFill>
          <a:blip r:embed="rId3"/>
          <a:stretch>
            <a:fillRect/>
          </a:stretch>
        </p:blipFill>
        <p:spPr>
          <a:xfrm>
            <a:off x="1600200" y="2834640"/>
            <a:ext cx="502920" cy="502920"/>
          </a:xfrm>
          <a:prstGeom prst="rect">
            <a:avLst/>
          </a:prstGeom>
        </p:spPr>
      </p:pic>
      <p:sp>
        <p:nvSpPr>
          <p:cNvPr id="8" name="Text 5"/>
          <p:cNvSpPr/>
          <p:nvPr/>
        </p:nvSpPr>
        <p:spPr>
          <a:xfrm>
            <a:off x="548640" y="3401568"/>
            <a:ext cx="2606040" cy="274320"/>
          </a:xfrm>
          <a:prstGeom prst="rect">
            <a:avLst/>
          </a:prstGeom>
          <a:noFill/>
          <a:ln/>
        </p:spPr>
        <p:txBody>
          <a:bodyPr wrap="square" lIns="0" tIns="0" rIns="0" bIns="0" rtlCol="0" anchor="ctr"/>
          <a:lstStyle/>
          <a:p>
            <a:pPr marL="0" indent="0" algn="ctr">
              <a:buNone/>
            </a:pPr>
            <a:r>
              <a:rPr lang="en-US" sz="1600" b="1" dirty="0">
                <a:solidFill>
                  <a:srgbClr val="1A2744"/>
                </a:solidFill>
              </a:rPr>
              <a:t>DIS</a:t>
            </a:r>
            <a:endParaRPr lang="en-US" sz="1600" dirty="0"/>
          </a:p>
        </p:txBody>
      </p:sp>
      <p:sp>
        <p:nvSpPr>
          <p:cNvPr id="9" name="Text 6"/>
          <p:cNvSpPr/>
          <p:nvPr/>
        </p:nvSpPr>
        <p:spPr>
          <a:xfrm>
            <a:off x="548640" y="3675888"/>
            <a:ext cx="2606040" cy="347472"/>
          </a:xfrm>
          <a:prstGeom prst="rect">
            <a:avLst/>
          </a:prstGeom>
          <a:noFill/>
          <a:ln/>
        </p:spPr>
        <p:txBody>
          <a:bodyPr wrap="square" lIns="0" tIns="0" rIns="0" bIns="0" rtlCol="0" anchor="ctr"/>
          <a:lstStyle/>
          <a:p>
            <a:pPr marL="0" indent="0" algn="ctr">
              <a:buNone/>
            </a:pPr>
            <a:r>
              <a:rPr lang="en-US" sz="1050" b="1" dirty="0">
                <a:solidFill>
                  <a:srgbClr val="1E293B"/>
                </a:solidFill>
              </a:rPr>
              <a:t>Índice de Injusticia</a:t>
            </a:r>
            <a:endParaRPr lang="en-US" sz="1050" dirty="0"/>
          </a:p>
          <a:p>
            <a:pPr marL="0" indent="0" algn="ctr">
              <a:buNone/>
            </a:pPr>
            <a:r>
              <a:rPr lang="en-US" sz="1050" b="1" dirty="0">
                <a:solidFill>
                  <a:srgbClr val="1E293B"/>
                </a:solidFill>
              </a:rPr>
              <a:t>Discursiva</a:t>
            </a:r>
            <a:endParaRPr lang="en-US" sz="1050" dirty="0"/>
          </a:p>
        </p:txBody>
      </p:sp>
      <p:sp>
        <p:nvSpPr>
          <p:cNvPr id="10" name="Text 7"/>
          <p:cNvSpPr/>
          <p:nvPr/>
        </p:nvSpPr>
        <p:spPr>
          <a:xfrm>
            <a:off x="548640" y="4041648"/>
            <a:ext cx="2606040" cy="502920"/>
          </a:xfrm>
          <a:prstGeom prst="rect">
            <a:avLst/>
          </a:prstGeom>
          <a:noFill/>
          <a:ln/>
        </p:spPr>
        <p:txBody>
          <a:bodyPr wrap="square" lIns="0" tIns="0" rIns="0" bIns="0" rtlCol="0" anchor="ctr"/>
          <a:lstStyle/>
          <a:p>
            <a:pPr marL="0" indent="0" algn="ctr">
              <a:buNone/>
            </a:pPr>
            <a:r>
              <a:rPr lang="en-US" sz="950" dirty="0">
                <a:solidFill>
                  <a:srgbClr val="64748B"/>
                </a:solidFill>
              </a:rPr>
              <a:t>Análisis del lenguaje</a:t>
            </a:r>
            <a:endParaRPr lang="en-US" sz="950" dirty="0"/>
          </a:p>
          <a:p>
            <a:pPr marL="0" indent="0" algn="ctr">
              <a:buNone/>
            </a:pPr>
            <a:r>
              <a:rPr lang="en-US" sz="950" dirty="0">
                <a:solidFill>
                  <a:srgbClr val="64748B"/>
                </a:solidFill>
              </a:rPr>
              <a:t>en sentencias escritas</a:t>
            </a:r>
            <a:endParaRPr lang="en-US" sz="950" dirty="0"/>
          </a:p>
        </p:txBody>
      </p:sp>
      <p:sp>
        <p:nvSpPr>
          <p:cNvPr id="11" name="Shape 8"/>
          <p:cNvSpPr/>
          <p:nvPr/>
        </p:nvSpPr>
        <p:spPr>
          <a:xfrm>
            <a:off x="3383280" y="2743200"/>
            <a:ext cx="2606040" cy="1920240"/>
          </a:xfrm>
          <a:prstGeom prst="roundRect">
            <a:avLst>
              <a:gd name="adj" fmla="val 4762"/>
            </a:avLst>
          </a:prstGeom>
          <a:solidFill>
            <a:srgbClr val="FFFFFF"/>
          </a:solidFill>
          <a:ln/>
          <a:effectLst>
            <a:outerShdw blurRad="101600" dist="38100" dir="2700000" algn="bl" rotWithShape="0">
              <a:srgbClr val="000000">
                <a:alpha val="12000"/>
              </a:srgbClr>
            </a:outerShdw>
          </a:effectLst>
        </p:spPr>
        <p:txBody>
          <a:bodyPr/>
          <a:lstStyle/>
          <a:p>
            <a:endParaRPr lang="es-CO"/>
          </a:p>
        </p:txBody>
      </p:sp>
      <p:pic>
        <p:nvPicPr>
          <p:cNvPr id="12" name="Image 1" descr="preencoded.png"/>
          <p:cNvPicPr>
            <a:picLocks noChangeAspect="1"/>
          </p:cNvPicPr>
          <p:nvPr/>
        </p:nvPicPr>
        <p:blipFill>
          <a:blip r:embed="rId4"/>
          <a:stretch>
            <a:fillRect/>
          </a:stretch>
        </p:blipFill>
        <p:spPr>
          <a:xfrm>
            <a:off x="4434840" y="2834640"/>
            <a:ext cx="502920" cy="502920"/>
          </a:xfrm>
          <a:prstGeom prst="rect">
            <a:avLst/>
          </a:prstGeom>
        </p:spPr>
      </p:pic>
      <p:sp>
        <p:nvSpPr>
          <p:cNvPr id="13" name="Text 9"/>
          <p:cNvSpPr/>
          <p:nvPr/>
        </p:nvSpPr>
        <p:spPr>
          <a:xfrm>
            <a:off x="3383280" y="3401568"/>
            <a:ext cx="2606040" cy="274320"/>
          </a:xfrm>
          <a:prstGeom prst="rect">
            <a:avLst/>
          </a:prstGeom>
          <a:noFill/>
          <a:ln/>
        </p:spPr>
        <p:txBody>
          <a:bodyPr wrap="square" lIns="0" tIns="0" rIns="0" bIns="0" rtlCol="0" anchor="ctr"/>
          <a:lstStyle/>
          <a:p>
            <a:pPr marL="0" indent="0" algn="ctr">
              <a:buNone/>
            </a:pPr>
            <a:r>
              <a:rPr lang="en-US" sz="1600" b="1" dirty="0">
                <a:solidFill>
                  <a:srgbClr val="0D7377"/>
                </a:solidFill>
              </a:rPr>
              <a:t>IEI</a:t>
            </a:r>
            <a:endParaRPr lang="en-US" sz="1600" dirty="0"/>
          </a:p>
        </p:txBody>
      </p:sp>
      <p:sp>
        <p:nvSpPr>
          <p:cNvPr id="14" name="Text 10"/>
          <p:cNvSpPr/>
          <p:nvPr/>
        </p:nvSpPr>
        <p:spPr>
          <a:xfrm>
            <a:off x="3383280" y="3675888"/>
            <a:ext cx="2606040" cy="347472"/>
          </a:xfrm>
          <a:prstGeom prst="rect">
            <a:avLst/>
          </a:prstGeom>
          <a:noFill/>
          <a:ln/>
        </p:spPr>
        <p:txBody>
          <a:bodyPr wrap="square" lIns="0" tIns="0" rIns="0" bIns="0" rtlCol="0" anchor="ctr"/>
          <a:lstStyle/>
          <a:p>
            <a:pPr marL="0" indent="0" algn="ctr">
              <a:buNone/>
            </a:pPr>
            <a:r>
              <a:rPr lang="en-US" sz="1050" b="1" dirty="0">
                <a:solidFill>
                  <a:srgbClr val="1E293B"/>
                </a:solidFill>
              </a:rPr>
              <a:t>Índice de Injusticia</a:t>
            </a:r>
            <a:endParaRPr lang="en-US" sz="1050" dirty="0"/>
          </a:p>
          <a:p>
            <a:pPr marL="0" indent="0" algn="ctr">
              <a:buNone/>
            </a:pPr>
            <a:r>
              <a:rPr lang="en-US" sz="1050" b="1" dirty="0">
                <a:solidFill>
                  <a:srgbClr val="1E293B"/>
                </a:solidFill>
              </a:rPr>
              <a:t>Epistémica</a:t>
            </a:r>
            <a:endParaRPr lang="en-US" sz="1050" dirty="0"/>
          </a:p>
        </p:txBody>
      </p:sp>
      <p:sp>
        <p:nvSpPr>
          <p:cNvPr id="15" name="Text 11"/>
          <p:cNvSpPr/>
          <p:nvPr/>
        </p:nvSpPr>
        <p:spPr>
          <a:xfrm>
            <a:off x="3383280" y="4041648"/>
            <a:ext cx="2606040" cy="502920"/>
          </a:xfrm>
          <a:prstGeom prst="rect">
            <a:avLst/>
          </a:prstGeom>
          <a:noFill/>
          <a:ln/>
        </p:spPr>
        <p:txBody>
          <a:bodyPr wrap="square" lIns="0" tIns="0" rIns="0" bIns="0" rtlCol="0" anchor="ctr"/>
          <a:lstStyle/>
          <a:p>
            <a:pPr marL="0" indent="0" algn="ctr">
              <a:buNone/>
            </a:pPr>
            <a:r>
              <a:rPr lang="en-US" sz="950" dirty="0">
                <a:solidFill>
                  <a:srgbClr val="64748B"/>
                </a:solidFill>
              </a:rPr>
              <a:t>Distancia semántica sentencia</a:t>
            </a:r>
            <a:endParaRPr lang="en-US" sz="950" dirty="0"/>
          </a:p>
          <a:p>
            <a:pPr marL="0" indent="0" algn="ctr">
              <a:buNone/>
            </a:pPr>
            <a:r>
              <a:rPr lang="en-US" sz="950" dirty="0">
                <a:solidFill>
                  <a:srgbClr val="64748B"/>
                </a:solidFill>
              </a:rPr>
              <a:t>vs centroide de víctimas</a:t>
            </a:r>
            <a:endParaRPr lang="en-US" sz="950" dirty="0"/>
          </a:p>
        </p:txBody>
      </p:sp>
      <p:sp>
        <p:nvSpPr>
          <p:cNvPr id="16" name="Shape 12"/>
          <p:cNvSpPr/>
          <p:nvPr/>
        </p:nvSpPr>
        <p:spPr>
          <a:xfrm>
            <a:off x="6217920" y="2743200"/>
            <a:ext cx="2606040" cy="1920240"/>
          </a:xfrm>
          <a:prstGeom prst="roundRect">
            <a:avLst>
              <a:gd name="adj" fmla="val 4762"/>
            </a:avLst>
          </a:prstGeom>
          <a:solidFill>
            <a:srgbClr val="FFFFFF"/>
          </a:solidFill>
          <a:ln/>
          <a:effectLst>
            <a:outerShdw blurRad="101600" dist="38100" dir="2700000" algn="bl" rotWithShape="0">
              <a:srgbClr val="000000">
                <a:alpha val="12000"/>
              </a:srgbClr>
            </a:outerShdw>
          </a:effectLst>
        </p:spPr>
        <p:txBody>
          <a:bodyPr/>
          <a:lstStyle/>
          <a:p>
            <a:endParaRPr lang="es-CO"/>
          </a:p>
        </p:txBody>
      </p:sp>
      <p:pic>
        <p:nvPicPr>
          <p:cNvPr id="17" name="Image 2" descr="preencoded.png"/>
          <p:cNvPicPr>
            <a:picLocks noChangeAspect="1"/>
          </p:cNvPicPr>
          <p:nvPr/>
        </p:nvPicPr>
        <p:blipFill>
          <a:blip r:embed="rId5"/>
          <a:stretch>
            <a:fillRect/>
          </a:stretch>
        </p:blipFill>
        <p:spPr>
          <a:xfrm>
            <a:off x="7269480" y="2834640"/>
            <a:ext cx="502920" cy="502920"/>
          </a:xfrm>
          <a:prstGeom prst="rect">
            <a:avLst/>
          </a:prstGeom>
        </p:spPr>
      </p:pic>
      <p:sp>
        <p:nvSpPr>
          <p:cNvPr id="18" name="Text 13"/>
          <p:cNvSpPr/>
          <p:nvPr/>
        </p:nvSpPr>
        <p:spPr>
          <a:xfrm>
            <a:off x="6217920" y="3401568"/>
            <a:ext cx="2606040" cy="274320"/>
          </a:xfrm>
          <a:prstGeom prst="rect">
            <a:avLst/>
          </a:prstGeom>
          <a:noFill/>
          <a:ln/>
        </p:spPr>
        <p:txBody>
          <a:bodyPr wrap="square" lIns="0" tIns="0" rIns="0" bIns="0" rtlCol="0" anchor="ctr"/>
          <a:lstStyle/>
          <a:p>
            <a:pPr marL="0" indent="0" algn="ctr">
              <a:buNone/>
            </a:pPr>
            <a:r>
              <a:rPr lang="en-US" sz="1600" b="1" dirty="0">
                <a:solidFill>
                  <a:srgbClr val="C9A84C"/>
                </a:solidFill>
              </a:rPr>
              <a:t>ICM</a:t>
            </a:r>
            <a:endParaRPr lang="en-US" sz="1600" dirty="0"/>
          </a:p>
        </p:txBody>
      </p:sp>
      <p:sp>
        <p:nvSpPr>
          <p:cNvPr id="19" name="Text 14"/>
          <p:cNvSpPr/>
          <p:nvPr/>
        </p:nvSpPr>
        <p:spPr>
          <a:xfrm>
            <a:off x="6217920" y="3675888"/>
            <a:ext cx="2606040" cy="347472"/>
          </a:xfrm>
          <a:prstGeom prst="rect">
            <a:avLst/>
          </a:prstGeom>
          <a:noFill/>
          <a:ln/>
        </p:spPr>
        <p:txBody>
          <a:bodyPr wrap="square" lIns="0" tIns="0" rIns="0" bIns="0" rtlCol="0" anchor="ctr"/>
          <a:lstStyle/>
          <a:p>
            <a:pPr marL="0" indent="0" algn="ctr">
              <a:buNone/>
            </a:pPr>
            <a:r>
              <a:rPr lang="en-US" sz="1050" b="1" dirty="0">
                <a:solidFill>
                  <a:srgbClr val="1E293B"/>
                </a:solidFill>
              </a:rPr>
              <a:t>Índice de Congruencia</a:t>
            </a:r>
            <a:endParaRPr lang="en-US" sz="1050" dirty="0"/>
          </a:p>
          <a:p>
            <a:pPr marL="0" indent="0" algn="ctr">
              <a:buNone/>
            </a:pPr>
            <a:r>
              <a:rPr lang="en-US" sz="1050" b="1" dirty="0">
                <a:solidFill>
                  <a:srgbClr val="1E293B"/>
                </a:solidFill>
              </a:rPr>
              <a:t>Multimodal</a:t>
            </a:r>
            <a:endParaRPr lang="en-US" sz="1050" dirty="0"/>
          </a:p>
        </p:txBody>
      </p:sp>
      <p:sp>
        <p:nvSpPr>
          <p:cNvPr id="20" name="Text 15"/>
          <p:cNvSpPr/>
          <p:nvPr/>
        </p:nvSpPr>
        <p:spPr>
          <a:xfrm>
            <a:off x="6217920" y="4041648"/>
            <a:ext cx="2606040" cy="502920"/>
          </a:xfrm>
          <a:prstGeom prst="rect">
            <a:avLst/>
          </a:prstGeom>
          <a:noFill/>
          <a:ln/>
        </p:spPr>
        <p:txBody>
          <a:bodyPr wrap="square" lIns="0" tIns="0" rIns="0" bIns="0" rtlCol="0" anchor="ctr"/>
          <a:lstStyle/>
          <a:p>
            <a:pPr marL="0" indent="0" algn="ctr">
              <a:buNone/>
            </a:pPr>
            <a:r>
              <a:rPr lang="en-US" sz="950" dirty="0">
                <a:solidFill>
                  <a:srgbClr val="64748B"/>
                </a:solidFill>
              </a:rPr>
              <a:t>Verbal · Prosódico · Facial</a:t>
            </a:r>
            <a:endParaRPr lang="en-US" sz="950" dirty="0"/>
          </a:p>
          <a:p>
            <a:pPr marL="0" indent="0" algn="ctr">
              <a:buNone/>
            </a:pPr>
            <a:r>
              <a:rPr lang="en-US" sz="950" dirty="0">
                <a:solidFill>
                  <a:srgbClr val="64748B"/>
                </a:solidFill>
              </a:rPr>
              <a:t>(si hay material audiovisual)</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lIns="0" tIns="0" rIns="0" bIns="0" rtlCol="0" anchor="ctr"/>
          <a:lstStyle/>
          <a:p>
            <a:pPr marL="0" indent="0">
              <a:buNone/>
            </a:pPr>
            <a:r>
              <a:rPr lang="en-US" sz="2400" b="1" dirty="0">
                <a:solidFill>
                  <a:srgbClr val="1A2744"/>
                </a:solidFill>
              </a:rPr>
              <a:t>Arquitectura técnica — foco en el IEI</a:t>
            </a:r>
            <a:endParaRPr lang="en-US" sz="2400" dirty="0"/>
          </a:p>
        </p:txBody>
      </p:sp>
      <p:sp>
        <p:nvSpPr>
          <p:cNvPr id="3" name="Shape 1"/>
          <p:cNvSpPr/>
          <p:nvPr/>
        </p:nvSpPr>
        <p:spPr>
          <a:xfrm>
            <a:off x="457200" y="960120"/>
            <a:ext cx="1828800" cy="2377440"/>
          </a:xfrm>
          <a:prstGeom prst="roundRect">
            <a:avLst>
              <a:gd name="adj" fmla="val 6000"/>
            </a:avLst>
          </a:prstGeom>
          <a:solidFill>
            <a:srgbClr val="1A2744"/>
          </a:solidFill>
          <a:ln/>
          <a:effectLst>
            <a:outerShdw blurRad="101600" dist="38100" dir="2700000" algn="bl" rotWithShape="0">
              <a:srgbClr val="000000">
                <a:alpha val="12000"/>
              </a:srgbClr>
            </a:outerShdw>
          </a:effectLst>
        </p:spPr>
        <p:txBody>
          <a:bodyPr/>
          <a:lstStyle/>
          <a:p>
            <a:endParaRPr lang="es-CO"/>
          </a:p>
        </p:txBody>
      </p:sp>
      <p:sp>
        <p:nvSpPr>
          <p:cNvPr id="4" name="Shape 2"/>
          <p:cNvSpPr/>
          <p:nvPr/>
        </p:nvSpPr>
        <p:spPr>
          <a:xfrm>
            <a:off x="1051560" y="1051560"/>
            <a:ext cx="640080" cy="640080"/>
          </a:xfrm>
          <a:prstGeom prst="ellipse">
            <a:avLst/>
          </a:prstGeom>
          <a:solidFill>
            <a:srgbClr val="0D7377"/>
          </a:solidFill>
          <a:ln w="12700">
            <a:solidFill>
              <a:srgbClr val="0D7377"/>
            </a:solidFill>
            <a:prstDash val="solid"/>
          </a:ln>
        </p:spPr>
        <p:txBody>
          <a:bodyPr/>
          <a:lstStyle/>
          <a:p>
            <a:endParaRPr lang="es-CO"/>
          </a:p>
        </p:txBody>
      </p:sp>
      <p:sp>
        <p:nvSpPr>
          <p:cNvPr id="5" name="Text 3"/>
          <p:cNvSpPr/>
          <p:nvPr/>
        </p:nvSpPr>
        <p:spPr>
          <a:xfrm>
            <a:off x="1051560" y="105156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6" name="Text 4"/>
          <p:cNvSpPr/>
          <p:nvPr/>
        </p:nvSpPr>
        <p:spPr>
          <a:xfrm>
            <a:off x="457200" y="1783080"/>
            <a:ext cx="1828800" cy="457200"/>
          </a:xfrm>
          <a:prstGeom prst="rect">
            <a:avLst/>
          </a:prstGeom>
          <a:noFill/>
          <a:ln/>
        </p:spPr>
        <p:txBody>
          <a:bodyPr wrap="square" lIns="0" tIns="0" rIns="0" bIns="0" rtlCol="0" anchor="ctr"/>
          <a:lstStyle/>
          <a:p>
            <a:pPr marL="0" indent="0" algn="ctr">
              <a:buNone/>
            </a:pPr>
            <a:r>
              <a:rPr lang="en-US" sz="1100" b="1" dirty="0">
                <a:solidFill>
                  <a:srgbClr val="FFFFFF"/>
                </a:solidFill>
              </a:rPr>
              <a:t>Corpus</a:t>
            </a:r>
            <a:endParaRPr lang="en-US" sz="1100" dirty="0"/>
          </a:p>
          <a:p>
            <a:pPr marL="0" indent="0" algn="ctr">
              <a:buNone/>
            </a:pPr>
            <a:r>
              <a:rPr lang="en-US" sz="1100" b="1" dirty="0">
                <a:solidFill>
                  <a:srgbClr val="FFFFFF"/>
                </a:solidFill>
              </a:rPr>
              <a:t>documental</a:t>
            </a:r>
            <a:endParaRPr lang="en-US" sz="1100" dirty="0"/>
          </a:p>
        </p:txBody>
      </p:sp>
      <p:sp>
        <p:nvSpPr>
          <p:cNvPr id="7" name="Text 5"/>
          <p:cNvSpPr/>
          <p:nvPr/>
        </p:nvSpPr>
        <p:spPr>
          <a:xfrm>
            <a:off x="457200" y="2267712"/>
            <a:ext cx="1828800" cy="914400"/>
          </a:xfrm>
          <a:prstGeom prst="rect">
            <a:avLst/>
          </a:prstGeom>
          <a:noFill/>
          <a:ln/>
        </p:spPr>
        <p:txBody>
          <a:bodyPr wrap="square" lIns="0" tIns="0" rIns="0" bIns="0" rtlCol="0" anchor="ctr"/>
          <a:lstStyle/>
          <a:p>
            <a:pPr marL="0" indent="0" algn="ctr">
              <a:buNone/>
            </a:pPr>
            <a:r>
              <a:rPr lang="en-US" sz="900" dirty="0">
                <a:solidFill>
                  <a:srgbClr val="E8ECF2"/>
                </a:solidFill>
              </a:rPr>
              <a:t>PDFs: CIDH, CNMH,</a:t>
            </a:r>
            <a:endParaRPr lang="en-US" sz="900" dirty="0"/>
          </a:p>
          <a:p>
            <a:pPr marL="0" indent="0" algn="ctr">
              <a:buNone/>
            </a:pPr>
            <a:r>
              <a:rPr lang="en-US" sz="900" dirty="0">
                <a:solidFill>
                  <a:srgbClr val="E8ECF2"/>
                </a:solidFill>
              </a:rPr>
              <a:t>ONG, instituciones</a:t>
            </a:r>
            <a:endParaRPr lang="en-US" sz="900" dirty="0"/>
          </a:p>
        </p:txBody>
      </p:sp>
      <p:sp>
        <p:nvSpPr>
          <p:cNvPr id="8" name="Shape 6"/>
          <p:cNvSpPr/>
          <p:nvPr/>
        </p:nvSpPr>
        <p:spPr>
          <a:xfrm>
            <a:off x="2304288" y="2103120"/>
            <a:ext cx="219456" cy="73152"/>
          </a:xfrm>
          <a:prstGeom prst="rect">
            <a:avLst/>
          </a:prstGeom>
          <a:solidFill>
            <a:srgbClr val="0D7377"/>
          </a:solidFill>
          <a:ln w="12700">
            <a:solidFill>
              <a:srgbClr val="0D7377"/>
            </a:solidFill>
            <a:prstDash val="solid"/>
          </a:ln>
        </p:spPr>
        <p:txBody>
          <a:bodyPr/>
          <a:lstStyle/>
          <a:p>
            <a:endParaRPr lang="es-CO"/>
          </a:p>
        </p:txBody>
      </p:sp>
      <p:sp>
        <p:nvSpPr>
          <p:cNvPr id="9" name="Shape 7"/>
          <p:cNvSpPr/>
          <p:nvPr/>
        </p:nvSpPr>
        <p:spPr>
          <a:xfrm>
            <a:off x="2542032" y="960120"/>
            <a:ext cx="1828800" cy="2377440"/>
          </a:xfrm>
          <a:prstGeom prst="roundRect">
            <a:avLst>
              <a:gd name="adj" fmla="val 6000"/>
            </a:avLst>
          </a:prstGeom>
          <a:solidFill>
            <a:srgbClr val="1A2744"/>
          </a:solidFill>
          <a:ln/>
          <a:effectLst>
            <a:outerShdw blurRad="101600" dist="38100" dir="2700000" algn="bl" rotWithShape="0">
              <a:srgbClr val="000000">
                <a:alpha val="12000"/>
              </a:srgbClr>
            </a:outerShdw>
          </a:effectLst>
        </p:spPr>
        <p:txBody>
          <a:bodyPr/>
          <a:lstStyle/>
          <a:p>
            <a:endParaRPr lang="es-CO"/>
          </a:p>
        </p:txBody>
      </p:sp>
      <p:sp>
        <p:nvSpPr>
          <p:cNvPr id="10" name="Shape 8"/>
          <p:cNvSpPr/>
          <p:nvPr/>
        </p:nvSpPr>
        <p:spPr>
          <a:xfrm>
            <a:off x="3136392" y="1051560"/>
            <a:ext cx="640080" cy="640080"/>
          </a:xfrm>
          <a:prstGeom prst="ellipse">
            <a:avLst/>
          </a:prstGeom>
          <a:solidFill>
            <a:srgbClr val="0D7377"/>
          </a:solidFill>
          <a:ln w="12700">
            <a:solidFill>
              <a:srgbClr val="0D7377"/>
            </a:solidFill>
            <a:prstDash val="solid"/>
          </a:ln>
        </p:spPr>
        <p:txBody>
          <a:bodyPr/>
          <a:lstStyle/>
          <a:p>
            <a:endParaRPr lang="es-CO"/>
          </a:p>
        </p:txBody>
      </p:sp>
      <p:sp>
        <p:nvSpPr>
          <p:cNvPr id="11" name="Text 9"/>
          <p:cNvSpPr/>
          <p:nvPr/>
        </p:nvSpPr>
        <p:spPr>
          <a:xfrm>
            <a:off x="3136392" y="105156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2" name="Text 10"/>
          <p:cNvSpPr/>
          <p:nvPr/>
        </p:nvSpPr>
        <p:spPr>
          <a:xfrm>
            <a:off x="2542032" y="1783080"/>
            <a:ext cx="1828800" cy="457200"/>
          </a:xfrm>
          <a:prstGeom prst="rect">
            <a:avLst/>
          </a:prstGeom>
          <a:noFill/>
          <a:ln/>
        </p:spPr>
        <p:txBody>
          <a:bodyPr wrap="square" lIns="0" tIns="0" rIns="0" bIns="0" rtlCol="0" anchor="ctr"/>
          <a:lstStyle/>
          <a:p>
            <a:pPr marL="0" indent="0" algn="ctr">
              <a:buNone/>
            </a:pPr>
            <a:r>
              <a:rPr lang="en-US" sz="1100" b="1" dirty="0">
                <a:solidFill>
                  <a:srgbClr val="FFFFFF"/>
                </a:solidFill>
              </a:rPr>
              <a:t>Extracción</a:t>
            </a:r>
            <a:endParaRPr lang="en-US" sz="1100" dirty="0"/>
          </a:p>
          <a:p>
            <a:pPr marL="0" indent="0" algn="ctr">
              <a:buNone/>
            </a:pPr>
            <a:r>
              <a:rPr lang="en-US" sz="1100" b="1" dirty="0">
                <a:solidFill>
                  <a:srgbClr val="FFFFFF"/>
                </a:solidFill>
              </a:rPr>
              <a:t>fragmentos</a:t>
            </a:r>
            <a:endParaRPr lang="en-US" sz="1100" dirty="0"/>
          </a:p>
        </p:txBody>
      </p:sp>
      <p:sp>
        <p:nvSpPr>
          <p:cNvPr id="13" name="Text 11"/>
          <p:cNvSpPr/>
          <p:nvPr/>
        </p:nvSpPr>
        <p:spPr>
          <a:xfrm>
            <a:off x="2542032" y="2267712"/>
            <a:ext cx="1828800" cy="914400"/>
          </a:xfrm>
          <a:prstGeom prst="rect">
            <a:avLst/>
          </a:prstGeom>
          <a:noFill/>
          <a:ln/>
        </p:spPr>
        <p:txBody>
          <a:bodyPr wrap="square" lIns="0" tIns="0" rIns="0" bIns="0" rtlCol="0" anchor="ctr"/>
          <a:lstStyle/>
          <a:p>
            <a:pPr marL="0" indent="0" algn="ctr">
              <a:buNone/>
            </a:pPr>
            <a:r>
              <a:rPr lang="en-US" sz="900" dirty="0">
                <a:solidFill>
                  <a:srgbClr val="E8ECF2"/>
                </a:solidFill>
              </a:rPr>
              <a:t>Párrafos orientados</a:t>
            </a:r>
            <a:endParaRPr lang="en-US" sz="900" dirty="0"/>
          </a:p>
          <a:p>
            <a:pPr marL="0" indent="0" algn="ctr">
              <a:buNone/>
            </a:pPr>
            <a:r>
              <a:rPr lang="en-US" sz="900" dirty="0">
                <a:solidFill>
                  <a:srgbClr val="E8ECF2"/>
                </a:solidFill>
              </a:rPr>
              <a:t>a víctimas (NLP)</a:t>
            </a:r>
            <a:endParaRPr lang="en-US" sz="900" dirty="0"/>
          </a:p>
        </p:txBody>
      </p:sp>
      <p:sp>
        <p:nvSpPr>
          <p:cNvPr id="14" name="Shape 12"/>
          <p:cNvSpPr/>
          <p:nvPr/>
        </p:nvSpPr>
        <p:spPr>
          <a:xfrm>
            <a:off x="4389120" y="2103120"/>
            <a:ext cx="219456" cy="73152"/>
          </a:xfrm>
          <a:prstGeom prst="rect">
            <a:avLst/>
          </a:prstGeom>
          <a:solidFill>
            <a:srgbClr val="0D7377"/>
          </a:solidFill>
          <a:ln w="12700">
            <a:solidFill>
              <a:srgbClr val="0D7377"/>
            </a:solidFill>
            <a:prstDash val="solid"/>
          </a:ln>
        </p:spPr>
        <p:txBody>
          <a:bodyPr/>
          <a:lstStyle/>
          <a:p>
            <a:endParaRPr lang="es-CO"/>
          </a:p>
        </p:txBody>
      </p:sp>
      <p:sp>
        <p:nvSpPr>
          <p:cNvPr id="15" name="Shape 13"/>
          <p:cNvSpPr/>
          <p:nvPr/>
        </p:nvSpPr>
        <p:spPr>
          <a:xfrm>
            <a:off x="4626864" y="960120"/>
            <a:ext cx="1828800" cy="2377440"/>
          </a:xfrm>
          <a:prstGeom prst="roundRect">
            <a:avLst>
              <a:gd name="adj" fmla="val 6000"/>
            </a:avLst>
          </a:prstGeom>
          <a:solidFill>
            <a:srgbClr val="1A2744"/>
          </a:solidFill>
          <a:ln/>
          <a:effectLst>
            <a:outerShdw blurRad="101600" dist="38100" dir="2700000" algn="bl" rotWithShape="0">
              <a:srgbClr val="000000">
                <a:alpha val="12000"/>
              </a:srgbClr>
            </a:outerShdw>
          </a:effectLst>
        </p:spPr>
        <p:txBody>
          <a:bodyPr/>
          <a:lstStyle/>
          <a:p>
            <a:endParaRPr lang="es-CO"/>
          </a:p>
        </p:txBody>
      </p:sp>
      <p:sp>
        <p:nvSpPr>
          <p:cNvPr id="16" name="Shape 14"/>
          <p:cNvSpPr/>
          <p:nvPr/>
        </p:nvSpPr>
        <p:spPr>
          <a:xfrm>
            <a:off x="5221224" y="1051560"/>
            <a:ext cx="640080" cy="640080"/>
          </a:xfrm>
          <a:prstGeom prst="ellipse">
            <a:avLst/>
          </a:prstGeom>
          <a:solidFill>
            <a:srgbClr val="0D7377"/>
          </a:solidFill>
          <a:ln w="12700">
            <a:solidFill>
              <a:srgbClr val="0D7377"/>
            </a:solidFill>
            <a:prstDash val="solid"/>
          </a:ln>
        </p:spPr>
        <p:txBody>
          <a:bodyPr/>
          <a:lstStyle/>
          <a:p>
            <a:endParaRPr lang="es-CO"/>
          </a:p>
        </p:txBody>
      </p:sp>
      <p:sp>
        <p:nvSpPr>
          <p:cNvPr id="17" name="Text 15"/>
          <p:cNvSpPr/>
          <p:nvPr/>
        </p:nvSpPr>
        <p:spPr>
          <a:xfrm>
            <a:off x="5221224" y="105156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8" name="Text 16"/>
          <p:cNvSpPr/>
          <p:nvPr/>
        </p:nvSpPr>
        <p:spPr>
          <a:xfrm>
            <a:off x="4626864" y="1783080"/>
            <a:ext cx="1828800" cy="457200"/>
          </a:xfrm>
          <a:prstGeom prst="rect">
            <a:avLst/>
          </a:prstGeom>
          <a:noFill/>
          <a:ln/>
        </p:spPr>
        <p:txBody>
          <a:bodyPr wrap="square" lIns="0" tIns="0" rIns="0" bIns="0" rtlCol="0" anchor="ctr"/>
          <a:lstStyle/>
          <a:p>
            <a:pPr marL="0" indent="0" algn="ctr">
              <a:buNone/>
            </a:pPr>
            <a:r>
              <a:rPr lang="en-US" sz="1100" b="1" dirty="0">
                <a:solidFill>
                  <a:srgbClr val="FFFFFF"/>
                </a:solidFill>
              </a:rPr>
              <a:t>ConfliBERT</a:t>
            </a:r>
            <a:endParaRPr lang="en-US" sz="1100" dirty="0"/>
          </a:p>
          <a:p>
            <a:pPr marL="0" indent="0" algn="ctr">
              <a:buNone/>
            </a:pPr>
            <a:r>
              <a:rPr lang="en-US" sz="1100" b="1" dirty="0">
                <a:solidFill>
                  <a:srgbClr val="FFFFFF"/>
                </a:solidFill>
              </a:rPr>
              <a:t>768 dimensiones</a:t>
            </a:r>
            <a:endParaRPr lang="en-US" sz="1100" dirty="0"/>
          </a:p>
        </p:txBody>
      </p:sp>
      <p:sp>
        <p:nvSpPr>
          <p:cNvPr id="19" name="Text 17"/>
          <p:cNvSpPr/>
          <p:nvPr/>
        </p:nvSpPr>
        <p:spPr>
          <a:xfrm>
            <a:off x="4626864" y="2267712"/>
            <a:ext cx="1828800" cy="914400"/>
          </a:xfrm>
          <a:prstGeom prst="rect">
            <a:avLst/>
          </a:prstGeom>
          <a:noFill/>
          <a:ln/>
        </p:spPr>
        <p:txBody>
          <a:bodyPr wrap="square" lIns="0" tIns="0" rIns="0" bIns="0" rtlCol="0" anchor="ctr"/>
          <a:lstStyle/>
          <a:p>
            <a:pPr marL="0" indent="0" algn="ctr">
              <a:buNone/>
            </a:pPr>
            <a:r>
              <a:rPr lang="en-US" sz="900" dirty="0">
                <a:solidFill>
                  <a:srgbClr val="E8ECF2"/>
                </a:solidFill>
              </a:rPr>
              <a:t>Espacio vectorial</a:t>
            </a:r>
            <a:endParaRPr lang="en-US" sz="900" dirty="0"/>
          </a:p>
          <a:p>
            <a:pPr marL="0" indent="0" algn="ctr">
              <a:buNone/>
            </a:pPr>
            <a:r>
              <a:rPr lang="en-US" sz="900" dirty="0">
                <a:solidFill>
                  <a:srgbClr val="E8ECF2"/>
                </a:solidFill>
              </a:rPr>
              <a:t>de 768 dimensiones</a:t>
            </a:r>
            <a:endParaRPr lang="en-US" sz="900" dirty="0"/>
          </a:p>
          <a:p>
            <a:pPr marL="0" indent="0" algn="ctr">
              <a:buNone/>
            </a:pPr>
            <a:r>
              <a:rPr lang="en-US" sz="900" dirty="0">
                <a:solidFill>
                  <a:srgbClr val="E8ECF2"/>
                </a:solidFill>
              </a:rPr>
              <a:t>especializado en</a:t>
            </a:r>
            <a:endParaRPr lang="en-US" sz="900" dirty="0"/>
          </a:p>
          <a:p>
            <a:pPr marL="0" indent="0" algn="ctr">
              <a:buNone/>
            </a:pPr>
            <a:r>
              <a:rPr lang="en-US" sz="900" dirty="0">
                <a:solidFill>
                  <a:srgbClr val="E8ECF2"/>
                </a:solidFill>
              </a:rPr>
              <a:t>conflicto armado</a:t>
            </a:r>
            <a:endParaRPr lang="en-US" sz="900" dirty="0"/>
          </a:p>
        </p:txBody>
      </p:sp>
      <p:sp>
        <p:nvSpPr>
          <p:cNvPr id="20" name="Shape 18"/>
          <p:cNvSpPr/>
          <p:nvPr/>
        </p:nvSpPr>
        <p:spPr>
          <a:xfrm>
            <a:off x="6473952" y="2103120"/>
            <a:ext cx="219456" cy="73152"/>
          </a:xfrm>
          <a:prstGeom prst="rect">
            <a:avLst/>
          </a:prstGeom>
          <a:solidFill>
            <a:srgbClr val="0D7377"/>
          </a:solidFill>
          <a:ln w="12700">
            <a:solidFill>
              <a:srgbClr val="0D7377"/>
            </a:solidFill>
            <a:prstDash val="solid"/>
          </a:ln>
        </p:spPr>
        <p:txBody>
          <a:bodyPr/>
          <a:lstStyle/>
          <a:p>
            <a:endParaRPr lang="es-CO"/>
          </a:p>
        </p:txBody>
      </p:sp>
      <p:sp>
        <p:nvSpPr>
          <p:cNvPr id="21" name="Shape 19"/>
          <p:cNvSpPr/>
          <p:nvPr/>
        </p:nvSpPr>
        <p:spPr>
          <a:xfrm>
            <a:off x="6711696" y="960120"/>
            <a:ext cx="1828800" cy="2377440"/>
          </a:xfrm>
          <a:prstGeom prst="roundRect">
            <a:avLst>
              <a:gd name="adj" fmla="val 6000"/>
            </a:avLst>
          </a:prstGeom>
          <a:solidFill>
            <a:srgbClr val="1A2744"/>
          </a:solidFill>
          <a:ln/>
          <a:effectLst>
            <a:outerShdw blurRad="101600" dist="38100" dir="2700000" algn="bl" rotWithShape="0">
              <a:srgbClr val="000000">
                <a:alpha val="12000"/>
              </a:srgbClr>
            </a:outerShdw>
          </a:effectLst>
        </p:spPr>
        <p:txBody>
          <a:bodyPr/>
          <a:lstStyle/>
          <a:p>
            <a:endParaRPr lang="es-CO"/>
          </a:p>
        </p:txBody>
      </p:sp>
      <p:sp>
        <p:nvSpPr>
          <p:cNvPr id="22" name="Shape 20"/>
          <p:cNvSpPr/>
          <p:nvPr/>
        </p:nvSpPr>
        <p:spPr>
          <a:xfrm>
            <a:off x="7306056" y="1051560"/>
            <a:ext cx="640080" cy="640080"/>
          </a:xfrm>
          <a:prstGeom prst="ellipse">
            <a:avLst/>
          </a:prstGeom>
          <a:solidFill>
            <a:srgbClr val="0D7377"/>
          </a:solidFill>
          <a:ln w="12700">
            <a:solidFill>
              <a:srgbClr val="0D7377"/>
            </a:solidFill>
            <a:prstDash val="solid"/>
          </a:ln>
        </p:spPr>
        <p:txBody>
          <a:bodyPr/>
          <a:lstStyle/>
          <a:p>
            <a:endParaRPr lang="es-CO"/>
          </a:p>
        </p:txBody>
      </p:sp>
      <p:sp>
        <p:nvSpPr>
          <p:cNvPr id="23" name="Text 21"/>
          <p:cNvSpPr/>
          <p:nvPr/>
        </p:nvSpPr>
        <p:spPr>
          <a:xfrm>
            <a:off x="7306056" y="105156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4" name="Text 22"/>
          <p:cNvSpPr/>
          <p:nvPr/>
        </p:nvSpPr>
        <p:spPr>
          <a:xfrm>
            <a:off x="6711696" y="1783080"/>
            <a:ext cx="1828800" cy="457200"/>
          </a:xfrm>
          <a:prstGeom prst="rect">
            <a:avLst/>
          </a:prstGeom>
          <a:noFill/>
          <a:ln/>
        </p:spPr>
        <p:txBody>
          <a:bodyPr wrap="square" lIns="0" tIns="0" rIns="0" bIns="0" rtlCol="0" anchor="ctr"/>
          <a:lstStyle/>
          <a:p>
            <a:pPr marL="0" indent="0" algn="ctr">
              <a:buNone/>
            </a:pPr>
            <a:r>
              <a:rPr lang="en-US" sz="1100" b="1" dirty="0">
                <a:solidFill>
                  <a:srgbClr val="FFFFFF"/>
                </a:solidFill>
              </a:rPr>
              <a:t>Centroide</a:t>
            </a:r>
            <a:endParaRPr lang="en-US" sz="1100" dirty="0"/>
          </a:p>
          <a:p>
            <a:pPr marL="0" indent="0" algn="ctr">
              <a:buNone/>
            </a:pPr>
            <a:r>
              <a:rPr lang="en-US" sz="1100" b="1" dirty="0">
                <a:solidFill>
                  <a:srgbClr val="FFFFFF"/>
                </a:solidFill>
              </a:rPr>
              <a:t>de referencia</a:t>
            </a:r>
            <a:endParaRPr lang="en-US" sz="1100" dirty="0"/>
          </a:p>
        </p:txBody>
      </p:sp>
      <p:sp>
        <p:nvSpPr>
          <p:cNvPr id="25" name="Text 23"/>
          <p:cNvSpPr/>
          <p:nvPr/>
        </p:nvSpPr>
        <p:spPr>
          <a:xfrm>
            <a:off x="6711696" y="2267712"/>
            <a:ext cx="1828800" cy="914400"/>
          </a:xfrm>
          <a:prstGeom prst="rect">
            <a:avLst/>
          </a:prstGeom>
          <a:noFill/>
          <a:ln/>
        </p:spPr>
        <p:txBody>
          <a:bodyPr wrap="square" lIns="0" tIns="0" rIns="0" bIns="0" rtlCol="0" anchor="ctr"/>
          <a:lstStyle/>
          <a:p>
            <a:pPr marL="0" indent="0" algn="ctr">
              <a:buNone/>
            </a:pPr>
            <a:r>
              <a:rPr lang="en-US" sz="900" dirty="0">
                <a:solidFill>
                  <a:srgbClr val="E8ECF2"/>
                </a:solidFill>
              </a:rPr>
              <a:t>Promedio ponderado</a:t>
            </a:r>
            <a:endParaRPr lang="en-US" sz="900" dirty="0"/>
          </a:p>
          <a:p>
            <a:pPr marL="0" indent="0" algn="ctr">
              <a:buNone/>
            </a:pPr>
            <a:r>
              <a:rPr lang="en-US" sz="900" dirty="0">
                <a:solidFill>
                  <a:srgbClr val="E8ECF2"/>
                </a:solidFill>
              </a:rPr>
              <a:t>de N vectores</a:t>
            </a:r>
            <a:endParaRPr lang="en-US" sz="900" dirty="0"/>
          </a:p>
          <a:p>
            <a:pPr marL="0" indent="0" algn="ctr">
              <a:buNone/>
            </a:pPr>
            <a:r>
              <a:rPr lang="en-US" sz="900" dirty="0">
                <a:solidFill>
                  <a:srgbClr val="E8ECF2"/>
                </a:solidFill>
              </a:rPr>
              <a:t>→ vector 768d</a:t>
            </a:r>
            <a:endParaRPr lang="en-US" sz="900" dirty="0"/>
          </a:p>
          <a:p>
            <a:pPr marL="0" indent="0" algn="ctr">
              <a:buNone/>
            </a:pPr>
            <a:r>
              <a:rPr lang="en-US" sz="900" dirty="0">
                <a:solidFill>
                  <a:srgbClr val="E8ECF2"/>
                </a:solidFill>
              </a:rPr>
              <a:t>normalizado</a:t>
            </a:r>
            <a:endParaRPr lang="en-US" sz="900" dirty="0"/>
          </a:p>
        </p:txBody>
      </p:sp>
      <p:sp>
        <p:nvSpPr>
          <p:cNvPr id="26" name="Shape 24"/>
          <p:cNvSpPr/>
          <p:nvPr/>
        </p:nvSpPr>
        <p:spPr>
          <a:xfrm>
            <a:off x="457200" y="3493008"/>
            <a:ext cx="3931920" cy="594360"/>
          </a:xfrm>
          <a:prstGeom prst="roundRect">
            <a:avLst>
              <a:gd name="adj" fmla="val 12308"/>
            </a:avLst>
          </a:prstGeom>
          <a:solidFill>
            <a:srgbClr val="FFF8E1"/>
          </a:solidFill>
          <a:ln w="12700">
            <a:solidFill>
              <a:srgbClr val="C9A84C"/>
            </a:solidFill>
            <a:prstDash val="solid"/>
          </a:ln>
        </p:spPr>
        <p:txBody>
          <a:bodyPr/>
          <a:lstStyle/>
          <a:p>
            <a:endParaRPr lang="es-CO"/>
          </a:p>
        </p:txBody>
      </p:sp>
      <p:sp>
        <p:nvSpPr>
          <p:cNvPr id="27" name="Text 25"/>
          <p:cNvSpPr/>
          <p:nvPr/>
        </p:nvSpPr>
        <p:spPr>
          <a:xfrm>
            <a:off x="594360" y="3538728"/>
            <a:ext cx="3657600" cy="502920"/>
          </a:xfrm>
          <a:prstGeom prst="rect">
            <a:avLst/>
          </a:prstGeom>
          <a:noFill/>
          <a:ln/>
        </p:spPr>
        <p:txBody>
          <a:bodyPr wrap="square" lIns="0" tIns="0" rIns="0" bIns="0" rtlCol="0" anchor="ctr"/>
          <a:lstStyle/>
          <a:p>
            <a:pPr marL="0" indent="0">
              <a:buNone/>
            </a:pPr>
            <a:r>
              <a:rPr lang="en-US" sz="950" dirty="0">
                <a:solidFill>
                  <a:srgbClr val="7A5C00"/>
                </a:solidFill>
              </a:rPr>
              <a:t>¿Por qué 768 dimensiones? ConfliBERT representa cada texto como un punto en un espacio vectorial de 768 dimensiones, entrenado específicamente en textos de conflicto armado.</a:t>
            </a:r>
            <a:endParaRPr lang="en-US" sz="950" dirty="0"/>
          </a:p>
        </p:txBody>
      </p:sp>
      <p:sp>
        <p:nvSpPr>
          <p:cNvPr id="28" name="Shape 26"/>
          <p:cNvSpPr/>
          <p:nvPr/>
        </p:nvSpPr>
        <p:spPr>
          <a:xfrm>
            <a:off x="4572000" y="3429000"/>
            <a:ext cx="4114800" cy="1280160"/>
          </a:xfrm>
          <a:prstGeom prst="roundRect">
            <a:avLst>
              <a:gd name="adj" fmla="val 8571"/>
            </a:avLst>
          </a:prstGeom>
          <a:solidFill>
            <a:srgbClr val="0D7377"/>
          </a:solidFill>
          <a:ln/>
        </p:spPr>
        <p:txBody>
          <a:bodyPr/>
          <a:lstStyle/>
          <a:p>
            <a:endParaRPr lang="es-CO"/>
          </a:p>
        </p:txBody>
      </p:sp>
      <p:sp>
        <p:nvSpPr>
          <p:cNvPr id="29" name="Text 27"/>
          <p:cNvSpPr/>
          <p:nvPr/>
        </p:nvSpPr>
        <p:spPr>
          <a:xfrm>
            <a:off x="4663440" y="3493008"/>
            <a:ext cx="3931920" cy="347472"/>
          </a:xfrm>
          <a:prstGeom prst="rect">
            <a:avLst/>
          </a:prstGeom>
          <a:noFill/>
          <a:ln/>
        </p:spPr>
        <p:txBody>
          <a:bodyPr wrap="square" lIns="0" tIns="0" rIns="0" bIns="0" rtlCol="0" anchor="ctr"/>
          <a:lstStyle/>
          <a:p>
            <a:pPr marL="0" indent="0">
              <a:buNone/>
            </a:pPr>
            <a:r>
              <a:rPr lang="en-US" sz="1300" b="1" dirty="0">
                <a:solidFill>
                  <a:srgbClr val="FFFFFF"/>
                </a:solidFill>
              </a:rPr>
              <a:t>IEI — Índice de Injusticia Epistémica</a:t>
            </a:r>
            <a:endParaRPr lang="en-US" sz="1300" dirty="0"/>
          </a:p>
        </p:txBody>
      </p:sp>
      <p:sp>
        <p:nvSpPr>
          <p:cNvPr id="30" name="Text 28"/>
          <p:cNvSpPr/>
          <p:nvPr/>
        </p:nvSpPr>
        <p:spPr>
          <a:xfrm>
            <a:off x="4663440" y="3840480"/>
            <a:ext cx="3931920" cy="347472"/>
          </a:xfrm>
          <a:prstGeom prst="rect">
            <a:avLst/>
          </a:prstGeom>
          <a:noFill/>
          <a:ln/>
        </p:spPr>
        <p:txBody>
          <a:bodyPr wrap="square" lIns="0" tIns="0" rIns="0" bIns="0" rtlCol="0" anchor="ctr"/>
          <a:lstStyle/>
          <a:p>
            <a:pPr marL="0" indent="0">
              <a:buNone/>
            </a:pPr>
            <a:r>
              <a:rPr lang="en-US" sz="1100" i="1" dirty="0">
                <a:solidFill>
                  <a:srgbClr val="D0F0F0"/>
                </a:solidFill>
              </a:rPr>
              <a:t>y₈  =  1 − coseno( emb_sentencia , centroide_víctimas )</a:t>
            </a:r>
            <a:endParaRPr lang="en-US" sz="1100" dirty="0"/>
          </a:p>
        </p:txBody>
      </p:sp>
      <p:sp>
        <p:nvSpPr>
          <p:cNvPr id="31" name="Text 29"/>
          <p:cNvSpPr/>
          <p:nvPr/>
        </p:nvSpPr>
        <p:spPr>
          <a:xfrm>
            <a:off x="4663440" y="4206240"/>
            <a:ext cx="3931920" cy="274320"/>
          </a:xfrm>
          <a:prstGeom prst="rect">
            <a:avLst/>
          </a:prstGeom>
          <a:noFill/>
          <a:ln/>
        </p:spPr>
        <p:txBody>
          <a:bodyPr wrap="square" lIns="0" tIns="0" rIns="0" bIns="0" rtlCol="0" anchor="ctr"/>
          <a:lstStyle/>
          <a:p>
            <a:pPr marL="0" indent="0">
              <a:buNone/>
            </a:pPr>
            <a:r>
              <a:rPr lang="en-US" sz="950" dirty="0">
                <a:solidFill>
                  <a:srgbClr val="D0F0F0"/>
                </a:solidFill>
              </a:rPr>
              <a:t>0 = máxima alineación  ·  1 = máxima distancia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A2744"/>
          </a:solidFill>
          <a:ln w="12700">
            <a:solidFill>
              <a:srgbClr val="1A2744"/>
            </a:solidFill>
            <a:prstDash val="solid"/>
          </a:ln>
        </p:spPr>
        <p:txBody>
          <a:bodyPr/>
          <a:lstStyle/>
          <a:p>
            <a:endParaRPr lang="es-CO"/>
          </a:p>
        </p:txBody>
      </p:sp>
      <p:sp>
        <p:nvSpPr>
          <p:cNvPr id="3" name="Text 1"/>
          <p:cNvSpPr/>
          <p:nvPr/>
        </p:nvSpPr>
        <p:spPr>
          <a:xfrm>
            <a:off x="548640" y="0"/>
            <a:ext cx="8229600" cy="1188720"/>
          </a:xfrm>
          <a:prstGeom prst="rect">
            <a:avLst/>
          </a:prstGeom>
          <a:noFill/>
          <a:ln/>
        </p:spPr>
        <p:txBody>
          <a:bodyPr wrap="square" lIns="0" tIns="0" rIns="0" bIns="0" rtlCol="0" anchor="ctr"/>
          <a:lstStyle/>
          <a:p>
            <a:pPr marL="0" indent="0">
              <a:buNone/>
            </a:pPr>
            <a:r>
              <a:rPr lang="en-US" sz="2600" b="1" dirty="0">
                <a:solidFill>
                  <a:srgbClr val="FFFFFF"/>
                </a:solidFill>
              </a:rPr>
              <a:t>02  ·  Aplicación: Macrocaso 003 — JEP</a:t>
            </a:r>
            <a:endParaRPr lang="en-US" sz="2600" dirty="0"/>
          </a:p>
        </p:txBody>
      </p:sp>
      <p:sp>
        <p:nvSpPr>
          <p:cNvPr id="4" name="Text 2"/>
          <p:cNvSpPr/>
          <p:nvPr/>
        </p:nvSpPr>
        <p:spPr>
          <a:xfrm>
            <a:off x="548640" y="1325880"/>
            <a:ext cx="3840480" cy="365760"/>
          </a:xfrm>
          <a:prstGeom prst="rect">
            <a:avLst/>
          </a:prstGeom>
          <a:noFill/>
          <a:ln/>
        </p:spPr>
        <p:txBody>
          <a:bodyPr wrap="square" lIns="0" tIns="0" rIns="0" bIns="0" rtlCol="0" anchor="ctr"/>
          <a:lstStyle/>
          <a:p>
            <a:pPr marL="0" indent="0">
              <a:buNone/>
            </a:pPr>
            <a:r>
              <a:rPr lang="en-US" sz="1600" b="1" dirty="0">
                <a:solidFill>
                  <a:srgbClr val="1A2744"/>
                </a:solidFill>
              </a:rPr>
              <a:t>Contexto</a:t>
            </a:r>
            <a:endParaRPr lang="en-US" sz="1600" dirty="0"/>
          </a:p>
        </p:txBody>
      </p:sp>
      <p:sp>
        <p:nvSpPr>
          <p:cNvPr id="5" name="Text 3"/>
          <p:cNvSpPr/>
          <p:nvPr/>
        </p:nvSpPr>
        <p:spPr>
          <a:xfrm>
            <a:off x="548640" y="1737360"/>
            <a:ext cx="3840480" cy="2011680"/>
          </a:xfrm>
          <a:prstGeom prst="rect">
            <a:avLst/>
          </a:prstGeom>
          <a:noFill/>
          <a:ln/>
        </p:spPr>
        <p:txBody>
          <a:bodyPr wrap="square" lIns="0" tIns="0" rIns="0" bIns="0" rtlCol="0" anchor="ctr"/>
          <a:lstStyle/>
          <a:p>
            <a:pPr marL="0" indent="0">
              <a:buNone/>
            </a:pPr>
            <a:r>
              <a:rPr lang="en-US" sz="1200" b="1" dirty="0">
                <a:solidFill>
                  <a:srgbClr val="1E293B"/>
                </a:solidFill>
              </a:rPr>
              <a:t>Hecho victimizante: </a:t>
            </a:r>
            <a:r>
              <a:rPr lang="en-US" sz="1200" dirty="0">
                <a:solidFill>
                  <a:srgbClr val="1E293B"/>
                </a:solidFill>
              </a:rPr>
              <a:t>Falsos positivos — ejecuciones extrajudiciales
</a:t>
            </a:r>
            <a:r>
              <a:rPr lang="en-US" sz="1200" b="1" dirty="0">
                <a:solidFill>
                  <a:srgbClr val="1E293B"/>
                </a:solidFill>
              </a:rPr>
              <a:t>Centroide de víctimas: </a:t>
            </a:r>
            <a:r>
              <a:rPr lang="en-US" sz="1200" dirty="0">
                <a:solidFill>
                  <a:srgbClr val="1E293B"/>
                </a:solidFill>
              </a:rPr>
              <a:t>MAFAPO (Madres de Falsos Positivos de Soacha) — testimonios directos
</a:t>
            </a:r>
            <a:r>
              <a:rPr lang="en-US" sz="1200" b="1" dirty="0">
                <a:solidFill>
                  <a:srgbClr val="1E293B"/>
                </a:solidFill>
              </a:rPr>
              <a:t>Centroide CIDH: </a:t>
            </a:r>
            <a:r>
              <a:rPr lang="en-US" sz="1200" dirty="0">
                <a:solidFill>
                  <a:srgbClr val="1E293B"/>
                </a:solidFill>
              </a:rPr>
              <a:t>Jurisprudencia IDH sobre ejecuciones extrajudiciales</a:t>
            </a:r>
            <a:endParaRPr lang="en-US" sz="1200" dirty="0"/>
          </a:p>
        </p:txBody>
      </p:sp>
      <p:sp>
        <p:nvSpPr>
          <p:cNvPr id="6" name="Text 4"/>
          <p:cNvSpPr/>
          <p:nvPr/>
        </p:nvSpPr>
        <p:spPr>
          <a:xfrm>
            <a:off x="4754880" y="1325880"/>
            <a:ext cx="3840480" cy="365760"/>
          </a:xfrm>
          <a:prstGeom prst="rect">
            <a:avLst/>
          </a:prstGeom>
          <a:noFill/>
          <a:ln/>
        </p:spPr>
        <p:txBody>
          <a:bodyPr wrap="square" lIns="0" tIns="0" rIns="0" bIns="0" rtlCol="0" anchor="ctr"/>
          <a:lstStyle/>
          <a:p>
            <a:pPr marL="0" indent="0">
              <a:buNone/>
            </a:pPr>
            <a:r>
              <a:rPr lang="en-US" sz="1600" b="1" dirty="0">
                <a:solidFill>
                  <a:srgbClr val="0D7377"/>
                </a:solidFill>
              </a:rPr>
              <a:t>¿Qué midió el CFH?</a:t>
            </a:r>
            <a:endParaRPr lang="en-US" sz="1600" dirty="0"/>
          </a:p>
        </p:txBody>
      </p:sp>
      <p:sp>
        <p:nvSpPr>
          <p:cNvPr id="7" name="Shape 5"/>
          <p:cNvSpPr/>
          <p:nvPr/>
        </p:nvSpPr>
        <p:spPr>
          <a:xfrm>
            <a:off x="4754880" y="1737360"/>
            <a:ext cx="3840480" cy="457200"/>
          </a:xfrm>
          <a:prstGeom prst="roundRect">
            <a:avLst>
              <a:gd name="adj" fmla="val 14000"/>
            </a:avLst>
          </a:prstGeom>
          <a:solidFill>
            <a:srgbClr val="EBF4F5"/>
          </a:solidFill>
          <a:ln/>
          <a:effectLst>
            <a:outerShdw blurRad="101600" dist="38100" dir="2700000" algn="bl" rotWithShape="0">
              <a:srgbClr val="000000">
                <a:alpha val="12000"/>
              </a:srgbClr>
            </a:outerShdw>
          </a:effectLst>
        </p:spPr>
        <p:txBody>
          <a:bodyPr/>
          <a:lstStyle/>
          <a:p>
            <a:endParaRPr lang="es-CO"/>
          </a:p>
        </p:txBody>
      </p:sp>
      <p:sp>
        <p:nvSpPr>
          <p:cNvPr id="8" name="Text 6"/>
          <p:cNvSpPr/>
          <p:nvPr/>
        </p:nvSpPr>
        <p:spPr>
          <a:xfrm>
            <a:off x="4846320" y="1764792"/>
            <a:ext cx="3657600" cy="384048"/>
          </a:xfrm>
          <a:prstGeom prst="rect">
            <a:avLst/>
          </a:prstGeom>
          <a:noFill/>
          <a:ln/>
        </p:spPr>
        <p:txBody>
          <a:bodyPr wrap="square" lIns="0" tIns="0" rIns="0" bIns="0" rtlCol="0" anchor="ctr"/>
          <a:lstStyle/>
          <a:p>
            <a:pPr marL="0" indent="0">
              <a:buNone/>
            </a:pPr>
            <a:r>
              <a:rPr lang="en-US" sz="1100" dirty="0">
                <a:solidFill>
                  <a:srgbClr val="1A2744"/>
                </a:solidFill>
              </a:rPr>
              <a:t>✓  DIS: patrones de silenciamiento del lenguaje de víctimas</a:t>
            </a:r>
            <a:endParaRPr lang="en-US" sz="1100" dirty="0"/>
          </a:p>
        </p:txBody>
      </p:sp>
      <p:sp>
        <p:nvSpPr>
          <p:cNvPr id="9" name="Shape 7"/>
          <p:cNvSpPr/>
          <p:nvPr/>
        </p:nvSpPr>
        <p:spPr>
          <a:xfrm>
            <a:off x="4754880" y="2286000"/>
            <a:ext cx="3840480" cy="457200"/>
          </a:xfrm>
          <a:prstGeom prst="roundRect">
            <a:avLst>
              <a:gd name="adj" fmla="val 14000"/>
            </a:avLst>
          </a:prstGeom>
          <a:solidFill>
            <a:srgbClr val="EBF4F5"/>
          </a:solidFill>
          <a:ln/>
          <a:effectLst>
            <a:outerShdw blurRad="101600" dist="38100" dir="2700000" algn="bl" rotWithShape="0">
              <a:srgbClr val="000000">
                <a:alpha val="12000"/>
              </a:srgbClr>
            </a:outerShdw>
          </a:effectLst>
        </p:spPr>
        <p:txBody>
          <a:bodyPr/>
          <a:lstStyle/>
          <a:p>
            <a:endParaRPr lang="es-CO"/>
          </a:p>
        </p:txBody>
      </p:sp>
      <p:sp>
        <p:nvSpPr>
          <p:cNvPr id="10" name="Text 8"/>
          <p:cNvSpPr/>
          <p:nvPr/>
        </p:nvSpPr>
        <p:spPr>
          <a:xfrm>
            <a:off x="4846320" y="2313432"/>
            <a:ext cx="3657600" cy="384048"/>
          </a:xfrm>
          <a:prstGeom prst="rect">
            <a:avLst/>
          </a:prstGeom>
          <a:noFill/>
          <a:ln/>
        </p:spPr>
        <p:txBody>
          <a:bodyPr wrap="square" lIns="0" tIns="0" rIns="0" bIns="0" rtlCol="0" anchor="ctr"/>
          <a:lstStyle/>
          <a:p>
            <a:pPr marL="0" indent="0">
              <a:buNone/>
            </a:pPr>
            <a:r>
              <a:rPr lang="en-US" sz="1100" dirty="0">
                <a:solidFill>
                  <a:srgbClr val="1A2744"/>
                </a:solidFill>
              </a:rPr>
              <a:t>✓  IEI: distancia semántica sentencia vs MAFAPO</a:t>
            </a:r>
            <a:endParaRPr lang="en-US" sz="1100" dirty="0"/>
          </a:p>
        </p:txBody>
      </p:sp>
      <p:sp>
        <p:nvSpPr>
          <p:cNvPr id="11" name="Shape 9"/>
          <p:cNvSpPr/>
          <p:nvPr/>
        </p:nvSpPr>
        <p:spPr>
          <a:xfrm>
            <a:off x="4754880" y="2834640"/>
            <a:ext cx="3840480" cy="457200"/>
          </a:xfrm>
          <a:prstGeom prst="roundRect">
            <a:avLst>
              <a:gd name="adj" fmla="val 14000"/>
            </a:avLst>
          </a:prstGeom>
          <a:solidFill>
            <a:srgbClr val="EBF4F5"/>
          </a:solidFill>
          <a:ln/>
          <a:effectLst>
            <a:outerShdw blurRad="101600" dist="38100" dir="2700000" algn="bl" rotWithShape="0">
              <a:srgbClr val="000000">
                <a:alpha val="12000"/>
              </a:srgbClr>
            </a:outerShdw>
          </a:effectLst>
        </p:spPr>
        <p:txBody>
          <a:bodyPr/>
          <a:lstStyle/>
          <a:p>
            <a:endParaRPr lang="es-CO"/>
          </a:p>
        </p:txBody>
      </p:sp>
      <p:sp>
        <p:nvSpPr>
          <p:cNvPr id="12" name="Text 10"/>
          <p:cNvSpPr/>
          <p:nvPr/>
        </p:nvSpPr>
        <p:spPr>
          <a:xfrm>
            <a:off x="4846320" y="2862072"/>
            <a:ext cx="3657600" cy="384048"/>
          </a:xfrm>
          <a:prstGeom prst="rect">
            <a:avLst/>
          </a:prstGeom>
          <a:noFill/>
          <a:ln/>
        </p:spPr>
        <p:txBody>
          <a:bodyPr wrap="square" lIns="0" tIns="0" rIns="0" bIns="0" rtlCol="0" anchor="ctr"/>
          <a:lstStyle/>
          <a:p>
            <a:pPr marL="0" indent="0">
              <a:buNone/>
            </a:pPr>
            <a:r>
              <a:rPr lang="en-US" sz="1100" dirty="0">
                <a:solidFill>
                  <a:srgbClr val="1A2744"/>
                </a:solidFill>
              </a:rPr>
              <a:t>✓  Variación por subperíodo y tipo de sentencia</a:t>
            </a:r>
            <a:endParaRPr lang="en-US" sz="1100" dirty="0"/>
          </a:p>
        </p:txBody>
      </p:sp>
      <p:sp>
        <p:nvSpPr>
          <p:cNvPr id="13" name="Shape 11"/>
          <p:cNvSpPr/>
          <p:nvPr/>
        </p:nvSpPr>
        <p:spPr>
          <a:xfrm>
            <a:off x="4754880" y="3383280"/>
            <a:ext cx="3840480" cy="457200"/>
          </a:xfrm>
          <a:prstGeom prst="roundRect">
            <a:avLst>
              <a:gd name="adj" fmla="val 14000"/>
            </a:avLst>
          </a:prstGeom>
          <a:solidFill>
            <a:srgbClr val="EBF4F5"/>
          </a:solidFill>
          <a:ln/>
          <a:effectLst>
            <a:outerShdw blurRad="101600" dist="38100" dir="2700000" algn="bl" rotWithShape="0">
              <a:srgbClr val="000000">
                <a:alpha val="12000"/>
              </a:srgbClr>
            </a:outerShdw>
          </a:effectLst>
        </p:spPr>
        <p:txBody>
          <a:bodyPr/>
          <a:lstStyle/>
          <a:p>
            <a:endParaRPr lang="es-CO"/>
          </a:p>
        </p:txBody>
      </p:sp>
      <p:sp>
        <p:nvSpPr>
          <p:cNvPr id="14" name="Text 12"/>
          <p:cNvSpPr/>
          <p:nvPr/>
        </p:nvSpPr>
        <p:spPr>
          <a:xfrm>
            <a:off x="4846320" y="3410712"/>
            <a:ext cx="3657600" cy="384048"/>
          </a:xfrm>
          <a:prstGeom prst="rect">
            <a:avLst/>
          </a:prstGeom>
          <a:noFill/>
          <a:ln/>
        </p:spPr>
        <p:txBody>
          <a:bodyPr wrap="square" lIns="0" tIns="0" rIns="0" bIns="0" rtlCol="0" anchor="ctr"/>
          <a:lstStyle/>
          <a:p>
            <a:pPr marL="0" indent="0">
              <a:buNone/>
            </a:pPr>
            <a:r>
              <a:rPr lang="en-US" sz="1100" dirty="0">
                <a:solidFill>
                  <a:srgbClr val="1A2744"/>
                </a:solidFill>
              </a:rPr>
              <a:t>✓  Patrones sistémicos vs. responsabilidad individual</a:t>
            </a:r>
            <a:endParaRPr lang="en-US" sz="1100" dirty="0"/>
          </a:p>
        </p:txBody>
      </p:sp>
      <p:sp>
        <p:nvSpPr>
          <p:cNvPr id="15" name="Shape 13"/>
          <p:cNvSpPr/>
          <p:nvPr/>
        </p:nvSpPr>
        <p:spPr>
          <a:xfrm>
            <a:off x="548640" y="3977640"/>
            <a:ext cx="8046720" cy="777240"/>
          </a:xfrm>
          <a:prstGeom prst="roundRect">
            <a:avLst>
              <a:gd name="adj" fmla="val 9412"/>
            </a:avLst>
          </a:prstGeom>
          <a:solidFill>
            <a:srgbClr val="E8ECF2"/>
          </a:solidFill>
          <a:ln/>
        </p:spPr>
        <p:txBody>
          <a:bodyPr/>
          <a:lstStyle/>
          <a:p>
            <a:endParaRPr lang="es-CO"/>
          </a:p>
        </p:txBody>
      </p:sp>
      <p:sp>
        <p:nvSpPr>
          <p:cNvPr id="16" name="Text 14"/>
          <p:cNvSpPr/>
          <p:nvPr/>
        </p:nvSpPr>
        <p:spPr>
          <a:xfrm>
            <a:off x="731520" y="4041648"/>
            <a:ext cx="7680960" cy="640080"/>
          </a:xfrm>
          <a:prstGeom prst="rect">
            <a:avLst/>
          </a:prstGeom>
          <a:noFill/>
          <a:ln/>
        </p:spPr>
        <p:txBody>
          <a:bodyPr wrap="square" lIns="0" tIns="0" rIns="0" bIns="0" rtlCol="0" anchor="ctr"/>
          <a:lstStyle/>
          <a:p>
            <a:pPr marL="0" indent="0">
              <a:buNone/>
            </a:pPr>
            <a:r>
              <a:rPr lang="en-US" sz="1050" i="1" dirty="0">
                <a:solidFill>
                  <a:srgbClr val="64748B"/>
                </a:solidFill>
              </a:rPr>
              <a:t>Esta es la aplicación piloto que demuestra la viabilidad del CFH en el sistema de justicia transicional colombiano. La colaboración con la JEP es independiente y no genera incompatibilidades con el presente ejercicio académico.</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lIns="0" tIns="0" rIns="0" bIns="0" rtlCol="0" anchor="ctr"/>
          <a:lstStyle/>
          <a:p>
            <a:pPr marL="0" indent="0">
              <a:buNone/>
            </a:pPr>
            <a:r>
              <a:rPr lang="en-US" sz="2600" b="1" dirty="0">
                <a:solidFill>
                  <a:srgbClr val="1A2744"/>
                </a:solidFill>
              </a:rPr>
              <a:t>Hallazgos clave — Macrocaso 003</a:t>
            </a:r>
            <a:endParaRPr lang="en-US" sz="2600" dirty="0"/>
          </a:p>
        </p:txBody>
      </p:sp>
      <p:sp>
        <p:nvSpPr>
          <p:cNvPr id="3" name="Shape 1"/>
          <p:cNvSpPr/>
          <p:nvPr/>
        </p:nvSpPr>
        <p:spPr>
          <a:xfrm>
            <a:off x="548640" y="960120"/>
            <a:ext cx="2606040" cy="1417320"/>
          </a:xfrm>
          <a:prstGeom prst="roundRect">
            <a:avLst>
              <a:gd name="adj" fmla="val 7742"/>
            </a:avLst>
          </a:prstGeom>
          <a:solidFill>
            <a:srgbClr val="1A2744"/>
          </a:solidFill>
          <a:ln/>
        </p:spPr>
        <p:txBody>
          <a:bodyPr/>
          <a:lstStyle/>
          <a:p>
            <a:endParaRPr lang="es-CO"/>
          </a:p>
        </p:txBody>
      </p:sp>
      <p:sp>
        <p:nvSpPr>
          <p:cNvPr id="4" name="Text 2"/>
          <p:cNvSpPr/>
          <p:nvPr/>
        </p:nvSpPr>
        <p:spPr>
          <a:xfrm>
            <a:off x="548640" y="1005840"/>
            <a:ext cx="2606040" cy="777240"/>
          </a:xfrm>
          <a:prstGeom prst="rect">
            <a:avLst/>
          </a:prstGeom>
          <a:noFill/>
          <a:ln/>
        </p:spPr>
        <p:txBody>
          <a:bodyPr wrap="square" lIns="0" tIns="0" rIns="0" bIns="0" rtlCol="0" anchor="b"/>
          <a:lstStyle/>
          <a:p>
            <a:pPr marL="0" indent="0" algn="ctr">
              <a:buNone/>
            </a:pPr>
            <a:r>
              <a:rPr lang="en-US" sz="3600" b="1" dirty="0">
                <a:solidFill>
                  <a:srgbClr val="FFFFFF"/>
                </a:solidFill>
              </a:rPr>
              <a:t>DIS</a:t>
            </a:r>
            <a:endParaRPr lang="en-US" sz="3600" dirty="0"/>
          </a:p>
        </p:txBody>
      </p:sp>
      <p:sp>
        <p:nvSpPr>
          <p:cNvPr id="5" name="Text 3"/>
          <p:cNvSpPr/>
          <p:nvPr/>
        </p:nvSpPr>
        <p:spPr>
          <a:xfrm>
            <a:off x="548640" y="1810512"/>
            <a:ext cx="2606040" cy="475488"/>
          </a:xfrm>
          <a:prstGeom prst="rect">
            <a:avLst/>
          </a:prstGeom>
          <a:noFill/>
          <a:ln/>
        </p:spPr>
        <p:txBody>
          <a:bodyPr wrap="square" lIns="0" tIns="0" rIns="0" bIns="0" rtlCol="0" anchor="ctr"/>
          <a:lstStyle/>
          <a:p>
            <a:pPr marL="0" indent="0" algn="ctr">
              <a:buNone/>
            </a:pPr>
            <a:r>
              <a:rPr lang="en-US" sz="1000" dirty="0">
                <a:solidFill>
                  <a:srgbClr val="FFFFFF"/>
                </a:solidFill>
              </a:rPr>
              <a:t>Injusticia discursiva</a:t>
            </a:r>
            <a:endParaRPr lang="en-US" sz="1000" dirty="0"/>
          </a:p>
          <a:p>
            <a:pPr marL="0" indent="0" algn="ctr">
              <a:buNone/>
            </a:pPr>
            <a:r>
              <a:rPr lang="en-US" sz="1000" dirty="0">
                <a:solidFill>
                  <a:srgbClr val="FFFFFF"/>
                </a:solidFill>
              </a:rPr>
              <a:t>medida en texto</a:t>
            </a:r>
            <a:endParaRPr lang="en-US" sz="1000" dirty="0"/>
          </a:p>
        </p:txBody>
      </p:sp>
      <p:sp>
        <p:nvSpPr>
          <p:cNvPr id="6" name="Shape 4"/>
          <p:cNvSpPr/>
          <p:nvPr/>
        </p:nvSpPr>
        <p:spPr>
          <a:xfrm>
            <a:off x="3383280" y="960120"/>
            <a:ext cx="2606040" cy="1417320"/>
          </a:xfrm>
          <a:prstGeom prst="roundRect">
            <a:avLst>
              <a:gd name="adj" fmla="val 7742"/>
            </a:avLst>
          </a:prstGeom>
          <a:solidFill>
            <a:srgbClr val="0D7377"/>
          </a:solidFill>
          <a:ln/>
        </p:spPr>
        <p:txBody>
          <a:bodyPr/>
          <a:lstStyle/>
          <a:p>
            <a:endParaRPr lang="es-CO"/>
          </a:p>
        </p:txBody>
      </p:sp>
      <p:sp>
        <p:nvSpPr>
          <p:cNvPr id="7" name="Text 5"/>
          <p:cNvSpPr/>
          <p:nvPr/>
        </p:nvSpPr>
        <p:spPr>
          <a:xfrm>
            <a:off x="3383280" y="1005840"/>
            <a:ext cx="2606040" cy="777240"/>
          </a:xfrm>
          <a:prstGeom prst="rect">
            <a:avLst/>
          </a:prstGeom>
          <a:noFill/>
          <a:ln/>
        </p:spPr>
        <p:txBody>
          <a:bodyPr wrap="square" lIns="0" tIns="0" rIns="0" bIns="0" rtlCol="0" anchor="b"/>
          <a:lstStyle/>
          <a:p>
            <a:pPr marL="0" indent="0" algn="ctr">
              <a:buNone/>
            </a:pPr>
            <a:r>
              <a:rPr lang="en-US" sz="3600" b="1" dirty="0">
                <a:solidFill>
                  <a:srgbClr val="FFFFFF"/>
                </a:solidFill>
              </a:rPr>
              <a:t>IEI</a:t>
            </a:r>
            <a:endParaRPr lang="en-US" sz="3600" dirty="0"/>
          </a:p>
        </p:txBody>
      </p:sp>
      <p:sp>
        <p:nvSpPr>
          <p:cNvPr id="8" name="Text 6"/>
          <p:cNvSpPr/>
          <p:nvPr/>
        </p:nvSpPr>
        <p:spPr>
          <a:xfrm>
            <a:off x="3383280" y="1810512"/>
            <a:ext cx="2606040" cy="475488"/>
          </a:xfrm>
          <a:prstGeom prst="rect">
            <a:avLst/>
          </a:prstGeom>
          <a:noFill/>
          <a:ln/>
        </p:spPr>
        <p:txBody>
          <a:bodyPr wrap="square" lIns="0" tIns="0" rIns="0" bIns="0" rtlCol="0" anchor="ctr"/>
          <a:lstStyle/>
          <a:p>
            <a:pPr marL="0" indent="0" algn="ctr">
              <a:buNone/>
            </a:pPr>
            <a:r>
              <a:rPr lang="en-US" sz="1000" dirty="0">
                <a:solidFill>
                  <a:srgbClr val="FFFFFF"/>
                </a:solidFill>
              </a:rPr>
              <a:t>Injusticia epistémica</a:t>
            </a:r>
            <a:endParaRPr lang="en-US" sz="1000" dirty="0"/>
          </a:p>
          <a:p>
            <a:pPr marL="0" indent="0" algn="ctr">
              <a:buNone/>
            </a:pPr>
            <a:r>
              <a:rPr lang="en-US" sz="1000" dirty="0">
                <a:solidFill>
                  <a:srgbClr val="FFFFFF"/>
                </a:solidFill>
              </a:rPr>
              <a:t>vs centroide MAFAPO</a:t>
            </a:r>
            <a:endParaRPr lang="en-US" sz="1000" dirty="0"/>
          </a:p>
        </p:txBody>
      </p:sp>
      <p:sp>
        <p:nvSpPr>
          <p:cNvPr id="9" name="Shape 7"/>
          <p:cNvSpPr/>
          <p:nvPr/>
        </p:nvSpPr>
        <p:spPr>
          <a:xfrm>
            <a:off x="6217920" y="960120"/>
            <a:ext cx="2606040" cy="1417320"/>
          </a:xfrm>
          <a:prstGeom prst="roundRect">
            <a:avLst>
              <a:gd name="adj" fmla="val 7742"/>
            </a:avLst>
          </a:prstGeom>
          <a:solidFill>
            <a:srgbClr val="C9A84C"/>
          </a:solidFill>
          <a:ln/>
        </p:spPr>
        <p:txBody>
          <a:bodyPr/>
          <a:lstStyle/>
          <a:p>
            <a:endParaRPr lang="es-CO"/>
          </a:p>
        </p:txBody>
      </p:sp>
      <p:sp>
        <p:nvSpPr>
          <p:cNvPr id="10" name="Text 8"/>
          <p:cNvSpPr/>
          <p:nvPr/>
        </p:nvSpPr>
        <p:spPr>
          <a:xfrm>
            <a:off x="6217920" y="1005840"/>
            <a:ext cx="2606040" cy="777240"/>
          </a:xfrm>
          <a:prstGeom prst="rect">
            <a:avLst/>
          </a:prstGeom>
          <a:noFill/>
          <a:ln/>
        </p:spPr>
        <p:txBody>
          <a:bodyPr wrap="square" lIns="0" tIns="0" rIns="0" bIns="0" rtlCol="0" anchor="b"/>
          <a:lstStyle/>
          <a:p>
            <a:pPr marL="0" indent="0" algn="ctr">
              <a:buNone/>
            </a:pPr>
            <a:r>
              <a:rPr lang="en-US" sz="3600" b="1" dirty="0">
                <a:solidFill>
                  <a:srgbClr val="FFFFFF"/>
                </a:solidFill>
              </a:rPr>
              <a:t>768d</a:t>
            </a:r>
            <a:endParaRPr lang="en-US" sz="3600" dirty="0"/>
          </a:p>
        </p:txBody>
      </p:sp>
      <p:sp>
        <p:nvSpPr>
          <p:cNvPr id="11" name="Text 9"/>
          <p:cNvSpPr/>
          <p:nvPr/>
        </p:nvSpPr>
        <p:spPr>
          <a:xfrm>
            <a:off x="6217920" y="1810512"/>
            <a:ext cx="2606040" cy="475488"/>
          </a:xfrm>
          <a:prstGeom prst="rect">
            <a:avLst/>
          </a:prstGeom>
          <a:noFill/>
          <a:ln/>
        </p:spPr>
        <p:txBody>
          <a:bodyPr wrap="square" lIns="0" tIns="0" rIns="0" bIns="0" rtlCol="0" anchor="ctr"/>
          <a:lstStyle/>
          <a:p>
            <a:pPr marL="0" indent="0" algn="ctr">
              <a:buNone/>
            </a:pPr>
            <a:r>
              <a:rPr lang="en-US" sz="1000" dirty="0">
                <a:solidFill>
                  <a:srgbClr val="FFFFFF"/>
                </a:solidFill>
              </a:rPr>
              <a:t>Dimensiones del espacio</a:t>
            </a:r>
            <a:endParaRPr lang="en-US" sz="1000" dirty="0"/>
          </a:p>
          <a:p>
            <a:pPr marL="0" indent="0" algn="ctr">
              <a:buNone/>
            </a:pPr>
            <a:r>
              <a:rPr lang="en-US" sz="1000" dirty="0">
                <a:solidFill>
                  <a:srgbClr val="FFFFFF"/>
                </a:solidFill>
              </a:rPr>
              <a:t>vectorial ConfliBERT</a:t>
            </a:r>
            <a:endParaRPr lang="en-US" sz="1000" dirty="0"/>
          </a:p>
        </p:txBody>
      </p:sp>
      <p:sp>
        <p:nvSpPr>
          <p:cNvPr id="12" name="Shape 10"/>
          <p:cNvSpPr/>
          <p:nvPr/>
        </p:nvSpPr>
        <p:spPr>
          <a:xfrm>
            <a:off x="548640" y="2578608"/>
            <a:ext cx="8046720" cy="667512"/>
          </a:xfrm>
          <a:prstGeom prst="roundRect">
            <a:avLst>
              <a:gd name="adj" fmla="val 10959"/>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13" name="Text 11"/>
          <p:cNvSpPr/>
          <p:nvPr/>
        </p:nvSpPr>
        <p:spPr>
          <a:xfrm>
            <a:off x="777240" y="2624328"/>
            <a:ext cx="7589520" cy="566928"/>
          </a:xfrm>
          <a:prstGeom prst="rect">
            <a:avLst/>
          </a:prstGeom>
          <a:noFill/>
          <a:ln/>
        </p:spPr>
        <p:txBody>
          <a:bodyPr wrap="square" lIns="0" tIns="0" rIns="0" bIns="0" rtlCol="0" anchor="ctr"/>
          <a:lstStyle/>
          <a:p>
            <a:pPr marL="0" indent="0">
              <a:buNone/>
            </a:pPr>
            <a:r>
              <a:rPr lang="en-US" sz="1150" dirty="0">
                <a:solidFill>
                  <a:srgbClr val="1E293B"/>
                </a:solidFill>
              </a:rPr>
              <a:t>Distancia variable por período  —  Las sentencias más recientes mostraron mayor alineación semántica con el estándar de víctimas que las tempranas.</a:t>
            </a:r>
            <a:endParaRPr lang="en-US" sz="1150" dirty="0"/>
          </a:p>
        </p:txBody>
      </p:sp>
      <p:sp>
        <p:nvSpPr>
          <p:cNvPr id="14" name="Shape 12"/>
          <p:cNvSpPr/>
          <p:nvPr/>
        </p:nvSpPr>
        <p:spPr>
          <a:xfrm>
            <a:off x="548640" y="3355848"/>
            <a:ext cx="8046720" cy="667512"/>
          </a:xfrm>
          <a:prstGeom prst="roundRect">
            <a:avLst>
              <a:gd name="adj" fmla="val 10959"/>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15" name="Text 13"/>
          <p:cNvSpPr/>
          <p:nvPr/>
        </p:nvSpPr>
        <p:spPr>
          <a:xfrm>
            <a:off x="777240" y="3401568"/>
            <a:ext cx="7589520" cy="566928"/>
          </a:xfrm>
          <a:prstGeom prst="rect">
            <a:avLst/>
          </a:prstGeom>
          <a:noFill/>
          <a:ln/>
        </p:spPr>
        <p:txBody>
          <a:bodyPr wrap="square" lIns="0" tIns="0" rIns="0" bIns="0" rtlCol="0" anchor="ctr"/>
          <a:lstStyle/>
          <a:p>
            <a:pPr marL="0" indent="0">
              <a:buNone/>
            </a:pPr>
            <a:r>
              <a:rPr lang="en-US" sz="1150" dirty="0">
                <a:solidFill>
                  <a:srgbClr val="1E293B"/>
                </a:solidFill>
              </a:rPr>
              <a:t>Injusticia discursiva identificable  —  El DIS detectó patrones sistemáticos de minimización del lenguaje de víctimas en argumentación jurídica.</a:t>
            </a:r>
            <a:endParaRPr lang="en-US" sz="1150" dirty="0"/>
          </a:p>
        </p:txBody>
      </p:sp>
      <p:sp>
        <p:nvSpPr>
          <p:cNvPr id="16" name="Shape 14"/>
          <p:cNvSpPr/>
          <p:nvPr/>
        </p:nvSpPr>
        <p:spPr>
          <a:xfrm>
            <a:off x="548640" y="4133088"/>
            <a:ext cx="8046720" cy="667512"/>
          </a:xfrm>
          <a:prstGeom prst="roundRect">
            <a:avLst>
              <a:gd name="adj" fmla="val 10959"/>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17" name="Text 15"/>
          <p:cNvSpPr/>
          <p:nvPr/>
        </p:nvSpPr>
        <p:spPr>
          <a:xfrm>
            <a:off x="777240" y="4178808"/>
            <a:ext cx="7589520" cy="566928"/>
          </a:xfrm>
          <a:prstGeom prst="rect">
            <a:avLst/>
          </a:prstGeom>
          <a:noFill/>
          <a:ln/>
        </p:spPr>
        <p:txBody>
          <a:bodyPr wrap="square" lIns="0" tIns="0" rIns="0" bIns="0" rtlCol="0" anchor="ctr"/>
          <a:lstStyle/>
          <a:p>
            <a:pPr marL="0" indent="0">
              <a:buNone/>
            </a:pPr>
            <a:r>
              <a:rPr lang="en-US" sz="1150" dirty="0">
                <a:solidFill>
                  <a:srgbClr val="1E293B"/>
                </a:solidFill>
              </a:rPr>
              <a:t>Patrones sistémicos vs. individuales  —  El CFH distingue sentencias que abordan responsabilidad de cadena de mando de las que individualizan el daño.</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D7377"/>
          </a:solidFill>
          <a:ln w="12700">
            <a:solidFill>
              <a:srgbClr val="0D7377"/>
            </a:solidFill>
            <a:prstDash val="solid"/>
          </a:ln>
        </p:spPr>
        <p:txBody>
          <a:bodyPr/>
          <a:lstStyle/>
          <a:p>
            <a:endParaRPr lang="es-CO"/>
          </a:p>
        </p:txBody>
      </p:sp>
      <p:sp>
        <p:nvSpPr>
          <p:cNvPr id="3" name="Text 1"/>
          <p:cNvSpPr/>
          <p:nvPr/>
        </p:nvSpPr>
        <p:spPr>
          <a:xfrm>
            <a:off x="548640" y="0"/>
            <a:ext cx="8229600" cy="1188720"/>
          </a:xfrm>
          <a:prstGeom prst="rect">
            <a:avLst/>
          </a:prstGeom>
          <a:noFill/>
          <a:ln/>
        </p:spPr>
        <p:txBody>
          <a:bodyPr wrap="square" lIns="0" tIns="0" rIns="0" bIns="0" rtlCol="0" anchor="ctr"/>
          <a:lstStyle/>
          <a:p>
            <a:pPr marL="0" indent="0">
              <a:buNone/>
            </a:pPr>
            <a:r>
              <a:rPr lang="en-US" sz="2600" b="1" dirty="0">
                <a:solidFill>
                  <a:srgbClr val="FFFFFF"/>
                </a:solidFill>
              </a:rPr>
              <a:t>03  ·  Adaptación a Justicia y Paz</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3566160"/>
        </p:xfrm>
        <a:graphic>
          <a:graphicData uri="http://schemas.openxmlformats.org/drawingml/2006/table">
            <a:tbl>
              <a:tblPr/>
              <a:tblGrid>
                <a:gridCol w="2011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65760">
                <a:tc>
                  <a:txBody>
                    <a:bodyPr/>
                    <a:lstStyle/>
                    <a:p>
                      <a:pPr marL="0" indent="0" algn="l">
                        <a:buNone/>
                      </a:pPr>
                      <a:r>
                        <a:rPr lang="en-US" sz="1050" b="1" dirty="0">
                          <a:solidFill>
                            <a:srgbClr val="FFFFFF"/>
                          </a:solidFill>
                        </a:rPr>
                        <a:t>Elemento</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1A2744"/>
                    </a:solidFill>
                  </a:tcPr>
                </a:tc>
                <a:tc>
                  <a:txBody>
                    <a:bodyPr/>
                    <a:lstStyle/>
                    <a:p>
                      <a:pPr marL="0" indent="0" algn="l">
                        <a:buNone/>
                      </a:pPr>
                      <a:r>
                        <a:rPr lang="en-US" sz="1050" b="1" dirty="0">
                          <a:solidFill>
                            <a:srgbClr val="FFFFFF"/>
                          </a:solidFill>
                        </a:rPr>
                        <a:t>Macrocaso 003</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1A2744"/>
                    </a:solidFill>
                  </a:tcPr>
                </a:tc>
                <a:tc>
                  <a:txBody>
                    <a:bodyPr/>
                    <a:lstStyle/>
                    <a:p>
                      <a:pPr marL="0" indent="0" algn="l">
                        <a:buNone/>
                      </a:pPr>
                      <a:r>
                        <a:rPr lang="en-US" sz="1050" b="1" dirty="0">
                          <a:solidFill>
                            <a:srgbClr val="FFFFFF"/>
                          </a:solidFill>
                        </a:rPr>
                        <a:t>Justicia y Paz</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566928">
                <a:tc>
                  <a:txBody>
                    <a:bodyPr/>
                    <a:lstStyle/>
                    <a:p>
                      <a:pPr marL="0" indent="0" algn="l">
                        <a:buNone/>
                      </a:pPr>
                      <a:r>
                        <a:rPr lang="en-US" sz="1050" dirty="0">
                          <a:solidFill>
                            <a:srgbClr val="000000"/>
                          </a:solidFill>
                        </a:rPr>
                        <a:t>Hechos victimizantes</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l">
                        <a:buNone/>
                      </a:pPr>
                      <a:r>
                        <a:rPr lang="en-US" sz="1050" dirty="0">
                          <a:solidFill>
                            <a:srgbClr val="000000"/>
                          </a:solidFill>
                        </a:rPr>
                        <a:t>Falsos positivos</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l">
                        <a:buNone/>
                      </a:pPr>
                      <a:r>
                        <a:rPr lang="en-US" sz="1050" dirty="0">
                          <a:solidFill>
                            <a:srgbClr val="000000"/>
                          </a:solidFill>
                        </a:rPr>
                        <a:t>Masacres, desplazamiento, reclutamiento,</a:t>
                      </a:r>
                      <a:endParaRPr lang="en-US" sz="1050" dirty="0"/>
                    </a:p>
                    <a:p>
                      <a:pPr marL="0" indent="0" algn="l">
                        <a:buNone/>
                      </a:pPr>
                      <a:r>
                        <a:rPr lang="en-US" sz="1050" dirty="0">
                          <a:solidFill>
                            <a:srgbClr val="000000"/>
                          </a:solidFill>
                        </a:rPr>
                        <a:t>violencia sexual, desaparición forzada</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lgn="l">
                        <a:buNone/>
                      </a:pPr>
                      <a:r>
                        <a:rPr lang="en-US" sz="1050" dirty="0">
                          <a:solidFill>
                            <a:srgbClr val="000000"/>
                          </a:solidFill>
                        </a:rPr>
                        <a:t>Centroide de víctimas</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l">
                        <a:buNone/>
                      </a:pPr>
                      <a:r>
                        <a:rPr lang="en-US" sz="1050" dirty="0">
                          <a:solidFill>
                            <a:srgbClr val="000000"/>
                          </a:solidFill>
                        </a:rPr>
                        <a:t>MAFAPO — testimonios directos</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l">
                        <a:buNone/>
                      </a:pPr>
                      <a:r>
                        <a:rPr lang="en-US" sz="1050" dirty="0">
                          <a:solidFill>
                            <a:srgbClr val="000000"/>
                          </a:solidFill>
                        </a:rPr>
                        <a:t>Construido desde textos extraídos del corpus</a:t>
                      </a:r>
                      <a:endParaRPr lang="en-US" sz="1050" dirty="0"/>
                    </a:p>
                    <a:p>
                      <a:pPr marL="0" indent="0" algn="l">
                        <a:buNone/>
                      </a:pPr>
                      <a:r>
                        <a:rPr lang="en-US" sz="1050" dirty="0">
                          <a:solidFill>
                            <a:srgbClr val="000000"/>
                          </a:solidFill>
                        </a:rPr>
                        <a:t>(CNMH, CEV, ONG) o con colectivos del Tribunal</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lgn="l">
                        <a:buNone/>
                      </a:pPr>
                      <a:r>
                        <a:rPr lang="en-US" sz="1050" dirty="0">
                          <a:solidFill>
                            <a:srgbClr val="000000"/>
                          </a:solidFill>
                        </a:rPr>
                        <a:t>Centroide CIDH</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l">
                        <a:buNone/>
                      </a:pPr>
                      <a:r>
                        <a:rPr lang="en-US" sz="1050" dirty="0">
                          <a:solidFill>
                            <a:srgbClr val="000000"/>
                          </a:solidFill>
                        </a:rPr>
                        <a:t>Jurisprudencia genérica</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l">
                        <a:buNone/>
                      </a:pPr>
                      <a:r>
                        <a:rPr lang="en-US" sz="1050" dirty="0">
                          <a:solidFill>
                            <a:srgbClr val="000000"/>
                          </a:solidFill>
                        </a:rPr>
                        <a:t>Específico: Mapiripán, Ituango,</a:t>
                      </a:r>
                      <a:endParaRPr lang="en-US" sz="1050" dirty="0"/>
                    </a:p>
                    <a:p>
                      <a:pPr marL="0" indent="0" algn="l">
                        <a:buNone/>
                      </a:pPr>
                      <a:r>
                        <a:rPr lang="en-US" sz="1050" dirty="0">
                          <a:solidFill>
                            <a:srgbClr val="000000"/>
                          </a:solidFill>
                        </a:rPr>
                        <a:t>19 Comerciantes, Valle Jaramillo…</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lgn="l">
                        <a:buNone/>
                      </a:pPr>
                      <a:r>
                        <a:rPr lang="en-US" sz="1050" dirty="0">
                          <a:solidFill>
                            <a:srgbClr val="000000"/>
                          </a:solidFill>
                        </a:rPr>
                        <a:t>Escenarios</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l">
                        <a:buNone/>
                      </a:pPr>
                      <a:r>
                        <a:rPr lang="en-US" sz="1050" dirty="0">
                          <a:solidFill>
                            <a:srgbClr val="000000"/>
                          </a:solidFill>
                        </a:rPr>
                        <a:t>Corpus único</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l">
                        <a:buNone/>
                      </a:pPr>
                      <a:r>
                        <a:rPr lang="en-US" sz="1050" dirty="0">
                          <a:solidFill>
                            <a:srgbClr val="000000"/>
                          </a:solidFill>
                        </a:rPr>
                        <a:t>A) Corpus extraído del texto</a:t>
                      </a:r>
                      <a:endParaRPr lang="en-US" sz="1050" dirty="0"/>
                    </a:p>
                    <a:p>
                      <a:pPr marL="0" indent="0" algn="l">
                        <a:buNone/>
                      </a:pPr>
                      <a:r>
                        <a:rPr lang="en-US" sz="1050" dirty="0">
                          <a:solidFill>
                            <a:srgbClr val="000000"/>
                          </a:solidFill>
                        </a:rPr>
                        <a:t>B) Con colectivos del Tribunal</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lgn="l">
                        <a:buNone/>
                      </a:pPr>
                      <a:r>
                        <a:rPr lang="en-US" sz="1050" dirty="0">
                          <a:solidFill>
                            <a:srgbClr val="000000"/>
                          </a:solidFill>
                        </a:rPr>
                        <a:t>Corpus referencia</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l">
                        <a:buNone/>
                      </a:pPr>
                      <a:r>
                        <a:rPr lang="en-US" sz="1050" dirty="0">
                          <a:solidFill>
                            <a:srgbClr val="000000"/>
                          </a:solidFill>
                        </a:rPr>
                        <a:t>25 testimonios MAFAPO</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l">
                        <a:buNone/>
                      </a:pPr>
                      <a:r>
                        <a:rPr lang="en-US" sz="1050" dirty="0">
                          <a:solidFill>
                            <a:srgbClr val="000000"/>
                          </a:solidFill>
                        </a:rPr>
                        <a:t>21+ documentos en 5 bloques temáticos</a:t>
                      </a:r>
                      <a:endParaRPr lang="en-US" sz="1050" dirty="0"/>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lIns="0" tIns="0" rIns="0" bIns="0" rtlCol="0" anchor="ctr"/>
          <a:lstStyle/>
          <a:p>
            <a:pPr marL="0" indent="0">
              <a:buNone/>
            </a:pPr>
            <a:r>
              <a:rPr lang="en-US" sz="2600" b="1" dirty="0">
                <a:solidFill>
                  <a:srgbClr val="1A2744"/>
                </a:solidFill>
              </a:rPr>
              <a:t>Dos escenarios de implementación</a:t>
            </a:r>
            <a:endParaRPr lang="en-US" sz="2600" dirty="0"/>
          </a:p>
        </p:txBody>
      </p:sp>
      <p:sp>
        <p:nvSpPr>
          <p:cNvPr id="3" name="Shape 1"/>
          <p:cNvSpPr/>
          <p:nvPr/>
        </p:nvSpPr>
        <p:spPr>
          <a:xfrm>
            <a:off x="457200" y="960120"/>
            <a:ext cx="3977640" cy="3749040"/>
          </a:xfrm>
          <a:prstGeom prst="roundRect">
            <a:avLst>
              <a:gd name="adj" fmla="val 3659"/>
            </a:avLst>
          </a:prstGeom>
          <a:solidFill>
            <a:srgbClr val="1A2744"/>
          </a:solidFill>
          <a:ln/>
          <a:effectLst>
            <a:outerShdw blurRad="101600" dist="38100" dir="2700000" algn="bl" rotWithShape="0">
              <a:srgbClr val="000000">
                <a:alpha val="12000"/>
              </a:srgbClr>
            </a:outerShdw>
          </a:effectLst>
        </p:spPr>
        <p:txBody>
          <a:bodyPr/>
          <a:lstStyle/>
          <a:p>
            <a:endParaRPr lang="es-CO"/>
          </a:p>
        </p:txBody>
      </p:sp>
      <p:sp>
        <p:nvSpPr>
          <p:cNvPr id="4" name="Text 2"/>
          <p:cNvSpPr/>
          <p:nvPr/>
        </p:nvSpPr>
        <p:spPr>
          <a:xfrm>
            <a:off x="548640" y="1051560"/>
            <a:ext cx="3794760" cy="365760"/>
          </a:xfrm>
          <a:prstGeom prst="rect">
            <a:avLst/>
          </a:prstGeom>
          <a:noFill/>
          <a:ln/>
        </p:spPr>
        <p:txBody>
          <a:bodyPr wrap="square" lIns="0" tIns="0" rIns="0" bIns="0" rtlCol="0" anchor="ctr"/>
          <a:lstStyle/>
          <a:p>
            <a:pPr marL="0" indent="0" algn="ctr">
              <a:buNone/>
            </a:pPr>
            <a:r>
              <a:rPr lang="en-US" sz="1100" b="1" kern="0" spc="200" dirty="0">
                <a:solidFill>
                  <a:srgbClr val="14A0A4"/>
                </a:solidFill>
              </a:rPr>
              <a:t>ESCENARIO A</a:t>
            </a:r>
            <a:endParaRPr lang="en-US" sz="1100" dirty="0"/>
          </a:p>
        </p:txBody>
      </p:sp>
      <p:sp>
        <p:nvSpPr>
          <p:cNvPr id="5" name="Text 3"/>
          <p:cNvSpPr/>
          <p:nvPr/>
        </p:nvSpPr>
        <p:spPr>
          <a:xfrm>
            <a:off x="548640" y="1417320"/>
            <a:ext cx="3794760" cy="640080"/>
          </a:xfrm>
          <a:prstGeom prst="rect">
            <a:avLst/>
          </a:prstGeom>
          <a:noFill/>
          <a:ln/>
        </p:spPr>
        <p:txBody>
          <a:bodyPr wrap="square" lIns="0" tIns="0" rIns="0" bIns="0" rtlCol="0" anchor="ctr"/>
          <a:lstStyle/>
          <a:p>
            <a:pPr marL="0" indent="0" algn="ctr">
              <a:buNone/>
            </a:pPr>
            <a:r>
              <a:rPr lang="en-US" sz="1700" b="1" dirty="0">
                <a:solidFill>
                  <a:srgbClr val="FFFFFF"/>
                </a:solidFill>
              </a:rPr>
              <a:t>Centroide desde</a:t>
            </a:r>
            <a:endParaRPr lang="en-US" sz="1700" dirty="0"/>
          </a:p>
          <a:p>
            <a:pPr marL="0" indent="0" algn="ctr">
              <a:buNone/>
            </a:pPr>
            <a:r>
              <a:rPr lang="en-US" sz="1700" b="1" dirty="0">
                <a:solidFill>
                  <a:srgbClr val="FFFFFF"/>
                </a:solidFill>
              </a:rPr>
              <a:t>textos del corpus</a:t>
            </a:r>
            <a:endParaRPr lang="en-US" sz="1700" dirty="0"/>
          </a:p>
        </p:txBody>
      </p:sp>
      <p:sp>
        <p:nvSpPr>
          <p:cNvPr id="6" name="Text 4"/>
          <p:cNvSpPr/>
          <p:nvPr/>
        </p:nvSpPr>
        <p:spPr>
          <a:xfrm>
            <a:off x="594360" y="2148840"/>
            <a:ext cx="3749040" cy="2377440"/>
          </a:xfrm>
          <a:prstGeom prst="rect">
            <a:avLst/>
          </a:prstGeom>
          <a:noFill/>
          <a:ln/>
        </p:spPr>
        <p:txBody>
          <a:bodyPr wrap="square" lIns="0" tIns="0" rIns="0" bIns="0" rtlCol="0" anchor="ctr"/>
          <a:lstStyle/>
          <a:p>
            <a:pPr marL="0" indent="0">
              <a:buNone/>
            </a:pPr>
            <a:r>
              <a:rPr lang="en-US" sz="1050" b="1" dirty="0">
                <a:solidFill>
                  <a:srgbClr val="E8ECF2"/>
                </a:solidFill>
              </a:rPr>
              <a:t>El centroide de víctimas se construye desde:
</a:t>
            </a:r>
            <a:endParaRPr lang="en-US" sz="1050" dirty="0"/>
          </a:p>
          <a:p>
            <a:pPr marL="0" indent="0">
              <a:buNone/>
            </a:pPr>
            <a:r>
              <a:rPr lang="en-US" sz="1050" dirty="0">
                <a:solidFill>
                  <a:srgbClr val="E8ECF2"/>
                </a:solidFill>
              </a:rPr>
              <a:t>• Fragmentos extraídos de CNMH, CEV,
  ONG nacionales e internacionales
</a:t>
            </a:r>
            <a:endParaRPr lang="en-US" sz="1050" dirty="0"/>
          </a:p>
          <a:p>
            <a:pPr marL="0" indent="0">
              <a:buNone/>
            </a:pPr>
            <a:r>
              <a:rPr lang="en-US" sz="1050" dirty="0">
                <a:solidFill>
                  <a:srgbClr val="E8ECF2"/>
                </a:solidFill>
              </a:rPr>
              <a:t>• Sentencias CIDH sobre paramilitarismo
</a:t>
            </a:r>
            <a:endParaRPr lang="en-US" sz="1050" dirty="0"/>
          </a:p>
          <a:p>
            <a:pPr marL="0" indent="0">
              <a:buNone/>
            </a:pPr>
            <a:r>
              <a:rPr lang="en-US" sz="1050" b="1" dirty="0">
                <a:solidFill>
                  <a:srgbClr val="E8ECF2"/>
                </a:solidFill>
              </a:rPr>
              <a:t>Ventaja: </a:t>
            </a:r>
            <a:r>
              <a:rPr lang="en-US" sz="1050" dirty="0">
                <a:solidFill>
                  <a:srgbClr val="E8ECF2"/>
                </a:solidFill>
              </a:rPr>
              <a:t>puede iniciarse de inmediato con el corpus ya disponible. No requiere acceso a testimonios reservados.</a:t>
            </a:r>
            <a:endParaRPr lang="en-US" sz="1050" dirty="0"/>
          </a:p>
        </p:txBody>
      </p:sp>
      <p:sp>
        <p:nvSpPr>
          <p:cNvPr id="7" name="Shape 5"/>
          <p:cNvSpPr/>
          <p:nvPr/>
        </p:nvSpPr>
        <p:spPr>
          <a:xfrm>
            <a:off x="4709160" y="960120"/>
            <a:ext cx="3977640" cy="3749040"/>
          </a:xfrm>
          <a:prstGeom prst="roundRect">
            <a:avLst>
              <a:gd name="adj" fmla="val 3659"/>
            </a:avLst>
          </a:prstGeom>
          <a:solidFill>
            <a:srgbClr val="FFFFFF"/>
          </a:solidFill>
          <a:ln/>
          <a:effectLst>
            <a:outerShdw blurRad="101600" dist="38100" dir="2700000" algn="bl" rotWithShape="0">
              <a:srgbClr val="000000">
                <a:alpha val="12000"/>
              </a:srgbClr>
            </a:outerShdw>
          </a:effectLst>
        </p:spPr>
        <p:txBody>
          <a:bodyPr/>
          <a:lstStyle/>
          <a:p>
            <a:endParaRPr lang="es-CO"/>
          </a:p>
        </p:txBody>
      </p:sp>
      <p:sp>
        <p:nvSpPr>
          <p:cNvPr id="8" name="Text 6"/>
          <p:cNvSpPr/>
          <p:nvPr/>
        </p:nvSpPr>
        <p:spPr>
          <a:xfrm>
            <a:off x="4800600" y="1051560"/>
            <a:ext cx="3794760" cy="365760"/>
          </a:xfrm>
          <a:prstGeom prst="rect">
            <a:avLst/>
          </a:prstGeom>
          <a:noFill/>
          <a:ln/>
        </p:spPr>
        <p:txBody>
          <a:bodyPr wrap="square" lIns="0" tIns="0" rIns="0" bIns="0" rtlCol="0" anchor="ctr"/>
          <a:lstStyle/>
          <a:p>
            <a:pPr marL="0" indent="0" algn="ctr">
              <a:buNone/>
            </a:pPr>
            <a:r>
              <a:rPr lang="en-US" sz="1100" b="1" kern="0" spc="200" dirty="0">
                <a:solidFill>
                  <a:srgbClr val="0D7377"/>
                </a:solidFill>
              </a:rPr>
              <a:t>ESCENARIO B</a:t>
            </a:r>
            <a:endParaRPr lang="en-US" sz="1100" dirty="0"/>
          </a:p>
        </p:txBody>
      </p:sp>
      <p:sp>
        <p:nvSpPr>
          <p:cNvPr id="9" name="Text 7"/>
          <p:cNvSpPr/>
          <p:nvPr/>
        </p:nvSpPr>
        <p:spPr>
          <a:xfrm>
            <a:off x="4800600" y="1417320"/>
            <a:ext cx="3794760" cy="640080"/>
          </a:xfrm>
          <a:prstGeom prst="rect">
            <a:avLst/>
          </a:prstGeom>
          <a:noFill/>
          <a:ln/>
        </p:spPr>
        <p:txBody>
          <a:bodyPr wrap="square" lIns="0" tIns="0" rIns="0" bIns="0" rtlCol="0" anchor="ctr"/>
          <a:lstStyle/>
          <a:p>
            <a:pPr marL="0" indent="0" algn="ctr">
              <a:buNone/>
            </a:pPr>
            <a:r>
              <a:rPr lang="en-US" sz="1700" b="1" dirty="0">
                <a:solidFill>
                  <a:srgbClr val="1A2744"/>
                </a:solidFill>
              </a:rPr>
              <a:t>Centroide con</a:t>
            </a:r>
            <a:endParaRPr lang="en-US" sz="1700" dirty="0"/>
          </a:p>
          <a:p>
            <a:pPr marL="0" indent="0" algn="ctr">
              <a:buNone/>
            </a:pPr>
            <a:r>
              <a:rPr lang="en-US" sz="1700" b="1" dirty="0">
                <a:solidFill>
                  <a:srgbClr val="1A2744"/>
                </a:solidFill>
              </a:rPr>
              <a:t>colectivos del Tribunal</a:t>
            </a:r>
            <a:endParaRPr lang="en-US" sz="1700" dirty="0"/>
          </a:p>
        </p:txBody>
      </p:sp>
      <p:sp>
        <p:nvSpPr>
          <p:cNvPr id="10" name="Text 8"/>
          <p:cNvSpPr/>
          <p:nvPr/>
        </p:nvSpPr>
        <p:spPr>
          <a:xfrm>
            <a:off x="4800600" y="2148840"/>
            <a:ext cx="3749040" cy="2377440"/>
          </a:xfrm>
          <a:prstGeom prst="rect">
            <a:avLst/>
          </a:prstGeom>
          <a:noFill/>
          <a:ln/>
        </p:spPr>
        <p:txBody>
          <a:bodyPr wrap="square" lIns="0" tIns="0" rIns="0" bIns="0" rtlCol="0" anchor="ctr"/>
          <a:lstStyle/>
          <a:p>
            <a:pPr marL="0" indent="0">
              <a:buNone/>
            </a:pPr>
            <a:r>
              <a:rPr lang="en-US" sz="1050" b="1" dirty="0">
                <a:solidFill>
                  <a:srgbClr val="1E293B"/>
                </a:solidFill>
              </a:rPr>
              <a:t>El centroide se construye junto con:
</a:t>
            </a:r>
            <a:endParaRPr lang="en-US" sz="1050" dirty="0"/>
          </a:p>
          <a:p>
            <a:pPr marL="0" indent="0">
              <a:buNone/>
            </a:pPr>
            <a:r>
              <a:rPr lang="en-US" sz="1050" dirty="0">
                <a:solidFill>
                  <a:srgbClr val="1E293B"/>
                </a:solidFill>
              </a:rPr>
              <a:t>• Organizaciones de víctimas del Tribunal
</a:t>
            </a:r>
            <a:endParaRPr lang="en-US" sz="1050" dirty="0"/>
          </a:p>
          <a:p>
            <a:pPr marL="0" indent="0">
              <a:buNone/>
            </a:pPr>
            <a:r>
              <a:rPr lang="en-US" sz="1050" dirty="0">
                <a:solidFill>
                  <a:srgbClr val="1E293B"/>
                </a:solidFill>
              </a:rPr>
              <a:t>• Corpus institucional disponible
</a:t>
            </a:r>
            <a:endParaRPr lang="en-US" sz="1050" dirty="0"/>
          </a:p>
          <a:p>
            <a:pPr marL="0" indent="0">
              <a:buNone/>
            </a:pPr>
            <a:r>
              <a:rPr lang="en-US" sz="1050" dirty="0">
                <a:solidFill>
                  <a:srgbClr val="1E293B"/>
                </a:solidFill>
              </a:rPr>
              <a:t>• Textos seleccionados por los colectivos
</a:t>
            </a:r>
            <a:endParaRPr lang="en-US" sz="1050" dirty="0"/>
          </a:p>
          <a:p>
            <a:pPr marL="0" indent="0">
              <a:buNone/>
            </a:pPr>
            <a:r>
              <a:rPr lang="en-US" sz="1050" b="1" dirty="0">
                <a:solidFill>
                  <a:srgbClr val="1A2744"/>
                </a:solidFill>
              </a:rPr>
              <a:t>Ventaja: </a:t>
            </a:r>
            <a:r>
              <a:rPr lang="en-US" sz="1050" dirty="0">
                <a:solidFill>
                  <a:srgbClr val="1E293B"/>
                </a:solidFill>
              </a:rPr>
              <a:t>centroide participativo — mayor legitimidad institucional y representatividad de las víctimas.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6400800" cy="502920"/>
          </a:xfrm>
          <a:prstGeom prst="rect">
            <a:avLst/>
          </a:prstGeom>
          <a:noFill/>
          <a:ln/>
        </p:spPr>
        <p:txBody>
          <a:bodyPr wrap="square" lIns="0" tIns="0" rIns="0" bIns="0" rtlCol="0" anchor="ctr"/>
          <a:lstStyle/>
          <a:p>
            <a:pPr marL="0" indent="0">
              <a:buNone/>
            </a:pPr>
            <a:r>
              <a:rPr lang="en-US" sz="2400" b="1" dirty="0">
                <a:solidFill>
                  <a:srgbClr val="1A2744"/>
                </a:solidFill>
              </a:rPr>
              <a:t>Corpus de referencia ya construido</a:t>
            </a:r>
            <a:endParaRPr lang="en-US" sz="2400" dirty="0"/>
          </a:p>
        </p:txBody>
      </p:sp>
      <p:sp>
        <p:nvSpPr>
          <p:cNvPr id="3" name="Text 1"/>
          <p:cNvSpPr/>
          <p:nvPr/>
        </p:nvSpPr>
        <p:spPr>
          <a:xfrm>
            <a:off x="548640" y="804672"/>
            <a:ext cx="4572000" cy="320040"/>
          </a:xfrm>
          <a:prstGeom prst="rect">
            <a:avLst/>
          </a:prstGeom>
          <a:noFill/>
          <a:ln/>
        </p:spPr>
        <p:txBody>
          <a:bodyPr wrap="square" lIns="0" tIns="0" rIns="0" bIns="0" rtlCol="0" anchor="ctr"/>
          <a:lstStyle/>
          <a:p>
            <a:pPr marL="0" indent="0">
              <a:buNone/>
            </a:pPr>
            <a:r>
              <a:rPr lang="en-US" sz="1300" dirty="0">
                <a:solidFill>
                  <a:srgbClr val="0D7377"/>
                </a:solidFill>
              </a:rPr>
              <a:t>21 documentos · 5 bloques temáticos</a:t>
            </a:r>
            <a:endParaRPr lang="en-US" sz="1300" dirty="0"/>
          </a:p>
        </p:txBody>
      </p:sp>
      <p:sp>
        <p:nvSpPr>
          <p:cNvPr id="4" name="Shape 2"/>
          <p:cNvSpPr/>
          <p:nvPr/>
        </p:nvSpPr>
        <p:spPr>
          <a:xfrm>
            <a:off x="457200" y="1280160"/>
            <a:ext cx="4251960" cy="1115568"/>
          </a:xfrm>
          <a:prstGeom prst="roundRect">
            <a:avLst>
              <a:gd name="adj" fmla="val 8197"/>
            </a:avLst>
          </a:prstGeom>
          <a:solidFill>
            <a:srgbClr val="F4F6F9"/>
          </a:solidFill>
          <a:ln/>
          <a:effectLst>
            <a:outerShdw blurRad="101600" dist="38100" dir="2700000" algn="bl" rotWithShape="0">
              <a:srgbClr val="000000">
                <a:alpha val="12000"/>
              </a:srgbClr>
            </a:outerShdw>
          </a:effectLst>
        </p:spPr>
        <p:txBody>
          <a:bodyPr/>
          <a:lstStyle/>
          <a:p>
            <a:endParaRPr lang="es-CO"/>
          </a:p>
        </p:txBody>
      </p:sp>
      <p:sp>
        <p:nvSpPr>
          <p:cNvPr id="5" name="Shape 3"/>
          <p:cNvSpPr/>
          <p:nvPr/>
        </p:nvSpPr>
        <p:spPr>
          <a:xfrm>
            <a:off x="530352" y="1353312"/>
            <a:ext cx="548640" cy="548640"/>
          </a:xfrm>
          <a:prstGeom prst="roundRect">
            <a:avLst>
              <a:gd name="adj" fmla="val 10000"/>
            </a:avLst>
          </a:prstGeom>
          <a:solidFill>
            <a:srgbClr val="1A2744"/>
          </a:solidFill>
          <a:ln w="12700">
            <a:solidFill>
              <a:srgbClr val="1A2744"/>
            </a:solidFill>
            <a:prstDash val="solid"/>
          </a:ln>
        </p:spPr>
        <p:txBody>
          <a:bodyPr/>
          <a:lstStyle/>
          <a:p>
            <a:endParaRPr lang="es-CO"/>
          </a:p>
        </p:txBody>
      </p:sp>
      <p:sp>
        <p:nvSpPr>
          <p:cNvPr id="6" name="Text 4"/>
          <p:cNvSpPr/>
          <p:nvPr/>
        </p:nvSpPr>
        <p:spPr>
          <a:xfrm>
            <a:off x="530352" y="1353312"/>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rPr>
              <a:t>B1</a:t>
            </a:r>
            <a:endParaRPr lang="en-US" sz="1300" dirty="0"/>
          </a:p>
        </p:txBody>
      </p:sp>
      <p:sp>
        <p:nvSpPr>
          <p:cNvPr id="7" name="Text 5"/>
          <p:cNvSpPr/>
          <p:nvPr/>
        </p:nvSpPr>
        <p:spPr>
          <a:xfrm>
            <a:off x="1170432" y="1371600"/>
            <a:ext cx="3383280" cy="274320"/>
          </a:xfrm>
          <a:prstGeom prst="rect">
            <a:avLst/>
          </a:prstGeom>
          <a:noFill/>
          <a:ln/>
        </p:spPr>
        <p:txBody>
          <a:bodyPr wrap="square" lIns="0" tIns="0" rIns="0" bIns="0" rtlCol="0" anchor="ctr"/>
          <a:lstStyle/>
          <a:p>
            <a:pPr marL="0" indent="0">
              <a:buNone/>
            </a:pPr>
            <a:r>
              <a:rPr lang="en-US" sz="1300" b="1" dirty="0">
                <a:solidFill>
                  <a:srgbClr val="1A2744"/>
                </a:solidFill>
              </a:rPr>
              <a:t>Corte IDH</a:t>
            </a:r>
            <a:endParaRPr lang="en-US" sz="1300" dirty="0"/>
          </a:p>
        </p:txBody>
      </p:sp>
      <p:sp>
        <p:nvSpPr>
          <p:cNvPr id="8" name="Text 6"/>
          <p:cNvSpPr/>
          <p:nvPr/>
        </p:nvSpPr>
        <p:spPr>
          <a:xfrm>
            <a:off x="1170432" y="1664208"/>
            <a:ext cx="3429000" cy="640080"/>
          </a:xfrm>
          <a:prstGeom prst="rect">
            <a:avLst/>
          </a:prstGeom>
          <a:noFill/>
          <a:ln/>
        </p:spPr>
        <p:txBody>
          <a:bodyPr wrap="square" lIns="0" tIns="0" rIns="0" bIns="0" rtlCol="0" anchor="ctr"/>
          <a:lstStyle/>
          <a:p>
            <a:pPr marL="0" indent="0">
              <a:buNone/>
            </a:pPr>
            <a:r>
              <a:rPr lang="en-US" sz="950" dirty="0">
                <a:solidFill>
                  <a:srgbClr val="64748B"/>
                </a:solidFill>
              </a:rPr>
              <a:t>5 sentencias Colombia</a:t>
            </a:r>
            <a:endParaRPr lang="en-US" sz="950" dirty="0"/>
          </a:p>
          <a:p>
            <a:pPr marL="0" indent="0">
              <a:buNone/>
            </a:pPr>
            <a:r>
              <a:rPr lang="en-US" sz="950" dirty="0">
                <a:solidFill>
                  <a:srgbClr val="64748B"/>
                </a:solidFill>
              </a:rPr>
              <a:t>(Mapiripán, Ituango, 19 Comerciantes,</a:t>
            </a:r>
            <a:endParaRPr lang="en-US" sz="950" dirty="0"/>
          </a:p>
          <a:p>
            <a:pPr marL="0" indent="0">
              <a:buNone/>
            </a:pPr>
            <a:r>
              <a:rPr lang="en-US" sz="950" dirty="0">
                <a:solidFill>
                  <a:srgbClr val="64748B"/>
                </a:solidFill>
              </a:rPr>
              <a:t>Valle Jaramillo, Vereda La Esperanza)</a:t>
            </a:r>
            <a:endParaRPr lang="en-US" sz="950" dirty="0"/>
          </a:p>
        </p:txBody>
      </p:sp>
      <p:sp>
        <p:nvSpPr>
          <p:cNvPr id="9" name="Shape 7"/>
          <p:cNvSpPr/>
          <p:nvPr/>
        </p:nvSpPr>
        <p:spPr>
          <a:xfrm>
            <a:off x="457200" y="2514600"/>
            <a:ext cx="4251960" cy="1115568"/>
          </a:xfrm>
          <a:prstGeom prst="roundRect">
            <a:avLst>
              <a:gd name="adj" fmla="val 8197"/>
            </a:avLst>
          </a:prstGeom>
          <a:solidFill>
            <a:srgbClr val="F4F6F9"/>
          </a:solidFill>
          <a:ln/>
          <a:effectLst>
            <a:outerShdw blurRad="101600" dist="38100" dir="2700000" algn="bl" rotWithShape="0">
              <a:srgbClr val="000000">
                <a:alpha val="12000"/>
              </a:srgbClr>
            </a:outerShdw>
          </a:effectLst>
        </p:spPr>
        <p:txBody>
          <a:bodyPr/>
          <a:lstStyle/>
          <a:p>
            <a:endParaRPr lang="es-CO"/>
          </a:p>
        </p:txBody>
      </p:sp>
      <p:sp>
        <p:nvSpPr>
          <p:cNvPr id="10" name="Shape 8"/>
          <p:cNvSpPr/>
          <p:nvPr/>
        </p:nvSpPr>
        <p:spPr>
          <a:xfrm>
            <a:off x="530352" y="2587752"/>
            <a:ext cx="548640" cy="548640"/>
          </a:xfrm>
          <a:prstGeom prst="roundRect">
            <a:avLst>
              <a:gd name="adj" fmla="val 10000"/>
            </a:avLst>
          </a:prstGeom>
          <a:solidFill>
            <a:srgbClr val="0D7377"/>
          </a:solidFill>
          <a:ln w="12700">
            <a:solidFill>
              <a:srgbClr val="0D7377"/>
            </a:solidFill>
            <a:prstDash val="solid"/>
          </a:ln>
        </p:spPr>
        <p:txBody>
          <a:bodyPr/>
          <a:lstStyle/>
          <a:p>
            <a:endParaRPr lang="es-CO"/>
          </a:p>
        </p:txBody>
      </p:sp>
      <p:sp>
        <p:nvSpPr>
          <p:cNvPr id="11" name="Text 9"/>
          <p:cNvSpPr/>
          <p:nvPr/>
        </p:nvSpPr>
        <p:spPr>
          <a:xfrm>
            <a:off x="530352" y="2587752"/>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rPr>
              <a:t>B2</a:t>
            </a:r>
            <a:endParaRPr lang="en-US" sz="1300" dirty="0"/>
          </a:p>
        </p:txBody>
      </p:sp>
      <p:sp>
        <p:nvSpPr>
          <p:cNvPr id="12" name="Text 10"/>
          <p:cNvSpPr/>
          <p:nvPr/>
        </p:nvSpPr>
        <p:spPr>
          <a:xfrm>
            <a:off x="1170432" y="2606040"/>
            <a:ext cx="3383280" cy="274320"/>
          </a:xfrm>
          <a:prstGeom prst="rect">
            <a:avLst/>
          </a:prstGeom>
          <a:noFill/>
          <a:ln/>
        </p:spPr>
        <p:txBody>
          <a:bodyPr wrap="square" lIns="0" tIns="0" rIns="0" bIns="0" rtlCol="0" anchor="ctr"/>
          <a:lstStyle/>
          <a:p>
            <a:pPr marL="0" indent="0">
              <a:buNone/>
            </a:pPr>
            <a:r>
              <a:rPr lang="en-US" sz="1300" b="1" dirty="0">
                <a:solidFill>
                  <a:srgbClr val="0D7377"/>
                </a:solidFill>
              </a:rPr>
              <a:t>CNMH / CEV</a:t>
            </a:r>
            <a:endParaRPr lang="en-US" sz="1300" dirty="0"/>
          </a:p>
        </p:txBody>
      </p:sp>
      <p:sp>
        <p:nvSpPr>
          <p:cNvPr id="13" name="Text 11"/>
          <p:cNvSpPr/>
          <p:nvPr/>
        </p:nvSpPr>
        <p:spPr>
          <a:xfrm>
            <a:off x="1170432" y="2898648"/>
            <a:ext cx="3429000" cy="640080"/>
          </a:xfrm>
          <a:prstGeom prst="rect">
            <a:avLst/>
          </a:prstGeom>
          <a:noFill/>
          <a:ln/>
        </p:spPr>
        <p:txBody>
          <a:bodyPr wrap="square" lIns="0" tIns="0" rIns="0" bIns="0" rtlCol="0" anchor="ctr"/>
          <a:lstStyle/>
          <a:p>
            <a:pPr marL="0" indent="0">
              <a:buNone/>
            </a:pPr>
            <a:r>
              <a:rPr lang="en-US" sz="950" dirty="0">
                <a:solidFill>
                  <a:srgbClr val="64748B"/>
                </a:solidFill>
              </a:rPr>
              <a:t>6 informes</a:t>
            </a:r>
            <a:endParaRPr lang="en-US" sz="950" dirty="0"/>
          </a:p>
          <a:p>
            <a:pPr marL="0" indent="0">
              <a:buNone/>
            </a:pPr>
            <a:r>
              <a:rPr lang="en-US" sz="950" dirty="0">
                <a:solidFill>
                  <a:srgbClr val="64748B"/>
                </a:solidFill>
              </a:rPr>
              <a:t>(Bojayá, Basta Ya, El Salado,</a:t>
            </a:r>
            <a:endParaRPr lang="en-US" sz="950" dirty="0"/>
          </a:p>
          <a:p>
            <a:pPr marL="0" indent="0">
              <a:buNone/>
            </a:pPr>
            <a:r>
              <a:rPr lang="en-US" sz="950" dirty="0">
                <a:solidFill>
                  <a:srgbClr val="64748B"/>
                </a:solidFill>
              </a:rPr>
              <a:t>Hallazgos 2022, AUC, Guerra Límites)</a:t>
            </a:r>
            <a:endParaRPr lang="en-US" sz="950" dirty="0"/>
          </a:p>
        </p:txBody>
      </p:sp>
      <p:sp>
        <p:nvSpPr>
          <p:cNvPr id="14" name="Shape 12"/>
          <p:cNvSpPr/>
          <p:nvPr/>
        </p:nvSpPr>
        <p:spPr>
          <a:xfrm>
            <a:off x="457200" y="3749040"/>
            <a:ext cx="4251960" cy="1115568"/>
          </a:xfrm>
          <a:prstGeom prst="roundRect">
            <a:avLst>
              <a:gd name="adj" fmla="val 8197"/>
            </a:avLst>
          </a:prstGeom>
          <a:solidFill>
            <a:srgbClr val="F4F6F9"/>
          </a:solidFill>
          <a:ln/>
          <a:effectLst>
            <a:outerShdw blurRad="101600" dist="38100" dir="2700000" algn="bl" rotWithShape="0">
              <a:srgbClr val="000000">
                <a:alpha val="12000"/>
              </a:srgbClr>
            </a:outerShdw>
          </a:effectLst>
        </p:spPr>
        <p:txBody>
          <a:bodyPr/>
          <a:lstStyle/>
          <a:p>
            <a:endParaRPr lang="es-CO"/>
          </a:p>
        </p:txBody>
      </p:sp>
      <p:sp>
        <p:nvSpPr>
          <p:cNvPr id="15" name="Shape 13"/>
          <p:cNvSpPr/>
          <p:nvPr/>
        </p:nvSpPr>
        <p:spPr>
          <a:xfrm>
            <a:off x="530352" y="3822192"/>
            <a:ext cx="548640" cy="548640"/>
          </a:xfrm>
          <a:prstGeom prst="roundRect">
            <a:avLst>
              <a:gd name="adj" fmla="val 10000"/>
            </a:avLst>
          </a:prstGeom>
          <a:solidFill>
            <a:srgbClr val="2D6A4F"/>
          </a:solidFill>
          <a:ln w="12700">
            <a:solidFill>
              <a:srgbClr val="2D6A4F"/>
            </a:solidFill>
            <a:prstDash val="solid"/>
          </a:ln>
        </p:spPr>
        <p:txBody>
          <a:bodyPr/>
          <a:lstStyle/>
          <a:p>
            <a:endParaRPr lang="es-CO"/>
          </a:p>
        </p:txBody>
      </p:sp>
      <p:sp>
        <p:nvSpPr>
          <p:cNvPr id="16" name="Text 14"/>
          <p:cNvSpPr/>
          <p:nvPr/>
        </p:nvSpPr>
        <p:spPr>
          <a:xfrm>
            <a:off x="530352" y="3822192"/>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rPr>
              <a:t>B3</a:t>
            </a:r>
            <a:endParaRPr lang="en-US" sz="1300" dirty="0"/>
          </a:p>
        </p:txBody>
      </p:sp>
      <p:sp>
        <p:nvSpPr>
          <p:cNvPr id="17" name="Text 15"/>
          <p:cNvSpPr/>
          <p:nvPr/>
        </p:nvSpPr>
        <p:spPr>
          <a:xfrm>
            <a:off x="1170432" y="3840480"/>
            <a:ext cx="3383280" cy="274320"/>
          </a:xfrm>
          <a:prstGeom prst="rect">
            <a:avLst/>
          </a:prstGeom>
          <a:noFill/>
          <a:ln/>
        </p:spPr>
        <p:txBody>
          <a:bodyPr wrap="square" lIns="0" tIns="0" rIns="0" bIns="0" rtlCol="0" anchor="ctr"/>
          <a:lstStyle/>
          <a:p>
            <a:pPr marL="0" indent="0">
              <a:buNone/>
            </a:pPr>
            <a:r>
              <a:rPr lang="en-US" sz="1300" b="1" dirty="0">
                <a:solidFill>
                  <a:srgbClr val="2D6A4F"/>
                </a:solidFill>
              </a:rPr>
              <a:t>ONG nacionales</a:t>
            </a:r>
            <a:endParaRPr lang="en-US" sz="1300" dirty="0"/>
          </a:p>
        </p:txBody>
      </p:sp>
      <p:sp>
        <p:nvSpPr>
          <p:cNvPr id="18" name="Text 16"/>
          <p:cNvSpPr/>
          <p:nvPr/>
        </p:nvSpPr>
        <p:spPr>
          <a:xfrm>
            <a:off x="1170432" y="4133088"/>
            <a:ext cx="3429000" cy="640080"/>
          </a:xfrm>
          <a:prstGeom prst="rect">
            <a:avLst/>
          </a:prstGeom>
          <a:noFill/>
          <a:ln/>
        </p:spPr>
        <p:txBody>
          <a:bodyPr wrap="square" lIns="0" tIns="0" rIns="0" bIns="0" rtlCol="0" anchor="ctr"/>
          <a:lstStyle/>
          <a:p>
            <a:pPr marL="0" indent="0">
              <a:buNone/>
            </a:pPr>
            <a:r>
              <a:rPr lang="en-US" sz="950" dirty="0">
                <a:solidFill>
                  <a:srgbClr val="64748B"/>
                </a:solidFill>
              </a:rPr>
              <a:t>5 documentos</a:t>
            </a:r>
            <a:endParaRPr lang="en-US" sz="950" dirty="0"/>
          </a:p>
          <a:p>
            <a:pPr marL="0" indent="0">
              <a:buNone/>
            </a:pPr>
            <a:r>
              <a:rPr lang="en-US" sz="950" dirty="0">
                <a:solidFill>
                  <a:srgbClr val="64748B"/>
                </a:solidFill>
              </a:rPr>
              <a:t>(DeJusticia ×2, CODHES,</a:t>
            </a:r>
            <a:endParaRPr lang="en-US" sz="950" dirty="0"/>
          </a:p>
          <a:p>
            <a:pPr marL="0" indent="0">
              <a:buNone/>
            </a:pPr>
            <a:r>
              <a:rPr lang="en-US" sz="950" dirty="0">
                <a:solidFill>
                  <a:srgbClr val="64748B"/>
                </a:solidFill>
              </a:rPr>
              <a:t>CINEP ×2)</a:t>
            </a:r>
            <a:endParaRPr lang="en-US" sz="950" dirty="0"/>
          </a:p>
        </p:txBody>
      </p:sp>
      <p:sp>
        <p:nvSpPr>
          <p:cNvPr id="19" name="Shape 17"/>
          <p:cNvSpPr/>
          <p:nvPr/>
        </p:nvSpPr>
        <p:spPr>
          <a:xfrm>
            <a:off x="4892040" y="1280160"/>
            <a:ext cx="4251960" cy="1115568"/>
          </a:xfrm>
          <a:prstGeom prst="roundRect">
            <a:avLst>
              <a:gd name="adj" fmla="val 8197"/>
            </a:avLst>
          </a:prstGeom>
          <a:solidFill>
            <a:srgbClr val="F4F6F9"/>
          </a:solidFill>
          <a:ln/>
          <a:effectLst>
            <a:outerShdw blurRad="101600" dist="38100" dir="2700000" algn="bl" rotWithShape="0">
              <a:srgbClr val="000000">
                <a:alpha val="12000"/>
              </a:srgbClr>
            </a:outerShdw>
          </a:effectLst>
        </p:spPr>
        <p:txBody>
          <a:bodyPr/>
          <a:lstStyle/>
          <a:p>
            <a:endParaRPr lang="es-CO"/>
          </a:p>
        </p:txBody>
      </p:sp>
      <p:sp>
        <p:nvSpPr>
          <p:cNvPr id="20" name="Shape 18"/>
          <p:cNvSpPr/>
          <p:nvPr/>
        </p:nvSpPr>
        <p:spPr>
          <a:xfrm>
            <a:off x="4965192" y="1353312"/>
            <a:ext cx="548640" cy="548640"/>
          </a:xfrm>
          <a:prstGeom prst="roundRect">
            <a:avLst>
              <a:gd name="adj" fmla="val 10000"/>
            </a:avLst>
          </a:prstGeom>
          <a:solidFill>
            <a:srgbClr val="5C4033"/>
          </a:solidFill>
          <a:ln w="12700">
            <a:solidFill>
              <a:srgbClr val="5C4033"/>
            </a:solidFill>
            <a:prstDash val="solid"/>
          </a:ln>
        </p:spPr>
        <p:txBody>
          <a:bodyPr/>
          <a:lstStyle/>
          <a:p>
            <a:endParaRPr lang="es-CO"/>
          </a:p>
        </p:txBody>
      </p:sp>
      <p:sp>
        <p:nvSpPr>
          <p:cNvPr id="21" name="Text 19"/>
          <p:cNvSpPr/>
          <p:nvPr/>
        </p:nvSpPr>
        <p:spPr>
          <a:xfrm>
            <a:off x="4965192" y="1353312"/>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rPr>
              <a:t>B4</a:t>
            </a:r>
            <a:endParaRPr lang="en-US" sz="1300" dirty="0"/>
          </a:p>
        </p:txBody>
      </p:sp>
      <p:sp>
        <p:nvSpPr>
          <p:cNvPr id="22" name="Text 20"/>
          <p:cNvSpPr/>
          <p:nvPr/>
        </p:nvSpPr>
        <p:spPr>
          <a:xfrm>
            <a:off x="5605272" y="1371600"/>
            <a:ext cx="3383280" cy="274320"/>
          </a:xfrm>
          <a:prstGeom prst="rect">
            <a:avLst/>
          </a:prstGeom>
          <a:noFill/>
          <a:ln/>
        </p:spPr>
        <p:txBody>
          <a:bodyPr wrap="square" lIns="0" tIns="0" rIns="0" bIns="0" rtlCol="0" anchor="ctr"/>
          <a:lstStyle/>
          <a:p>
            <a:pPr marL="0" indent="0">
              <a:buNone/>
            </a:pPr>
            <a:r>
              <a:rPr lang="en-US" sz="1300" b="1" dirty="0">
                <a:solidFill>
                  <a:srgbClr val="5C4033"/>
                </a:solidFill>
              </a:rPr>
              <a:t>ONG internacionales</a:t>
            </a:r>
            <a:endParaRPr lang="en-US" sz="1300" dirty="0"/>
          </a:p>
        </p:txBody>
      </p:sp>
      <p:sp>
        <p:nvSpPr>
          <p:cNvPr id="23" name="Text 21"/>
          <p:cNvSpPr/>
          <p:nvPr/>
        </p:nvSpPr>
        <p:spPr>
          <a:xfrm>
            <a:off x="5605272" y="1664208"/>
            <a:ext cx="3429000" cy="640080"/>
          </a:xfrm>
          <a:prstGeom prst="rect">
            <a:avLst/>
          </a:prstGeom>
          <a:noFill/>
          <a:ln/>
        </p:spPr>
        <p:txBody>
          <a:bodyPr wrap="square" lIns="0" tIns="0" rIns="0" bIns="0" rtlCol="0" anchor="ctr"/>
          <a:lstStyle/>
          <a:p>
            <a:pPr marL="0" indent="0">
              <a:buNone/>
            </a:pPr>
            <a:r>
              <a:rPr lang="en-US" sz="950" dirty="0">
                <a:solidFill>
                  <a:srgbClr val="64748B"/>
                </a:solidFill>
              </a:rPr>
              <a:t>5 documentos</a:t>
            </a:r>
            <a:endParaRPr lang="en-US" sz="950" dirty="0"/>
          </a:p>
          <a:p>
            <a:pPr marL="0" indent="0">
              <a:buNone/>
            </a:pPr>
            <a:r>
              <a:rPr lang="en-US" sz="950" dirty="0">
                <a:solidFill>
                  <a:srgbClr val="64748B"/>
                </a:solidFill>
              </a:rPr>
              <a:t>(HRW ×2, Amnistía,</a:t>
            </a:r>
            <a:endParaRPr lang="en-US" sz="950" dirty="0"/>
          </a:p>
          <a:p>
            <a:pPr marL="0" indent="0">
              <a:buNone/>
            </a:pPr>
            <a:r>
              <a:rPr lang="en-US" sz="950" dirty="0">
                <a:solidFill>
                  <a:srgbClr val="64748B"/>
                </a:solidFill>
              </a:rPr>
              <a:t>ICTJ, OHCHR 2023)</a:t>
            </a:r>
            <a:endParaRPr lang="en-US" sz="950" dirty="0"/>
          </a:p>
        </p:txBody>
      </p:sp>
      <p:sp>
        <p:nvSpPr>
          <p:cNvPr id="24" name="Shape 22"/>
          <p:cNvSpPr/>
          <p:nvPr/>
        </p:nvSpPr>
        <p:spPr>
          <a:xfrm>
            <a:off x="4892040" y="2514600"/>
            <a:ext cx="4251960" cy="1115568"/>
          </a:xfrm>
          <a:prstGeom prst="roundRect">
            <a:avLst>
              <a:gd name="adj" fmla="val 8197"/>
            </a:avLst>
          </a:prstGeom>
          <a:solidFill>
            <a:srgbClr val="F4F6F9"/>
          </a:solidFill>
          <a:ln/>
          <a:effectLst>
            <a:outerShdw blurRad="101600" dist="38100" dir="2700000" algn="bl" rotWithShape="0">
              <a:srgbClr val="000000">
                <a:alpha val="12000"/>
              </a:srgbClr>
            </a:outerShdw>
          </a:effectLst>
        </p:spPr>
        <p:txBody>
          <a:bodyPr/>
          <a:lstStyle/>
          <a:p>
            <a:endParaRPr lang="es-CO"/>
          </a:p>
        </p:txBody>
      </p:sp>
      <p:sp>
        <p:nvSpPr>
          <p:cNvPr id="25" name="Shape 23"/>
          <p:cNvSpPr/>
          <p:nvPr/>
        </p:nvSpPr>
        <p:spPr>
          <a:xfrm>
            <a:off x="4965192" y="2587752"/>
            <a:ext cx="548640" cy="548640"/>
          </a:xfrm>
          <a:prstGeom prst="roundRect">
            <a:avLst>
              <a:gd name="adj" fmla="val 10000"/>
            </a:avLst>
          </a:prstGeom>
          <a:solidFill>
            <a:srgbClr val="C9A84C"/>
          </a:solidFill>
          <a:ln w="12700">
            <a:solidFill>
              <a:srgbClr val="C9A84C"/>
            </a:solidFill>
            <a:prstDash val="solid"/>
          </a:ln>
        </p:spPr>
        <p:txBody>
          <a:bodyPr/>
          <a:lstStyle/>
          <a:p>
            <a:endParaRPr lang="es-CO"/>
          </a:p>
        </p:txBody>
      </p:sp>
      <p:sp>
        <p:nvSpPr>
          <p:cNvPr id="26" name="Text 24"/>
          <p:cNvSpPr/>
          <p:nvPr/>
        </p:nvSpPr>
        <p:spPr>
          <a:xfrm>
            <a:off x="4965192" y="2587752"/>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rPr>
              <a:t>B5</a:t>
            </a:r>
            <a:endParaRPr lang="en-US" sz="1300" dirty="0"/>
          </a:p>
        </p:txBody>
      </p:sp>
      <p:sp>
        <p:nvSpPr>
          <p:cNvPr id="27" name="Text 25"/>
          <p:cNvSpPr/>
          <p:nvPr/>
        </p:nvSpPr>
        <p:spPr>
          <a:xfrm>
            <a:off x="5605272" y="2606040"/>
            <a:ext cx="3383280" cy="274320"/>
          </a:xfrm>
          <a:prstGeom prst="rect">
            <a:avLst/>
          </a:prstGeom>
          <a:noFill/>
          <a:ln/>
        </p:spPr>
        <p:txBody>
          <a:bodyPr wrap="square" lIns="0" tIns="0" rIns="0" bIns="0" rtlCol="0" anchor="ctr"/>
          <a:lstStyle/>
          <a:p>
            <a:pPr marL="0" indent="0">
              <a:buNone/>
            </a:pPr>
            <a:r>
              <a:rPr lang="en-US" sz="1300" b="1" dirty="0">
                <a:solidFill>
                  <a:srgbClr val="C9A84C"/>
                </a:solidFill>
              </a:rPr>
              <a:t>Instituciones</a:t>
            </a:r>
            <a:endParaRPr lang="en-US" sz="1300" dirty="0"/>
          </a:p>
        </p:txBody>
      </p:sp>
      <p:sp>
        <p:nvSpPr>
          <p:cNvPr id="28" name="Text 26"/>
          <p:cNvSpPr/>
          <p:nvPr/>
        </p:nvSpPr>
        <p:spPr>
          <a:xfrm>
            <a:off x="5605272" y="2898648"/>
            <a:ext cx="3429000" cy="640080"/>
          </a:xfrm>
          <a:prstGeom prst="rect">
            <a:avLst/>
          </a:prstGeom>
          <a:noFill/>
          <a:ln/>
        </p:spPr>
        <p:txBody>
          <a:bodyPr wrap="square" lIns="0" tIns="0" rIns="0" bIns="0" rtlCol="0" anchor="ctr"/>
          <a:lstStyle/>
          <a:p>
            <a:pPr marL="0" indent="0">
              <a:buNone/>
            </a:pPr>
            <a:r>
              <a:rPr lang="en-US" sz="950" dirty="0">
                <a:solidFill>
                  <a:srgbClr val="64748B"/>
                </a:solidFill>
              </a:rPr>
              <a:t>3 documentos</a:t>
            </a:r>
            <a:endParaRPr lang="en-US" sz="950" dirty="0"/>
          </a:p>
          <a:p>
            <a:pPr marL="0" indent="0">
              <a:buNone/>
            </a:pPr>
            <a:r>
              <a:rPr lang="en-US" sz="950" dirty="0">
                <a:solidFill>
                  <a:srgbClr val="64748B"/>
                </a:solidFill>
              </a:rPr>
              <a:t>(Fiscalía/Giraldo, Tribunal/Jorge 40,</a:t>
            </a:r>
            <a:endParaRPr lang="en-US" sz="950" dirty="0"/>
          </a:p>
          <a:p>
            <a:pPr marL="0" indent="0">
              <a:buNone/>
            </a:pPr>
            <a:r>
              <a:rPr lang="en-US" sz="950" dirty="0">
                <a:solidFill>
                  <a:srgbClr val="64748B"/>
                </a:solidFill>
              </a:rPr>
              <a:t>Comisión Seguimiento Ley 1448)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marL="0" indent="0">
              <a:buNone/>
            </a:pPr>
            <a:r>
              <a:rPr lang="en-US" sz="2300" b="1" dirty="0">
                <a:solidFill>
                  <a:srgbClr val="FFFFFF"/>
                </a:solidFill>
              </a:rPr>
              <a:t>04  ·  Propuesta de colaboración técnica académica</a:t>
            </a:r>
            <a:endParaRPr lang="en-US" sz="2300" dirty="0"/>
          </a:p>
        </p:txBody>
      </p:sp>
      <p:sp>
        <p:nvSpPr>
          <p:cNvPr id="3" name="Shape 1"/>
          <p:cNvSpPr/>
          <p:nvPr/>
        </p:nvSpPr>
        <p:spPr>
          <a:xfrm>
            <a:off x="457200" y="868680"/>
            <a:ext cx="8229600" cy="502920"/>
          </a:xfrm>
          <a:prstGeom prst="roundRect">
            <a:avLst>
              <a:gd name="adj" fmla="val 14545"/>
            </a:avLst>
          </a:prstGeom>
          <a:solidFill>
            <a:srgbClr val="253352"/>
          </a:solidFill>
          <a:ln/>
        </p:spPr>
        <p:txBody>
          <a:bodyPr/>
          <a:lstStyle/>
          <a:p>
            <a:endParaRPr lang="es-CO"/>
          </a:p>
        </p:txBody>
      </p:sp>
      <p:sp>
        <p:nvSpPr>
          <p:cNvPr id="4" name="Text 2"/>
          <p:cNvSpPr/>
          <p:nvPr/>
        </p:nvSpPr>
        <p:spPr>
          <a:xfrm>
            <a:off x="594360" y="905256"/>
            <a:ext cx="7863840" cy="411480"/>
          </a:xfrm>
          <a:prstGeom prst="rect">
            <a:avLst/>
          </a:prstGeom>
          <a:noFill/>
          <a:ln/>
        </p:spPr>
        <p:txBody>
          <a:bodyPr wrap="square" lIns="0" tIns="0" rIns="0" bIns="0" rtlCol="0" anchor="ctr"/>
          <a:lstStyle/>
          <a:p>
            <a:pPr marL="0" indent="0">
              <a:buNone/>
            </a:pPr>
            <a:r>
              <a:rPr lang="en-US" sz="1050" i="1" dirty="0">
                <a:solidFill>
                  <a:srgbClr val="B8C8E0"/>
                </a:solidFill>
              </a:rPr>
              <a:t>Este ejercicio se enmarca como colaboración técnica académica — no como consultoría — para preservar la independencia de las partes y la integridad metodológica.</a:t>
            </a:r>
            <a:endParaRPr lang="en-US" sz="1050" dirty="0"/>
          </a:p>
        </p:txBody>
      </p:sp>
      <p:sp>
        <p:nvSpPr>
          <p:cNvPr id="5" name="Shape 3"/>
          <p:cNvSpPr/>
          <p:nvPr/>
        </p:nvSpPr>
        <p:spPr>
          <a:xfrm>
            <a:off x="457200" y="1508760"/>
            <a:ext cx="8229600" cy="1005840"/>
          </a:xfrm>
          <a:prstGeom prst="roundRect">
            <a:avLst>
              <a:gd name="adj" fmla="val 9091"/>
            </a:avLst>
          </a:prstGeom>
          <a:solidFill>
            <a:srgbClr val="253352"/>
          </a:solidFill>
          <a:ln/>
          <a:effectLst>
            <a:outerShdw blurRad="101600" dist="38100" dir="2700000" algn="bl" rotWithShape="0">
              <a:srgbClr val="000000">
                <a:alpha val="12000"/>
              </a:srgbClr>
            </a:outerShdw>
          </a:effectLst>
        </p:spPr>
        <p:txBody>
          <a:bodyPr/>
          <a:lstStyle/>
          <a:p>
            <a:endParaRPr lang="es-CO"/>
          </a:p>
        </p:txBody>
      </p:sp>
      <p:sp>
        <p:nvSpPr>
          <p:cNvPr id="6" name="Shape 4"/>
          <p:cNvSpPr/>
          <p:nvPr/>
        </p:nvSpPr>
        <p:spPr>
          <a:xfrm>
            <a:off x="594360" y="1572768"/>
            <a:ext cx="548640" cy="548640"/>
          </a:xfrm>
          <a:prstGeom prst="ellipse">
            <a:avLst/>
          </a:prstGeom>
          <a:solidFill>
            <a:srgbClr val="0D7377"/>
          </a:solidFill>
          <a:ln w="12700">
            <a:solidFill>
              <a:srgbClr val="0D7377"/>
            </a:solidFill>
            <a:prstDash val="solid"/>
          </a:ln>
        </p:spPr>
        <p:txBody>
          <a:bodyPr/>
          <a:lstStyle/>
          <a:p>
            <a:endParaRPr lang="es-CO"/>
          </a:p>
        </p:txBody>
      </p:sp>
      <p:sp>
        <p:nvSpPr>
          <p:cNvPr id="7" name="Text 5"/>
          <p:cNvSpPr/>
          <p:nvPr/>
        </p:nvSpPr>
        <p:spPr>
          <a:xfrm>
            <a:off x="594360" y="157276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8" name="Text 6"/>
          <p:cNvSpPr/>
          <p:nvPr/>
        </p:nvSpPr>
        <p:spPr>
          <a:xfrm>
            <a:off x="1280160" y="1545336"/>
            <a:ext cx="5669280" cy="292608"/>
          </a:xfrm>
          <a:prstGeom prst="rect">
            <a:avLst/>
          </a:prstGeom>
          <a:noFill/>
          <a:ln/>
        </p:spPr>
        <p:txBody>
          <a:bodyPr wrap="square" lIns="0" tIns="0" rIns="0" bIns="0" rtlCol="0" anchor="ctr"/>
          <a:lstStyle/>
          <a:p>
            <a:pPr marL="0" indent="0">
              <a:buNone/>
            </a:pPr>
            <a:r>
              <a:rPr lang="en-US" sz="1300" b="1" dirty="0">
                <a:solidFill>
                  <a:srgbClr val="FFFFFF"/>
                </a:solidFill>
              </a:rPr>
              <a:t>Fase 1 — Análisis con corpus disponible</a:t>
            </a:r>
            <a:endParaRPr lang="en-US" sz="1300" dirty="0"/>
          </a:p>
        </p:txBody>
      </p:sp>
      <p:sp>
        <p:nvSpPr>
          <p:cNvPr id="9" name="Text 7"/>
          <p:cNvSpPr/>
          <p:nvPr/>
        </p:nvSpPr>
        <p:spPr>
          <a:xfrm>
            <a:off x="1280160" y="1847088"/>
            <a:ext cx="5669280" cy="502920"/>
          </a:xfrm>
          <a:prstGeom prst="rect">
            <a:avLst/>
          </a:prstGeom>
          <a:noFill/>
          <a:ln/>
        </p:spPr>
        <p:txBody>
          <a:bodyPr wrap="square" lIns="0" tIns="0" rIns="0" bIns="0" rtlCol="0" anchor="ctr"/>
          <a:lstStyle/>
          <a:p>
            <a:pPr marL="0" indent="0">
              <a:buNone/>
            </a:pPr>
            <a:r>
              <a:rPr lang="en-US" sz="1000" dirty="0">
                <a:solidFill>
                  <a:srgbClr val="B8C8E0"/>
                </a:solidFill>
              </a:rPr>
              <a:t>Construcción del centroide JP (Escenario A) · Cálculo de DIS e IEI sobre sentencias disponibles · Informe técnico de hallazgos preliminares</a:t>
            </a:r>
            <a:endParaRPr lang="en-US" sz="1000" dirty="0"/>
          </a:p>
        </p:txBody>
      </p:sp>
      <p:sp>
        <p:nvSpPr>
          <p:cNvPr id="10" name="Shape 8"/>
          <p:cNvSpPr/>
          <p:nvPr/>
        </p:nvSpPr>
        <p:spPr>
          <a:xfrm>
            <a:off x="7178040" y="1572768"/>
            <a:ext cx="1371600" cy="640080"/>
          </a:xfrm>
          <a:prstGeom prst="roundRect">
            <a:avLst>
              <a:gd name="adj" fmla="val 11429"/>
            </a:avLst>
          </a:prstGeom>
          <a:solidFill>
            <a:srgbClr val="0D7377"/>
          </a:solidFill>
          <a:ln w="12700">
            <a:solidFill>
              <a:srgbClr val="0D7377"/>
            </a:solidFill>
            <a:prstDash val="solid"/>
          </a:ln>
        </p:spPr>
        <p:txBody>
          <a:bodyPr/>
          <a:lstStyle/>
          <a:p>
            <a:endParaRPr lang="es-CO"/>
          </a:p>
        </p:txBody>
      </p:sp>
      <p:sp>
        <p:nvSpPr>
          <p:cNvPr id="11" name="Text 9"/>
          <p:cNvSpPr/>
          <p:nvPr/>
        </p:nvSpPr>
        <p:spPr>
          <a:xfrm>
            <a:off x="7178040" y="1572768"/>
            <a:ext cx="1371600" cy="640080"/>
          </a:xfrm>
          <a:prstGeom prst="rect">
            <a:avLst/>
          </a:prstGeom>
          <a:noFill/>
          <a:ln/>
        </p:spPr>
        <p:txBody>
          <a:bodyPr wrap="square" lIns="0" tIns="0" rIns="0" bIns="0" rtlCol="0" anchor="ctr"/>
          <a:lstStyle/>
          <a:p>
            <a:pPr marL="0" indent="0" algn="ctr">
              <a:buNone/>
            </a:pPr>
            <a:r>
              <a:rPr lang="en-US" sz="1000" b="1" dirty="0">
                <a:solidFill>
                  <a:srgbClr val="FFFFFF"/>
                </a:solidFill>
              </a:rPr>
              <a:t>2-3</a:t>
            </a:r>
            <a:endParaRPr lang="en-US" sz="1000" dirty="0"/>
          </a:p>
          <a:p>
            <a:pPr marL="0" indent="0" algn="ctr">
              <a:buNone/>
            </a:pPr>
            <a:r>
              <a:rPr lang="en-US" sz="1000" b="1" dirty="0">
                <a:solidFill>
                  <a:srgbClr val="FFFFFF"/>
                </a:solidFill>
              </a:rPr>
              <a:t>semanas</a:t>
            </a:r>
            <a:endParaRPr lang="en-US" sz="1000" dirty="0"/>
          </a:p>
        </p:txBody>
      </p:sp>
      <p:sp>
        <p:nvSpPr>
          <p:cNvPr id="12" name="Shape 10"/>
          <p:cNvSpPr/>
          <p:nvPr/>
        </p:nvSpPr>
        <p:spPr>
          <a:xfrm>
            <a:off x="457200" y="2651760"/>
            <a:ext cx="8229600" cy="1005840"/>
          </a:xfrm>
          <a:prstGeom prst="roundRect">
            <a:avLst>
              <a:gd name="adj" fmla="val 9091"/>
            </a:avLst>
          </a:prstGeom>
          <a:solidFill>
            <a:srgbClr val="253352"/>
          </a:solidFill>
          <a:ln/>
          <a:effectLst>
            <a:outerShdw blurRad="101600" dist="38100" dir="2700000" algn="bl" rotWithShape="0">
              <a:srgbClr val="000000">
                <a:alpha val="12000"/>
              </a:srgbClr>
            </a:outerShdw>
          </a:effectLst>
        </p:spPr>
        <p:txBody>
          <a:bodyPr/>
          <a:lstStyle/>
          <a:p>
            <a:endParaRPr lang="es-CO"/>
          </a:p>
        </p:txBody>
      </p:sp>
      <p:sp>
        <p:nvSpPr>
          <p:cNvPr id="13" name="Shape 11"/>
          <p:cNvSpPr/>
          <p:nvPr/>
        </p:nvSpPr>
        <p:spPr>
          <a:xfrm>
            <a:off x="594360" y="2715768"/>
            <a:ext cx="548640" cy="548640"/>
          </a:xfrm>
          <a:prstGeom prst="ellipse">
            <a:avLst/>
          </a:prstGeom>
          <a:solidFill>
            <a:srgbClr val="C9A84C"/>
          </a:solidFill>
          <a:ln w="12700">
            <a:solidFill>
              <a:srgbClr val="C9A84C"/>
            </a:solidFill>
            <a:prstDash val="solid"/>
          </a:ln>
        </p:spPr>
        <p:txBody>
          <a:bodyPr/>
          <a:lstStyle/>
          <a:p>
            <a:endParaRPr lang="es-CO"/>
          </a:p>
        </p:txBody>
      </p:sp>
      <p:sp>
        <p:nvSpPr>
          <p:cNvPr id="14" name="Text 12"/>
          <p:cNvSpPr/>
          <p:nvPr/>
        </p:nvSpPr>
        <p:spPr>
          <a:xfrm>
            <a:off x="594360" y="271576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5" name="Text 13"/>
          <p:cNvSpPr/>
          <p:nvPr/>
        </p:nvSpPr>
        <p:spPr>
          <a:xfrm>
            <a:off x="1280160" y="2688336"/>
            <a:ext cx="5669280" cy="292608"/>
          </a:xfrm>
          <a:prstGeom prst="rect">
            <a:avLst/>
          </a:prstGeom>
          <a:noFill/>
          <a:ln/>
        </p:spPr>
        <p:txBody>
          <a:bodyPr wrap="square" lIns="0" tIns="0" rIns="0" bIns="0" rtlCol="0" anchor="ctr"/>
          <a:lstStyle/>
          <a:p>
            <a:pPr marL="0" indent="0">
              <a:buNone/>
            </a:pPr>
            <a:r>
              <a:rPr lang="en-US" sz="1300" b="1" dirty="0">
                <a:solidFill>
                  <a:srgbClr val="FFFFFF"/>
                </a:solidFill>
              </a:rPr>
              <a:t>Fase 2 — Colaboración con colectivos</a:t>
            </a:r>
            <a:endParaRPr lang="en-US" sz="1300" dirty="0"/>
          </a:p>
        </p:txBody>
      </p:sp>
      <p:sp>
        <p:nvSpPr>
          <p:cNvPr id="16" name="Text 14"/>
          <p:cNvSpPr/>
          <p:nvPr/>
        </p:nvSpPr>
        <p:spPr>
          <a:xfrm>
            <a:off x="1280160" y="2990088"/>
            <a:ext cx="5669280" cy="502920"/>
          </a:xfrm>
          <a:prstGeom prst="rect">
            <a:avLst/>
          </a:prstGeom>
          <a:noFill/>
          <a:ln/>
        </p:spPr>
        <p:txBody>
          <a:bodyPr wrap="square" lIns="0" tIns="0" rIns="0" bIns="0" rtlCol="0" anchor="ctr"/>
          <a:lstStyle/>
          <a:p>
            <a:pPr marL="0" indent="0">
              <a:buNone/>
            </a:pPr>
            <a:r>
              <a:rPr lang="en-US" sz="1000" dirty="0">
                <a:solidFill>
                  <a:srgbClr val="B8C8E0"/>
                </a:solidFill>
              </a:rPr>
              <a:t>Construcción participativa del centroide de víctimas (Escenario B) · Ajuste metodológico · Análisis del corpus completo de sentencias colectivas</a:t>
            </a:r>
            <a:endParaRPr lang="en-US" sz="1000" dirty="0"/>
          </a:p>
        </p:txBody>
      </p:sp>
      <p:sp>
        <p:nvSpPr>
          <p:cNvPr id="17" name="Shape 15"/>
          <p:cNvSpPr/>
          <p:nvPr/>
        </p:nvSpPr>
        <p:spPr>
          <a:xfrm>
            <a:off x="7178040" y="2715768"/>
            <a:ext cx="1371600" cy="640080"/>
          </a:xfrm>
          <a:prstGeom prst="roundRect">
            <a:avLst>
              <a:gd name="adj" fmla="val 11429"/>
            </a:avLst>
          </a:prstGeom>
          <a:solidFill>
            <a:srgbClr val="C9A84C"/>
          </a:solidFill>
          <a:ln w="12700">
            <a:solidFill>
              <a:srgbClr val="C9A84C"/>
            </a:solidFill>
            <a:prstDash val="solid"/>
          </a:ln>
        </p:spPr>
        <p:txBody>
          <a:bodyPr/>
          <a:lstStyle/>
          <a:p>
            <a:endParaRPr lang="es-CO"/>
          </a:p>
        </p:txBody>
      </p:sp>
      <p:sp>
        <p:nvSpPr>
          <p:cNvPr id="18" name="Text 16"/>
          <p:cNvSpPr/>
          <p:nvPr/>
        </p:nvSpPr>
        <p:spPr>
          <a:xfrm>
            <a:off x="7178040" y="2715768"/>
            <a:ext cx="1371600" cy="640080"/>
          </a:xfrm>
          <a:prstGeom prst="rect">
            <a:avLst/>
          </a:prstGeom>
          <a:noFill/>
          <a:ln/>
        </p:spPr>
        <p:txBody>
          <a:bodyPr wrap="square" lIns="0" tIns="0" rIns="0" bIns="0" rtlCol="0" anchor="ctr"/>
          <a:lstStyle/>
          <a:p>
            <a:pPr marL="0" indent="0" algn="ctr">
              <a:buNone/>
            </a:pPr>
            <a:r>
              <a:rPr lang="en-US" sz="1000" b="1" dirty="0">
                <a:solidFill>
                  <a:srgbClr val="FFFFFF"/>
                </a:solidFill>
              </a:rPr>
              <a:t>4-6</a:t>
            </a:r>
            <a:endParaRPr lang="en-US" sz="1000" dirty="0"/>
          </a:p>
          <a:p>
            <a:pPr marL="0" indent="0" algn="ctr">
              <a:buNone/>
            </a:pPr>
            <a:r>
              <a:rPr lang="en-US" sz="1000" b="1" dirty="0">
                <a:solidFill>
                  <a:srgbClr val="FFFFFF"/>
                </a:solidFill>
              </a:rPr>
              <a:t>semanas</a:t>
            </a:r>
            <a:endParaRPr lang="en-US" sz="1000" dirty="0"/>
          </a:p>
        </p:txBody>
      </p:sp>
      <p:sp>
        <p:nvSpPr>
          <p:cNvPr id="19" name="Shape 17"/>
          <p:cNvSpPr/>
          <p:nvPr/>
        </p:nvSpPr>
        <p:spPr>
          <a:xfrm>
            <a:off x="457200" y="3794760"/>
            <a:ext cx="8229600" cy="1005840"/>
          </a:xfrm>
          <a:prstGeom prst="roundRect">
            <a:avLst>
              <a:gd name="adj" fmla="val 9091"/>
            </a:avLst>
          </a:prstGeom>
          <a:solidFill>
            <a:srgbClr val="253352"/>
          </a:solidFill>
          <a:ln/>
          <a:effectLst>
            <a:outerShdw blurRad="101600" dist="38100" dir="2700000" algn="bl" rotWithShape="0">
              <a:srgbClr val="000000">
                <a:alpha val="12000"/>
              </a:srgbClr>
            </a:outerShdw>
          </a:effectLst>
        </p:spPr>
        <p:txBody>
          <a:bodyPr/>
          <a:lstStyle/>
          <a:p>
            <a:endParaRPr lang="es-CO"/>
          </a:p>
        </p:txBody>
      </p:sp>
      <p:sp>
        <p:nvSpPr>
          <p:cNvPr id="20" name="Shape 18"/>
          <p:cNvSpPr/>
          <p:nvPr/>
        </p:nvSpPr>
        <p:spPr>
          <a:xfrm>
            <a:off x="594360" y="3858768"/>
            <a:ext cx="548640" cy="548640"/>
          </a:xfrm>
          <a:prstGeom prst="ellipse">
            <a:avLst/>
          </a:prstGeom>
          <a:solidFill>
            <a:srgbClr val="14A0A4"/>
          </a:solidFill>
          <a:ln w="12700">
            <a:solidFill>
              <a:srgbClr val="14A0A4"/>
            </a:solidFill>
            <a:prstDash val="solid"/>
          </a:ln>
        </p:spPr>
        <p:txBody>
          <a:bodyPr/>
          <a:lstStyle/>
          <a:p>
            <a:endParaRPr lang="es-CO"/>
          </a:p>
        </p:txBody>
      </p:sp>
      <p:sp>
        <p:nvSpPr>
          <p:cNvPr id="21" name="Text 19"/>
          <p:cNvSpPr/>
          <p:nvPr/>
        </p:nvSpPr>
        <p:spPr>
          <a:xfrm>
            <a:off x="594360" y="385876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22" name="Text 20"/>
          <p:cNvSpPr/>
          <p:nvPr/>
        </p:nvSpPr>
        <p:spPr>
          <a:xfrm>
            <a:off x="1280160" y="3831336"/>
            <a:ext cx="5669280" cy="292608"/>
          </a:xfrm>
          <a:prstGeom prst="rect">
            <a:avLst/>
          </a:prstGeom>
          <a:noFill/>
          <a:ln/>
        </p:spPr>
        <p:txBody>
          <a:bodyPr wrap="square" lIns="0" tIns="0" rIns="0" bIns="0" rtlCol="0" anchor="ctr"/>
          <a:lstStyle/>
          <a:p>
            <a:pPr marL="0" indent="0">
              <a:buNone/>
            </a:pPr>
            <a:r>
              <a:rPr lang="en-US" sz="1300" b="1" dirty="0">
                <a:solidFill>
                  <a:srgbClr val="FFFFFF"/>
                </a:solidFill>
              </a:rPr>
              <a:t>Fase 3 — Entrega y transferencia</a:t>
            </a:r>
            <a:endParaRPr lang="en-US" sz="1300" dirty="0"/>
          </a:p>
        </p:txBody>
      </p:sp>
      <p:sp>
        <p:nvSpPr>
          <p:cNvPr id="23" name="Text 21"/>
          <p:cNvSpPr/>
          <p:nvPr/>
        </p:nvSpPr>
        <p:spPr>
          <a:xfrm>
            <a:off x="1280160" y="4133088"/>
            <a:ext cx="5669280" cy="502920"/>
          </a:xfrm>
          <a:prstGeom prst="rect">
            <a:avLst/>
          </a:prstGeom>
          <a:noFill/>
          <a:ln/>
        </p:spPr>
        <p:txBody>
          <a:bodyPr wrap="square" lIns="0" tIns="0" rIns="0" bIns="0" rtlCol="0" anchor="ctr"/>
          <a:lstStyle/>
          <a:p>
            <a:pPr marL="0" indent="0">
              <a:buNone/>
            </a:pPr>
            <a:r>
              <a:rPr lang="en-US" sz="1000" dirty="0">
                <a:solidFill>
                  <a:srgbClr val="B8C8E0"/>
                </a:solidFill>
              </a:rPr>
              <a:t>Informe final DIS + IEI (+ ICM si hay material audiovisual) · Visualizaciones · Documentación metodológica para reproducibilidad autónoma del Tribunal</a:t>
            </a:r>
            <a:endParaRPr lang="en-US" sz="1000" dirty="0"/>
          </a:p>
        </p:txBody>
      </p:sp>
      <p:sp>
        <p:nvSpPr>
          <p:cNvPr id="24" name="Shape 22"/>
          <p:cNvSpPr/>
          <p:nvPr/>
        </p:nvSpPr>
        <p:spPr>
          <a:xfrm>
            <a:off x="7178040" y="3858768"/>
            <a:ext cx="1371600" cy="640080"/>
          </a:xfrm>
          <a:prstGeom prst="roundRect">
            <a:avLst>
              <a:gd name="adj" fmla="val 11429"/>
            </a:avLst>
          </a:prstGeom>
          <a:solidFill>
            <a:srgbClr val="14A0A4"/>
          </a:solidFill>
          <a:ln w="12700">
            <a:solidFill>
              <a:srgbClr val="14A0A4"/>
            </a:solidFill>
            <a:prstDash val="solid"/>
          </a:ln>
        </p:spPr>
        <p:txBody>
          <a:bodyPr/>
          <a:lstStyle/>
          <a:p>
            <a:endParaRPr lang="es-CO"/>
          </a:p>
        </p:txBody>
      </p:sp>
      <p:sp>
        <p:nvSpPr>
          <p:cNvPr id="25" name="Text 23"/>
          <p:cNvSpPr/>
          <p:nvPr/>
        </p:nvSpPr>
        <p:spPr>
          <a:xfrm>
            <a:off x="7178040" y="3858768"/>
            <a:ext cx="1371600" cy="640080"/>
          </a:xfrm>
          <a:prstGeom prst="rect">
            <a:avLst/>
          </a:prstGeom>
          <a:noFill/>
          <a:ln/>
        </p:spPr>
        <p:txBody>
          <a:bodyPr wrap="square" lIns="0" tIns="0" rIns="0" bIns="0" rtlCol="0" anchor="ctr"/>
          <a:lstStyle/>
          <a:p>
            <a:pPr marL="0" indent="0" algn="ctr">
              <a:buNone/>
            </a:pPr>
            <a:r>
              <a:rPr lang="en-US" sz="1000" b="1" dirty="0">
                <a:solidFill>
                  <a:srgbClr val="FFFFFF"/>
                </a:solidFill>
              </a:rPr>
              <a:t>2-4</a:t>
            </a:r>
            <a:endParaRPr lang="en-US" sz="1000" dirty="0"/>
          </a:p>
          <a:p>
            <a:pPr marL="0" indent="0" algn="ctr">
              <a:buNone/>
            </a:pPr>
            <a:r>
              <a:rPr lang="en-US" sz="1000" b="1" dirty="0">
                <a:solidFill>
                  <a:srgbClr val="FFFFFF"/>
                </a:solidFill>
              </a:rPr>
              <a:t>semanas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lIns="0" tIns="0" rIns="0" bIns="0" rtlCol="0" anchor="ctr"/>
          <a:lstStyle/>
          <a:p>
            <a:pPr marL="0" indent="0">
              <a:buNone/>
            </a:pPr>
            <a:r>
              <a:rPr lang="en-US" sz="2600" b="1" dirty="0">
                <a:solidFill>
                  <a:srgbClr val="1A2744"/>
                </a:solidFill>
              </a:rPr>
              <a:t>Confidencialidad y marco ético</a:t>
            </a:r>
            <a:endParaRPr lang="en-US" sz="2600" dirty="0"/>
          </a:p>
        </p:txBody>
      </p:sp>
      <p:sp>
        <p:nvSpPr>
          <p:cNvPr id="3" name="Shape 1"/>
          <p:cNvSpPr/>
          <p:nvPr/>
        </p:nvSpPr>
        <p:spPr>
          <a:xfrm>
            <a:off x="457200" y="1005840"/>
            <a:ext cx="4160520" cy="1280160"/>
          </a:xfrm>
          <a:prstGeom prst="roundRect">
            <a:avLst>
              <a:gd name="adj" fmla="val 7143"/>
            </a:avLst>
          </a:prstGeom>
          <a:solidFill>
            <a:srgbClr val="FFFFFF"/>
          </a:solidFill>
          <a:ln/>
          <a:effectLst>
            <a:outerShdw blurRad="101600" dist="38100" dir="2700000" algn="bl" rotWithShape="0">
              <a:srgbClr val="000000">
                <a:alpha val="12000"/>
              </a:srgbClr>
            </a:outerShdw>
          </a:effectLst>
        </p:spPr>
        <p:txBody>
          <a:bodyPr/>
          <a:lstStyle/>
          <a:p>
            <a:endParaRPr lang="es-CO"/>
          </a:p>
        </p:txBody>
      </p:sp>
      <p:pic>
        <p:nvPicPr>
          <p:cNvPr id="4" name="Image 0" descr="preencoded.png"/>
          <p:cNvPicPr>
            <a:picLocks noChangeAspect="1"/>
          </p:cNvPicPr>
          <p:nvPr/>
        </p:nvPicPr>
        <p:blipFill>
          <a:blip r:embed="rId3"/>
          <a:stretch>
            <a:fillRect/>
          </a:stretch>
        </p:blipFill>
        <p:spPr>
          <a:xfrm>
            <a:off x="640080" y="1143000"/>
            <a:ext cx="502920" cy="502920"/>
          </a:xfrm>
          <a:prstGeom prst="rect">
            <a:avLst/>
          </a:prstGeom>
        </p:spPr>
      </p:pic>
      <p:sp>
        <p:nvSpPr>
          <p:cNvPr id="5" name="Text 2"/>
          <p:cNvSpPr/>
          <p:nvPr/>
        </p:nvSpPr>
        <p:spPr>
          <a:xfrm>
            <a:off x="1261872" y="1115568"/>
            <a:ext cx="3246120" cy="329184"/>
          </a:xfrm>
          <a:prstGeom prst="rect">
            <a:avLst/>
          </a:prstGeom>
          <a:noFill/>
          <a:ln/>
        </p:spPr>
        <p:txBody>
          <a:bodyPr wrap="square" lIns="0" tIns="0" rIns="0" bIns="0" rtlCol="0" anchor="ctr"/>
          <a:lstStyle/>
          <a:p>
            <a:pPr marL="0" indent="0">
              <a:buNone/>
            </a:pPr>
            <a:r>
              <a:rPr lang="en-US" sz="1300" b="1" dirty="0">
                <a:solidFill>
                  <a:srgbClr val="1A2744"/>
                </a:solidFill>
              </a:rPr>
              <a:t>Reserva de documentos</a:t>
            </a:r>
            <a:endParaRPr lang="en-US" sz="1300" dirty="0"/>
          </a:p>
        </p:txBody>
      </p:sp>
      <p:sp>
        <p:nvSpPr>
          <p:cNvPr id="6" name="Text 3"/>
          <p:cNvSpPr/>
          <p:nvPr/>
        </p:nvSpPr>
        <p:spPr>
          <a:xfrm>
            <a:off x="1261872" y="1463040"/>
            <a:ext cx="3246120" cy="685800"/>
          </a:xfrm>
          <a:prstGeom prst="rect">
            <a:avLst/>
          </a:prstGeom>
          <a:noFill/>
          <a:ln/>
        </p:spPr>
        <p:txBody>
          <a:bodyPr wrap="square" lIns="0" tIns="0" rIns="0" bIns="0" rtlCol="0" anchor="ctr"/>
          <a:lstStyle/>
          <a:p>
            <a:pPr marL="0" indent="0">
              <a:buNone/>
            </a:pPr>
            <a:r>
              <a:rPr lang="en-US" sz="1000" dirty="0">
                <a:solidFill>
                  <a:srgbClr val="64748B"/>
                </a:solidFill>
              </a:rPr>
              <a:t>Las sentencias con reserva se tratan en entorno cerrado, sin salida a repositorios públicos ni APIs externas.</a:t>
            </a:r>
            <a:endParaRPr lang="en-US" sz="1000" dirty="0"/>
          </a:p>
        </p:txBody>
      </p:sp>
      <p:sp>
        <p:nvSpPr>
          <p:cNvPr id="7" name="Shape 4"/>
          <p:cNvSpPr/>
          <p:nvPr/>
        </p:nvSpPr>
        <p:spPr>
          <a:xfrm>
            <a:off x="4800600" y="1005840"/>
            <a:ext cx="4160520" cy="1280160"/>
          </a:xfrm>
          <a:prstGeom prst="roundRect">
            <a:avLst>
              <a:gd name="adj" fmla="val 7143"/>
            </a:avLst>
          </a:prstGeom>
          <a:solidFill>
            <a:srgbClr val="FFFFFF"/>
          </a:solidFill>
          <a:ln/>
          <a:effectLst>
            <a:outerShdw blurRad="101600" dist="38100" dir="2700000" algn="bl" rotWithShape="0">
              <a:srgbClr val="000000">
                <a:alpha val="12000"/>
              </a:srgbClr>
            </a:outerShdw>
          </a:effectLst>
        </p:spPr>
        <p:txBody>
          <a:bodyPr/>
          <a:lstStyle/>
          <a:p>
            <a:endParaRPr lang="es-CO"/>
          </a:p>
        </p:txBody>
      </p:sp>
      <p:pic>
        <p:nvPicPr>
          <p:cNvPr id="8" name="Image 1" descr="preencoded.png"/>
          <p:cNvPicPr>
            <a:picLocks noChangeAspect="1"/>
          </p:cNvPicPr>
          <p:nvPr/>
        </p:nvPicPr>
        <p:blipFill>
          <a:blip r:embed="rId4"/>
          <a:stretch>
            <a:fillRect/>
          </a:stretch>
        </p:blipFill>
        <p:spPr>
          <a:xfrm>
            <a:off x="4983480" y="1143000"/>
            <a:ext cx="502920" cy="502920"/>
          </a:xfrm>
          <a:prstGeom prst="rect">
            <a:avLst/>
          </a:prstGeom>
        </p:spPr>
      </p:pic>
      <p:sp>
        <p:nvSpPr>
          <p:cNvPr id="9" name="Text 5"/>
          <p:cNvSpPr/>
          <p:nvPr/>
        </p:nvSpPr>
        <p:spPr>
          <a:xfrm>
            <a:off x="5605272" y="1115568"/>
            <a:ext cx="3246120" cy="329184"/>
          </a:xfrm>
          <a:prstGeom prst="rect">
            <a:avLst/>
          </a:prstGeom>
          <a:noFill/>
          <a:ln/>
        </p:spPr>
        <p:txBody>
          <a:bodyPr wrap="square" lIns="0" tIns="0" rIns="0" bIns="0" rtlCol="0" anchor="ctr"/>
          <a:lstStyle/>
          <a:p>
            <a:pPr marL="0" indent="0">
              <a:buNone/>
            </a:pPr>
            <a:r>
              <a:rPr lang="en-US" sz="1300" b="1" dirty="0">
                <a:solidFill>
                  <a:srgbClr val="0D7377"/>
                </a:solidFill>
              </a:rPr>
              <a:t>Procesamiento local</a:t>
            </a:r>
            <a:endParaRPr lang="en-US" sz="1300" dirty="0"/>
          </a:p>
        </p:txBody>
      </p:sp>
      <p:sp>
        <p:nvSpPr>
          <p:cNvPr id="10" name="Text 6"/>
          <p:cNvSpPr/>
          <p:nvPr/>
        </p:nvSpPr>
        <p:spPr>
          <a:xfrm>
            <a:off x="5605272" y="1463040"/>
            <a:ext cx="3246120" cy="685800"/>
          </a:xfrm>
          <a:prstGeom prst="rect">
            <a:avLst/>
          </a:prstGeom>
          <a:noFill/>
          <a:ln/>
        </p:spPr>
        <p:txBody>
          <a:bodyPr wrap="square" lIns="0" tIns="0" rIns="0" bIns="0" rtlCol="0" anchor="ctr"/>
          <a:lstStyle/>
          <a:p>
            <a:pPr marL="0" indent="0">
              <a:buNone/>
            </a:pPr>
            <a:r>
              <a:rPr lang="en-US" sz="1000" dirty="0">
                <a:solidFill>
                  <a:srgbClr val="64748B"/>
                </a:solidFill>
              </a:rPr>
              <a:t>Todo el análisis se realiza localmente. Ningún texto pasa por servicios en la nube.</a:t>
            </a:r>
            <a:endParaRPr lang="en-US" sz="1000" dirty="0"/>
          </a:p>
        </p:txBody>
      </p:sp>
      <p:sp>
        <p:nvSpPr>
          <p:cNvPr id="11" name="Shape 7"/>
          <p:cNvSpPr/>
          <p:nvPr/>
        </p:nvSpPr>
        <p:spPr>
          <a:xfrm>
            <a:off x="457200" y="2468880"/>
            <a:ext cx="4160520" cy="1280160"/>
          </a:xfrm>
          <a:prstGeom prst="roundRect">
            <a:avLst>
              <a:gd name="adj" fmla="val 7143"/>
            </a:avLst>
          </a:prstGeom>
          <a:solidFill>
            <a:srgbClr val="FFFFFF"/>
          </a:solidFill>
          <a:ln/>
          <a:effectLst>
            <a:outerShdw blurRad="101600" dist="38100" dir="2700000" algn="bl" rotWithShape="0">
              <a:srgbClr val="000000">
                <a:alpha val="12000"/>
              </a:srgbClr>
            </a:outerShdw>
          </a:effectLst>
        </p:spPr>
        <p:txBody>
          <a:bodyPr/>
          <a:lstStyle/>
          <a:p>
            <a:endParaRPr lang="es-CO"/>
          </a:p>
        </p:txBody>
      </p:sp>
      <p:pic>
        <p:nvPicPr>
          <p:cNvPr id="12" name="Image 2" descr="preencoded.png"/>
          <p:cNvPicPr>
            <a:picLocks noChangeAspect="1"/>
          </p:cNvPicPr>
          <p:nvPr/>
        </p:nvPicPr>
        <p:blipFill>
          <a:blip r:embed="rId5"/>
          <a:stretch>
            <a:fillRect/>
          </a:stretch>
        </p:blipFill>
        <p:spPr>
          <a:xfrm>
            <a:off x="640080" y="2606040"/>
            <a:ext cx="502920" cy="502920"/>
          </a:xfrm>
          <a:prstGeom prst="rect">
            <a:avLst/>
          </a:prstGeom>
        </p:spPr>
      </p:pic>
      <p:sp>
        <p:nvSpPr>
          <p:cNvPr id="13" name="Text 8"/>
          <p:cNvSpPr/>
          <p:nvPr/>
        </p:nvSpPr>
        <p:spPr>
          <a:xfrm>
            <a:off x="1261872" y="2578608"/>
            <a:ext cx="3246120" cy="329184"/>
          </a:xfrm>
          <a:prstGeom prst="rect">
            <a:avLst/>
          </a:prstGeom>
          <a:noFill/>
          <a:ln/>
        </p:spPr>
        <p:txBody>
          <a:bodyPr wrap="square" lIns="0" tIns="0" rIns="0" bIns="0" rtlCol="0" anchor="ctr"/>
          <a:lstStyle/>
          <a:p>
            <a:pPr marL="0" indent="0">
              <a:buNone/>
            </a:pPr>
            <a:r>
              <a:rPr lang="en-US" sz="1300" b="1" dirty="0">
                <a:solidFill>
                  <a:srgbClr val="2D6A4F"/>
                </a:solidFill>
              </a:rPr>
              <a:t>Uso académico de los resultados</a:t>
            </a:r>
            <a:endParaRPr lang="en-US" sz="1300" dirty="0"/>
          </a:p>
        </p:txBody>
      </p:sp>
      <p:sp>
        <p:nvSpPr>
          <p:cNvPr id="14" name="Text 9"/>
          <p:cNvSpPr/>
          <p:nvPr/>
        </p:nvSpPr>
        <p:spPr>
          <a:xfrm>
            <a:off x="1261872" y="2926080"/>
            <a:ext cx="3246120" cy="685800"/>
          </a:xfrm>
          <a:prstGeom prst="rect">
            <a:avLst/>
          </a:prstGeom>
          <a:noFill/>
          <a:ln/>
        </p:spPr>
        <p:txBody>
          <a:bodyPr wrap="square" lIns="0" tIns="0" rIns="0" bIns="0" rtlCol="0" anchor="ctr"/>
          <a:lstStyle/>
          <a:p>
            <a:pPr marL="0" indent="0">
              <a:buNone/>
            </a:pPr>
            <a:r>
              <a:rPr lang="en-US" sz="1000" dirty="0">
                <a:solidFill>
                  <a:srgbClr val="64748B"/>
                </a:solidFill>
              </a:rPr>
              <a:t>Los índices y visualizaciones generados son para uso del Tribunal. El ejercicio no constituye consultoría comercial.</a:t>
            </a:r>
            <a:endParaRPr lang="en-US" sz="1000" dirty="0"/>
          </a:p>
        </p:txBody>
      </p:sp>
      <p:sp>
        <p:nvSpPr>
          <p:cNvPr id="15" name="Shape 10"/>
          <p:cNvSpPr/>
          <p:nvPr/>
        </p:nvSpPr>
        <p:spPr>
          <a:xfrm>
            <a:off x="4800600" y="2468880"/>
            <a:ext cx="4160520" cy="1280160"/>
          </a:xfrm>
          <a:prstGeom prst="roundRect">
            <a:avLst>
              <a:gd name="adj" fmla="val 7143"/>
            </a:avLst>
          </a:prstGeom>
          <a:solidFill>
            <a:srgbClr val="FFFFFF"/>
          </a:solidFill>
          <a:ln/>
          <a:effectLst>
            <a:outerShdw blurRad="101600" dist="38100" dir="2700000" algn="bl" rotWithShape="0">
              <a:srgbClr val="000000">
                <a:alpha val="12000"/>
              </a:srgbClr>
            </a:outerShdw>
          </a:effectLst>
        </p:spPr>
        <p:txBody>
          <a:bodyPr/>
          <a:lstStyle/>
          <a:p>
            <a:endParaRPr lang="es-CO"/>
          </a:p>
        </p:txBody>
      </p:sp>
      <p:pic>
        <p:nvPicPr>
          <p:cNvPr id="16" name="Image 3" descr="preencoded.png"/>
          <p:cNvPicPr>
            <a:picLocks noChangeAspect="1"/>
          </p:cNvPicPr>
          <p:nvPr/>
        </p:nvPicPr>
        <p:blipFill>
          <a:blip r:embed="rId6"/>
          <a:stretch>
            <a:fillRect/>
          </a:stretch>
        </p:blipFill>
        <p:spPr>
          <a:xfrm>
            <a:off x="4983480" y="2606040"/>
            <a:ext cx="502920" cy="502920"/>
          </a:xfrm>
          <a:prstGeom prst="rect">
            <a:avLst/>
          </a:prstGeom>
        </p:spPr>
      </p:pic>
      <p:sp>
        <p:nvSpPr>
          <p:cNvPr id="17" name="Text 11"/>
          <p:cNvSpPr/>
          <p:nvPr/>
        </p:nvSpPr>
        <p:spPr>
          <a:xfrm>
            <a:off x="5605272" y="2578608"/>
            <a:ext cx="3246120" cy="329184"/>
          </a:xfrm>
          <a:prstGeom prst="rect">
            <a:avLst/>
          </a:prstGeom>
          <a:noFill/>
          <a:ln/>
        </p:spPr>
        <p:txBody>
          <a:bodyPr wrap="square" lIns="0" tIns="0" rIns="0" bIns="0" rtlCol="0" anchor="ctr"/>
          <a:lstStyle/>
          <a:p>
            <a:pPr marL="0" indent="0">
              <a:buNone/>
            </a:pPr>
            <a:r>
              <a:rPr lang="en-US" sz="1300" b="1" dirty="0">
                <a:solidFill>
                  <a:srgbClr val="C9A84C"/>
                </a:solidFill>
              </a:rPr>
              <a:t>Reproducibilidad metodológica</a:t>
            </a:r>
            <a:endParaRPr lang="en-US" sz="1300" dirty="0"/>
          </a:p>
        </p:txBody>
      </p:sp>
      <p:sp>
        <p:nvSpPr>
          <p:cNvPr id="18" name="Text 12"/>
          <p:cNvSpPr/>
          <p:nvPr/>
        </p:nvSpPr>
        <p:spPr>
          <a:xfrm>
            <a:off x="5605272" y="2926080"/>
            <a:ext cx="3246120" cy="685800"/>
          </a:xfrm>
          <a:prstGeom prst="rect">
            <a:avLst/>
          </a:prstGeom>
          <a:noFill/>
          <a:ln/>
        </p:spPr>
        <p:txBody>
          <a:bodyPr wrap="square" lIns="0" tIns="0" rIns="0" bIns="0" rtlCol="0" anchor="ctr"/>
          <a:lstStyle/>
          <a:p>
            <a:pPr marL="0" indent="0">
              <a:buNone/>
            </a:pPr>
            <a:r>
              <a:rPr lang="en-US" sz="1000" dirty="0">
                <a:solidFill>
                  <a:srgbClr val="64748B"/>
                </a:solidFill>
              </a:rPr>
              <a:t>Toda la metodología es documentada y transferible — el Tribunal puede replicar el análisis de forma autónoma.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A2744"/>
          </a:solidFill>
          <a:ln w="12700">
            <a:solidFill>
              <a:srgbClr val="1A2744"/>
            </a:solidFill>
            <a:prstDash val="solid"/>
          </a:ln>
        </p:spPr>
        <p:txBody>
          <a:bodyPr/>
          <a:lstStyle/>
          <a:p>
            <a:endParaRPr lang="es-CO"/>
          </a:p>
        </p:txBody>
      </p:sp>
      <p:sp>
        <p:nvSpPr>
          <p:cNvPr id="3" name="Text 1"/>
          <p:cNvSpPr/>
          <p:nvPr/>
        </p:nvSpPr>
        <p:spPr>
          <a:xfrm>
            <a:off x="548640" y="0"/>
            <a:ext cx="8229600" cy="1188720"/>
          </a:xfrm>
          <a:prstGeom prst="rect">
            <a:avLst/>
          </a:prstGeom>
          <a:noFill/>
          <a:ln/>
        </p:spPr>
        <p:txBody>
          <a:bodyPr wrap="square" lIns="0" tIns="0" rIns="0" bIns="0" rtlCol="0" anchor="ctr"/>
          <a:lstStyle/>
          <a:p>
            <a:pPr marL="0" indent="0">
              <a:buNone/>
            </a:pPr>
            <a:r>
              <a:rPr lang="en-US" sz="2600" b="1" dirty="0">
                <a:solidFill>
                  <a:srgbClr val="FFFFFF"/>
                </a:solidFill>
              </a:rPr>
              <a:t>05  ·  Hoja de ruta — Próximos pasos</a:t>
            </a:r>
            <a:endParaRPr lang="en-US" sz="2600" dirty="0"/>
          </a:p>
        </p:txBody>
      </p:sp>
      <p:sp>
        <p:nvSpPr>
          <p:cNvPr id="4" name="Shape 2"/>
          <p:cNvSpPr/>
          <p:nvPr/>
        </p:nvSpPr>
        <p:spPr>
          <a:xfrm>
            <a:off x="457200" y="1417320"/>
            <a:ext cx="457200" cy="457200"/>
          </a:xfrm>
          <a:prstGeom prst="ellipse">
            <a:avLst/>
          </a:prstGeom>
          <a:solidFill>
            <a:srgbClr val="0D7377"/>
          </a:solidFill>
          <a:ln w="19050">
            <a:solidFill>
              <a:srgbClr val="0D7377"/>
            </a:solidFill>
            <a:prstDash val="solid"/>
          </a:ln>
        </p:spPr>
        <p:txBody>
          <a:bodyPr/>
          <a:lstStyle/>
          <a:p>
            <a:endParaRPr lang="es-CO"/>
          </a:p>
        </p:txBody>
      </p:sp>
      <p:sp>
        <p:nvSpPr>
          <p:cNvPr id="5" name="Shape 3"/>
          <p:cNvSpPr/>
          <p:nvPr/>
        </p:nvSpPr>
        <p:spPr>
          <a:xfrm>
            <a:off x="658368" y="1874520"/>
            <a:ext cx="54864" cy="384048"/>
          </a:xfrm>
          <a:prstGeom prst="rect">
            <a:avLst/>
          </a:prstGeom>
          <a:solidFill>
            <a:srgbClr val="E8ECF2"/>
          </a:solidFill>
          <a:ln w="12700">
            <a:solidFill>
              <a:srgbClr val="E8ECF2"/>
            </a:solidFill>
            <a:prstDash val="solid"/>
          </a:ln>
        </p:spPr>
        <p:txBody>
          <a:bodyPr/>
          <a:lstStyle/>
          <a:p>
            <a:endParaRPr lang="es-CO"/>
          </a:p>
        </p:txBody>
      </p:sp>
      <p:sp>
        <p:nvSpPr>
          <p:cNvPr id="6" name="Shape 4"/>
          <p:cNvSpPr/>
          <p:nvPr/>
        </p:nvSpPr>
        <p:spPr>
          <a:xfrm>
            <a:off x="1097280" y="1371600"/>
            <a:ext cx="1371600" cy="411480"/>
          </a:xfrm>
          <a:prstGeom prst="roundRect">
            <a:avLst>
              <a:gd name="adj" fmla="val 13333"/>
            </a:avLst>
          </a:prstGeom>
          <a:solidFill>
            <a:srgbClr val="0D7377"/>
          </a:solidFill>
          <a:ln w="12700">
            <a:solidFill>
              <a:srgbClr val="0D7377"/>
            </a:solidFill>
            <a:prstDash val="solid"/>
          </a:ln>
        </p:spPr>
        <p:txBody>
          <a:bodyPr/>
          <a:lstStyle/>
          <a:p>
            <a:endParaRPr lang="es-CO"/>
          </a:p>
        </p:txBody>
      </p:sp>
      <p:sp>
        <p:nvSpPr>
          <p:cNvPr id="7" name="Text 5"/>
          <p:cNvSpPr/>
          <p:nvPr/>
        </p:nvSpPr>
        <p:spPr>
          <a:xfrm>
            <a:off x="1097280" y="1371600"/>
            <a:ext cx="1371600" cy="411480"/>
          </a:xfrm>
          <a:prstGeom prst="rect">
            <a:avLst/>
          </a:prstGeom>
          <a:noFill/>
          <a:ln/>
        </p:spPr>
        <p:txBody>
          <a:bodyPr wrap="square" lIns="0" tIns="0" rIns="0" bIns="0" rtlCol="0" anchor="ctr"/>
          <a:lstStyle/>
          <a:p>
            <a:pPr marL="0" indent="0" algn="ctr">
              <a:buNone/>
            </a:pPr>
            <a:r>
              <a:rPr lang="en-US" sz="850" b="1" dirty="0">
                <a:solidFill>
                  <a:srgbClr val="FFFFFF"/>
                </a:solidFill>
              </a:rPr>
              <a:t>Semana 1-2</a:t>
            </a:r>
            <a:endParaRPr lang="en-US" sz="850" dirty="0"/>
          </a:p>
        </p:txBody>
      </p:sp>
      <p:sp>
        <p:nvSpPr>
          <p:cNvPr id="8" name="Text 6"/>
          <p:cNvSpPr/>
          <p:nvPr/>
        </p:nvSpPr>
        <p:spPr>
          <a:xfrm>
            <a:off x="2606040" y="1389888"/>
            <a:ext cx="6035040" cy="274320"/>
          </a:xfrm>
          <a:prstGeom prst="rect">
            <a:avLst/>
          </a:prstGeom>
          <a:noFill/>
          <a:ln/>
        </p:spPr>
        <p:txBody>
          <a:bodyPr wrap="square" lIns="0" tIns="0" rIns="0" bIns="0" rtlCol="0" anchor="ctr"/>
          <a:lstStyle/>
          <a:p>
            <a:pPr marL="0" indent="0">
              <a:buNone/>
            </a:pPr>
            <a:r>
              <a:rPr lang="en-US" sz="1300" b="1" dirty="0">
                <a:solidFill>
                  <a:srgbClr val="1A2744"/>
                </a:solidFill>
              </a:rPr>
              <a:t>Análisis preliminar (Escenario A)</a:t>
            </a:r>
            <a:endParaRPr lang="en-US" sz="1300" dirty="0"/>
          </a:p>
        </p:txBody>
      </p:sp>
      <p:sp>
        <p:nvSpPr>
          <p:cNvPr id="9" name="Text 7"/>
          <p:cNvSpPr/>
          <p:nvPr/>
        </p:nvSpPr>
        <p:spPr>
          <a:xfrm>
            <a:off x="2606040" y="1673352"/>
            <a:ext cx="6035040" cy="274320"/>
          </a:xfrm>
          <a:prstGeom prst="rect">
            <a:avLst/>
          </a:prstGeom>
          <a:noFill/>
          <a:ln/>
        </p:spPr>
        <p:txBody>
          <a:bodyPr wrap="square" lIns="0" tIns="0" rIns="0" bIns="0" rtlCol="0" anchor="ctr"/>
          <a:lstStyle/>
          <a:p>
            <a:pPr marL="0" indent="0">
              <a:buNone/>
            </a:pPr>
            <a:r>
              <a:rPr lang="en-US" sz="1050" dirty="0">
                <a:solidFill>
                  <a:srgbClr val="64748B"/>
                </a:solidFill>
              </a:rPr>
              <a:t>Centroide JP desde corpus · DIS e IEI sobre sentencias disponibles</a:t>
            </a:r>
            <a:endParaRPr lang="en-US" sz="1050" dirty="0"/>
          </a:p>
        </p:txBody>
      </p:sp>
      <p:sp>
        <p:nvSpPr>
          <p:cNvPr id="10" name="Shape 8"/>
          <p:cNvSpPr/>
          <p:nvPr/>
        </p:nvSpPr>
        <p:spPr>
          <a:xfrm>
            <a:off x="457200" y="2258568"/>
            <a:ext cx="457200" cy="457200"/>
          </a:xfrm>
          <a:prstGeom prst="ellipse">
            <a:avLst/>
          </a:prstGeom>
          <a:solidFill>
            <a:srgbClr val="E8ECF2"/>
          </a:solidFill>
          <a:ln w="19050">
            <a:solidFill>
              <a:srgbClr val="0D7377"/>
            </a:solidFill>
            <a:prstDash val="solid"/>
          </a:ln>
        </p:spPr>
        <p:txBody>
          <a:bodyPr/>
          <a:lstStyle/>
          <a:p>
            <a:endParaRPr lang="es-CO"/>
          </a:p>
        </p:txBody>
      </p:sp>
      <p:sp>
        <p:nvSpPr>
          <p:cNvPr id="11" name="Shape 9"/>
          <p:cNvSpPr/>
          <p:nvPr/>
        </p:nvSpPr>
        <p:spPr>
          <a:xfrm>
            <a:off x="658368" y="2715768"/>
            <a:ext cx="54864" cy="384048"/>
          </a:xfrm>
          <a:prstGeom prst="rect">
            <a:avLst/>
          </a:prstGeom>
          <a:solidFill>
            <a:srgbClr val="E8ECF2"/>
          </a:solidFill>
          <a:ln w="12700">
            <a:solidFill>
              <a:srgbClr val="E8ECF2"/>
            </a:solidFill>
            <a:prstDash val="solid"/>
          </a:ln>
        </p:spPr>
        <p:txBody>
          <a:bodyPr/>
          <a:lstStyle/>
          <a:p>
            <a:endParaRPr lang="es-CO"/>
          </a:p>
        </p:txBody>
      </p:sp>
      <p:sp>
        <p:nvSpPr>
          <p:cNvPr id="12" name="Shape 10"/>
          <p:cNvSpPr/>
          <p:nvPr/>
        </p:nvSpPr>
        <p:spPr>
          <a:xfrm>
            <a:off x="1097280" y="2212848"/>
            <a:ext cx="1371600" cy="411480"/>
          </a:xfrm>
          <a:prstGeom prst="roundRect">
            <a:avLst>
              <a:gd name="adj" fmla="val 13333"/>
            </a:avLst>
          </a:prstGeom>
          <a:solidFill>
            <a:srgbClr val="E8ECF2"/>
          </a:solidFill>
          <a:ln w="12700">
            <a:solidFill>
              <a:srgbClr val="0D7377"/>
            </a:solidFill>
            <a:prstDash val="solid"/>
          </a:ln>
        </p:spPr>
        <p:txBody>
          <a:bodyPr/>
          <a:lstStyle/>
          <a:p>
            <a:endParaRPr lang="es-CO"/>
          </a:p>
        </p:txBody>
      </p:sp>
      <p:sp>
        <p:nvSpPr>
          <p:cNvPr id="13" name="Text 11"/>
          <p:cNvSpPr/>
          <p:nvPr/>
        </p:nvSpPr>
        <p:spPr>
          <a:xfrm>
            <a:off x="1097280" y="2212848"/>
            <a:ext cx="1371600" cy="411480"/>
          </a:xfrm>
          <a:prstGeom prst="rect">
            <a:avLst/>
          </a:prstGeom>
          <a:noFill/>
          <a:ln/>
        </p:spPr>
        <p:txBody>
          <a:bodyPr wrap="square" lIns="0" tIns="0" rIns="0" bIns="0" rtlCol="0" anchor="ctr"/>
          <a:lstStyle/>
          <a:p>
            <a:pPr marL="0" indent="0" algn="ctr">
              <a:buNone/>
            </a:pPr>
            <a:r>
              <a:rPr lang="en-US" sz="850" b="1" dirty="0">
                <a:solidFill>
                  <a:srgbClr val="64748B"/>
                </a:solidFill>
              </a:rPr>
              <a:t>Semana 2-3</a:t>
            </a:r>
            <a:endParaRPr lang="en-US" sz="850" dirty="0"/>
          </a:p>
        </p:txBody>
      </p:sp>
      <p:sp>
        <p:nvSpPr>
          <p:cNvPr id="14" name="Text 12"/>
          <p:cNvSpPr/>
          <p:nvPr/>
        </p:nvSpPr>
        <p:spPr>
          <a:xfrm>
            <a:off x="2606040" y="2231136"/>
            <a:ext cx="6035040" cy="274320"/>
          </a:xfrm>
          <a:prstGeom prst="rect">
            <a:avLst/>
          </a:prstGeom>
          <a:noFill/>
          <a:ln/>
        </p:spPr>
        <p:txBody>
          <a:bodyPr wrap="square" lIns="0" tIns="0" rIns="0" bIns="0" rtlCol="0" anchor="ctr"/>
          <a:lstStyle/>
          <a:p>
            <a:pPr marL="0" indent="0">
              <a:buNone/>
            </a:pPr>
            <a:r>
              <a:rPr lang="en-US" sz="1300" b="1" dirty="0">
                <a:solidFill>
                  <a:srgbClr val="1A2744"/>
                </a:solidFill>
              </a:rPr>
              <a:t>Presentación de resultados</a:t>
            </a:r>
            <a:endParaRPr lang="en-US" sz="1300" dirty="0"/>
          </a:p>
        </p:txBody>
      </p:sp>
      <p:sp>
        <p:nvSpPr>
          <p:cNvPr id="15" name="Text 13"/>
          <p:cNvSpPr/>
          <p:nvPr/>
        </p:nvSpPr>
        <p:spPr>
          <a:xfrm>
            <a:off x="2606040" y="2514600"/>
            <a:ext cx="6035040" cy="274320"/>
          </a:xfrm>
          <a:prstGeom prst="rect">
            <a:avLst/>
          </a:prstGeom>
          <a:noFill/>
          <a:ln/>
        </p:spPr>
        <p:txBody>
          <a:bodyPr wrap="square" lIns="0" tIns="0" rIns="0" bIns="0" rtlCol="0" anchor="ctr"/>
          <a:lstStyle/>
          <a:p>
            <a:pPr marL="0" indent="0">
              <a:buNone/>
            </a:pPr>
            <a:r>
              <a:rPr lang="en-US" sz="1050" dirty="0">
                <a:solidFill>
                  <a:srgbClr val="64748B"/>
                </a:solidFill>
              </a:rPr>
              <a:t>Informe técnico preliminar · Definición del escenario de profundización</a:t>
            </a:r>
            <a:endParaRPr lang="en-US" sz="1050" dirty="0"/>
          </a:p>
        </p:txBody>
      </p:sp>
      <p:sp>
        <p:nvSpPr>
          <p:cNvPr id="16" name="Shape 14"/>
          <p:cNvSpPr/>
          <p:nvPr/>
        </p:nvSpPr>
        <p:spPr>
          <a:xfrm>
            <a:off x="457200" y="3099816"/>
            <a:ext cx="457200" cy="457200"/>
          </a:xfrm>
          <a:prstGeom prst="ellipse">
            <a:avLst/>
          </a:prstGeom>
          <a:solidFill>
            <a:srgbClr val="E8ECF2"/>
          </a:solidFill>
          <a:ln w="19050">
            <a:solidFill>
              <a:srgbClr val="0D7377"/>
            </a:solidFill>
            <a:prstDash val="solid"/>
          </a:ln>
        </p:spPr>
        <p:txBody>
          <a:bodyPr/>
          <a:lstStyle/>
          <a:p>
            <a:endParaRPr lang="es-CO"/>
          </a:p>
        </p:txBody>
      </p:sp>
      <p:sp>
        <p:nvSpPr>
          <p:cNvPr id="17" name="Shape 15"/>
          <p:cNvSpPr/>
          <p:nvPr/>
        </p:nvSpPr>
        <p:spPr>
          <a:xfrm>
            <a:off x="658368" y="3557016"/>
            <a:ext cx="54864" cy="384048"/>
          </a:xfrm>
          <a:prstGeom prst="rect">
            <a:avLst/>
          </a:prstGeom>
          <a:solidFill>
            <a:srgbClr val="E8ECF2"/>
          </a:solidFill>
          <a:ln w="12700">
            <a:solidFill>
              <a:srgbClr val="E8ECF2"/>
            </a:solidFill>
            <a:prstDash val="solid"/>
          </a:ln>
        </p:spPr>
        <p:txBody>
          <a:bodyPr/>
          <a:lstStyle/>
          <a:p>
            <a:endParaRPr lang="es-CO"/>
          </a:p>
        </p:txBody>
      </p:sp>
      <p:sp>
        <p:nvSpPr>
          <p:cNvPr id="18" name="Shape 16"/>
          <p:cNvSpPr/>
          <p:nvPr/>
        </p:nvSpPr>
        <p:spPr>
          <a:xfrm>
            <a:off x="1097280" y="3054096"/>
            <a:ext cx="1371600" cy="411480"/>
          </a:xfrm>
          <a:prstGeom prst="roundRect">
            <a:avLst>
              <a:gd name="adj" fmla="val 13333"/>
            </a:avLst>
          </a:prstGeom>
          <a:solidFill>
            <a:srgbClr val="E8ECF2"/>
          </a:solidFill>
          <a:ln w="12700">
            <a:solidFill>
              <a:srgbClr val="0D7377"/>
            </a:solidFill>
            <a:prstDash val="solid"/>
          </a:ln>
        </p:spPr>
        <p:txBody>
          <a:bodyPr/>
          <a:lstStyle/>
          <a:p>
            <a:endParaRPr lang="es-CO"/>
          </a:p>
        </p:txBody>
      </p:sp>
      <p:sp>
        <p:nvSpPr>
          <p:cNvPr id="19" name="Text 17"/>
          <p:cNvSpPr/>
          <p:nvPr/>
        </p:nvSpPr>
        <p:spPr>
          <a:xfrm>
            <a:off x="1097280" y="3054096"/>
            <a:ext cx="1371600" cy="411480"/>
          </a:xfrm>
          <a:prstGeom prst="rect">
            <a:avLst/>
          </a:prstGeom>
          <a:noFill/>
          <a:ln/>
        </p:spPr>
        <p:txBody>
          <a:bodyPr wrap="square" lIns="0" tIns="0" rIns="0" bIns="0" rtlCol="0" anchor="ctr"/>
          <a:lstStyle/>
          <a:p>
            <a:pPr marL="0" indent="0" algn="ctr">
              <a:buNone/>
            </a:pPr>
            <a:r>
              <a:rPr lang="en-US" sz="850" b="1" dirty="0">
                <a:solidFill>
                  <a:srgbClr val="64748B"/>
                </a:solidFill>
              </a:rPr>
              <a:t>Semana 3-6</a:t>
            </a:r>
            <a:endParaRPr lang="en-US" sz="850" dirty="0"/>
          </a:p>
        </p:txBody>
      </p:sp>
      <p:sp>
        <p:nvSpPr>
          <p:cNvPr id="20" name="Text 18"/>
          <p:cNvSpPr/>
          <p:nvPr/>
        </p:nvSpPr>
        <p:spPr>
          <a:xfrm>
            <a:off x="2606040" y="3072384"/>
            <a:ext cx="6035040" cy="274320"/>
          </a:xfrm>
          <a:prstGeom prst="rect">
            <a:avLst/>
          </a:prstGeom>
          <a:noFill/>
          <a:ln/>
        </p:spPr>
        <p:txBody>
          <a:bodyPr wrap="square" lIns="0" tIns="0" rIns="0" bIns="0" rtlCol="0" anchor="ctr"/>
          <a:lstStyle/>
          <a:p>
            <a:pPr marL="0" indent="0">
              <a:buNone/>
            </a:pPr>
            <a:r>
              <a:rPr lang="en-US" sz="1300" b="1" dirty="0">
                <a:solidFill>
                  <a:srgbClr val="1A2744"/>
                </a:solidFill>
              </a:rPr>
              <a:t>Colaboración con colectivos</a:t>
            </a:r>
            <a:endParaRPr lang="en-US" sz="1300" dirty="0"/>
          </a:p>
        </p:txBody>
      </p:sp>
      <p:sp>
        <p:nvSpPr>
          <p:cNvPr id="21" name="Text 19"/>
          <p:cNvSpPr/>
          <p:nvPr/>
        </p:nvSpPr>
        <p:spPr>
          <a:xfrm>
            <a:off x="2606040" y="3355848"/>
            <a:ext cx="6035040" cy="274320"/>
          </a:xfrm>
          <a:prstGeom prst="rect">
            <a:avLst/>
          </a:prstGeom>
          <a:noFill/>
          <a:ln/>
        </p:spPr>
        <p:txBody>
          <a:bodyPr wrap="square" lIns="0" tIns="0" rIns="0" bIns="0" rtlCol="0" anchor="ctr"/>
          <a:lstStyle/>
          <a:p>
            <a:pPr marL="0" indent="0">
              <a:buNone/>
            </a:pPr>
            <a:r>
              <a:rPr lang="en-US" sz="1050" dirty="0">
                <a:solidFill>
                  <a:srgbClr val="64748B"/>
                </a:solidFill>
              </a:rPr>
              <a:t>Centroide participativo (Escenario B) · Análisis corpus completo sentencias colectivas</a:t>
            </a:r>
            <a:endParaRPr lang="en-US" sz="1050" dirty="0"/>
          </a:p>
        </p:txBody>
      </p:sp>
      <p:sp>
        <p:nvSpPr>
          <p:cNvPr id="22" name="Shape 20"/>
          <p:cNvSpPr/>
          <p:nvPr/>
        </p:nvSpPr>
        <p:spPr>
          <a:xfrm>
            <a:off x="457200" y="3941064"/>
            <a:ext cx="457200" cy="457200"/>
          </a:xfrm>
          <a:prstGeom prst="ellipse">
            <a:avLst/>
          </a:prstGeom>
          <a:solidFill>
            <a:srgbClr val="E8ECF2"/>
          </a:solidFill>
          <a:ln w="19050">
            <a:solidFill>
              <a:srgbClr val="0D7377"/>
            </a:solidFill>
            <a:prstDash val="solid"/>
          </a:ln>
        </p:spPr>
        <p:txBody>
          <a:bodyPr/>
          <a:lstStyle/>
          <a:p>
            <a:endParaRPr lang="es-CO"/>
          </a:p>
        </p:txBody>
      </p:sp>
      <p:sp>
        <p:nvSpPr>
          <p:cNvPr id="23" name="Shape 21"/>
          <p:cNvSpPr/>
          <p:nvPr/>
        </p:nvSpPr>
        <p:spPr>
          <a:xfrm>
            <a:off x="1097280" y="3895344"/>
            <a:ext cx="1371600" cy="411480"/>
          </a:xfrm>
          <a:prstGeom prst="roundRect">
            <a:avLst>
              <a:gd name="adj" fmla="val 13333"/>
            </a:avLst>
          </a:prstGeom>
          <a:solidFill>
            <a:srgbClr val="E8ECF2"/>
          </a:solidFill>
          <a:ln w="12700">
            <a:solidFill>
              <a:srgbClr val="0D7377"/>
            </a:solidFill>
            <a:prstDash val="solid"/>
          </a:ln>
        </p:spPr>
        <p:txBody>
          <a:bodyPr/>
          <a:lstStyle/>
          <a:p>
            <a:endParaRPr lang="es-CO"/>
          </a:p>
        </p:txBody>
      </p:sp>
      <p:sp>
        <p:nvSpPr>
          <p:cNvPr id="24" name="Text 22"/>
          <p:cNvSpPr/>
          <p:nvPr/>
        </p:nvSpPr>
        <p:spPr>
          <a:xfrm>
            <a:off x="1097280" y="3895344"/>
            <a:ext cx="1371600" cy="411480"/>
          </a:xfrm>
          <a:prstGeom prst="rect">
            <a:avLst/>
          </a:prstGeom>
          <a:noFill/>
          <a:ln/>
        </p:spPr>
        <p:txBody>
          <a:bodyPr wrap="square" lIns="0" tIns="0" rIns="0" bIns="0" rtlCol="0" anchor="ctr"/>
          <a:lstStyle/>
          <a:p>
            <a:pPr marL="0" indent="0" algn="ctr">
              <a:buNone/>
            </a:pPr>
            <a:r>
              <a:rPr lang="en-US" sz="850" b="1" dirty="0">
                <a:solidFill>
                  <a:srgbClr val="64748B"/>
                </a:solidFill>
              </a:rPr>
              <a:t>Mes 2-3</a:t>
            </a:r>
            <a:endParaRPr lang="en-US" sz="850" dirty="0"/>
          </a:p>
        </p:txBody>
      </p:sp>
      <p:sp>
        <p:nvSpPr>
          <p:cNvPr id="25" name="Text 23"/>
          <p:cNvSpPr/>
          <p:nvPr/>
        </p:nvSpPr>
        <p:spPr>
          <a:xfrm>
            <a:off x="2606040" y="3913632"/>
            <a:ext cx="6035040" cy="274320"/>
          </a:xfrm>
          <a:prstGeom prst="rect">
            <a:avLst/>
          </a:prstGeom>
          <a:noFill/>
          <a:ln/>
        </p:spPr>
        <p:txBody>
          <a:bodyPr wrap="square" lIns="0" tIns="0" rIns="0" bIns="0" rtlCol="0" anchor="ctr"/>
          <a:lstStyle/>
          <a:p>
            <a:pPr marL="0" indent="0">
              <a:buNone/>
            </a:pPr>
            <a:r>
              <a:rPr lang="en-US" sz="1300" b="1" dirty="0">
                <a:solidFill>
                  <a:srgbClr val="1A2744"/>
                </a:solidFill>
              </a:rPr>
              <a:t>Entrega final</a:t>
            </a:r>
            <a:endParaRPr lang="en-US" sz="1300" dirty="0"/>
          </a:p>
        </p:txBody>
      </p:sp>
      <p:sp>
        <p:nvSpPr>
          <p:cNvPr id="26" name="Text 24"/>
          <p:cNvSpPr/>
          <p:nvPr/>
        </p:nvSpPr>
        <p:spPr>
          <a:xfrm>
            <a:off x="2606040" y="4197096"/>
            <a:ext cx="6035040" cy="274320"/>
          </a:xfrm>
          <a:prstGeom prst="rect">
            <a:avLst/>
          </a:prstGeom>
          <a:noFill/>
          <a:ln/>
        </p:spPr>
        <p:txBody>
          <a:bodyPr wrap="square" lIns="0" tIns="0" rIns="0" bIns="0" rtlCol="0" anchor="ctr"/>
          <a:lstStyle/>
          <a:p>
            <a:pPr marL="0" indent="0">
              <a:buNone/>
            </a:pPr>
            <a:r>
              <a:rPr lang="en-US" sz="1050" dirty="0">
                <a:solidFill>
                  <a:srgbClr val="64748B"/>
                </a:solidFill>
              </a:rPr>
              <a:t>Informe DIS + IEI (+ ICM si aplica) · Documentación · Transferencia metodológica</a:t>
            </a:r>
            <a:endParaRPr lang="en-US" sz="1050" dirty="0"/>
          </a:p>
        </p:txBody>
      </p:sp>
      <p:sp>
        <p:nvSpPr>
          <p:cNvPr id="27" name="Shape 25"/>
          <p:cNvSpPr/>
          <p:nvPr/>
        </p:nvSpPr>
        <p:spPr>
          <a:xfrm>
            <a:off x="457200" y="4572000"/>
            <a:ext cx="8229600" cy="384048"/>
          </a:xfrm>
          <a:prstGeom prst="roundRect">
            <a:avLst>
              <a:gd name="adj" fmla="val 16667"/>
            </a:avLst>
          </a:prstGeom>
          <a:solidFill>
            <a:srgbClr val="FFF3CD"/>
          </a:solidFill>
          <a:ln w="12700">
            <a:solidFill>
              <a:srgbClr val="C9A84C"/>
            </a:solidFill>
            <a:prstDash val="solid"/>
          </a:ln>
        </p:spPr>
        <p:txBody>
          <a:bodyPr/>
          <a:lstStyle/>
          <a:p>
            <a:endParaRPr lang="es-CO"/>
          </a:p>
        </p:txBody>
      </p:sp>
      <p:sp>
        <p:nvSpPr>
          <p:cNvPr id="28" name="Text 26"/>
          <p:cNvSpPr/>
          <p:nvPr/>
        </p:nvSpPr>
        <p:spPr>
          <a:xfrm>
            <a:off x="594360" y="4599432"/>
            <a:ext cx="7863840" cy="320040"/>
          </a:xfrm>
          <a:prstGeom prst="rect">
            <a:avLst/>
          </a:prstGeom>
          <a:noFill/>
          <a:ln/>
        </p:spPr>
        <p:txBody>
          <a:bodyPr wrap="square" lIns="0" tIns="0" rIns="0" bIns="0" rtlCol="0" anchor="ctr"/>
          <a:lstStyle/>
          <a:p>
            <a:pPr marL="0" indent="0">
              <a:buNone/>
            </a:pPr>
            <a:r>
              <a:rPr lang="en-US" sz="1050" dirty="0">
                <a:solidFill>
                  <a:srgbClr val="7A5C00"/>
                </a:solidFill>
              </a:rPr>
              <a:t>⚡  Ventana de oportunidad: sentencias colectivas próximas — el análisis previo (Fase 1) puede iniciarse esta semana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5943600" y="2286000"/>
            <a:ext cx="4572000" cy="4572000"/>
          </a:xfrm>
          <a:prstGeom prst="ellipse">
            <a:avLst/>
          </a:prstGeom>
          <a:solidFill>
            <a:srgbClr val="0D7377">
              <a:alpha val="18000"/>
            </a:srgbClr>
          </a:solidFill>
          <a:ln w="12700">
            <a:solidFill>
              <a:srgbClr val="0D7377"/>
            </a:solidFill>
            <a:prstDash val="solid"/>
          </a:ln>
        </p:spPr>
        <p:txBody>
          <a:bodyPr/>
          <a:lstStyle/>
          <a:p>
            <a:endParaRPr lang="es-CO"/>
          </a:p>
        </p:txBody>
      </p:sp>
      <p:sp>
        <p:nvSpPr>
          <p:cNvPr id="3" name="Text 1"/>
          <p:cNvSpPr/>
          <p:nvPr/>
        </p:nvSpPr>
        <p:spPr>
          <a:xfrm>
            <a:off x="548640" y="548640"/>
            <a:ext cx="7315200" cy="1097280"/>
          </a:xfrm>
          <a:prstGeom prst="rect">
            <a:avLst/>
          </a:prstGeom>
          <a:noFill/>
          <a:ln/>
        </p:spPr>
        <p:txBody>
          <a:bodyPr wrap="square" lIns="0" tIns="0" rIns="0" bIns="0" rtlCol="0" anchor="ctr"/>
          <a:lstStyle/>
          <a:p>
            <a:pPr marL="0" indent="0">
              <a:buNone/>
            </a:pPr>
            <a:r>
              <a:rPr lang="en-US" sz="3000" b="1" dirty="0">
                <a:solidFill>
                  <a:srgbClr val="FFFFFF"/>
                </a:solidFill>
              </a:rPr>
              <a:t>El CFH no reemplaza</a:t>
            </a:r>
            <a:endParaRPr lang="en-US" sz="3000" dirty="0"/>
          </a:p>
          <a:p>
            <a:pPr marL="0" indent="0">
              <a:buNone/>
            </a:pPr>
            <a:r>
              <a:rPr lang="en-US" sz="3000" b="1" dirty="0">
                <a:solidFill>
                  <a:srgbClr val="FFFFFF"/>
                </a:solidFill>
              </a:rPr>
              <a:t>el juicio jurídico.</a:t>
            </a:r>
            <a:endParaRPr lang="en-US" sz="3000" dirty="0"/>
          </a:p>
        </p:txBody>
      </p:sp>
      <p:sp>
        <p:nvSpPr>
          <p:cNvPr id="4" name="Text 2"/>
          <p:cNvSpPr/>
          <p:nvPr/>
        </p:nvSpPr>
        <p:spPr>
          <a:xfrm>
            <a:off x="548640" y="1691640"/>
            <a:ext cx="7315200" cy="914400"/>
          </a:xfrm>
          <a:prstGeom prst="rect">
            <a:avLst/>
          </a:prstGeom>
          <a:noFill/>
          <a:ln/>
        </p:spPr>
        <p:txBody>
          <a:bodyPr wrap="square" lIns="0" tIns="0" rIns="0" bIns="0" rtlCol="0" anchor="ctr"/>
          <a:lstStyle/>
          <a:p>
            <a:pPr marL="0" indent="0">
              <a:buNone/>
            </a:pPr>
            <a:r>
              <a:rPr lang="en-US" sz="2400" dirty="0">
                <a:solidFill>
                  <a:srgbClr val="14A0A4"/>
                </a:solidFill>
              </a:rPr>
              <a:t>Lo hace visible, medible</a:t>
            </a:r>
            <a:endParaRPr lang="en-US" sz="2400" dirty="0"/>
          </a:p>
          <a:p>
            <a:pPr marL="0" indent="0">
              <a:buNone/>
            </a:pPr>
            <a:r>
              <a:rPr lang="en-US" sz="2400" dirty="0">
                <a:solidFill>
                  <a:srgbClr val="14A0A4"/>
                </a:solidFill>
              </a:rPr>
              <a:t>y reproducible.</a:t>
            </a:r>
            <a:endParaRPr lang="en-US" sz="2400" dirty="0"/>
          </a:p>
        </p:txBody>
      </p:sp>
      <p:sp>
        <p:nvSpPr>
          <p:cNvPr id="5" name="Shape 3"/>
          <p:cNvSpPr/>
          <p:nvPr/>
        </p:nvSpPr>
        <p:spPr>
          <a:xfrm>
            <a:off x="548640" y="2743200"/>
            <a:ext cx="2560320" cy="36576"/>
          </a:xfrm>
          <a:prstGeom prst="rect">
            <a:avLst/>
          </a:prstGeom>
          <a:solidFill>
            <a:srgbClr val="C9A84C"/>
          </a:solidFill>
          <a:ln w="12700">
            <a:solidFill>
              <a:srgbClr val="C9A84C"/>
            </a:solidFill>
            <a:prstDash val="solid"/>
          </a:ln>
        </p:spPr>
        <p:txBody>
          <a:bodyPr/>
          <a:lstStyle/>
          <a:p>
            <a:endParaRPr lang="es-CO"/>
          </a:p>
        </p:txBody>
      </p:sp>
      <p:sp>
        <p:nvSpPr>
          <p:cNvPr id="6" name="Text 4"/>
          <p:cNvSpPr/>
          <p:nvPr/>
        </p:nvSpPr>
        <p:spPr>
          <a:xfrm>
            <a:off x="548640" y="2926080"/>
            <a:ext cx="6858000" cy="457200"/>
          </a:xfrm>
          <a:prstGeom prst="rect">
            <a:avLst/>
          </a:prstGeom>
          <a:noFill/>
          <a:ln/>
        </p:spPr>
        <p:txBody>
          <a:bodyPr wrap="square" lIns="0" tIns="0" rIns="0" bIns="0" rtlCol="0" anchor="ctr"/>
          <a:lstStyle/>
          <a:p>
            <a:pPr marL="0" indent="0">
              <a:buNone/>
            </a:pPr>
            <a:r>
              <a:rPr lang="en-US" sz="1400" i="1" dirty="0">
                <a:solidFill>
                  <a:srgbClr val="E8ECF2"/>
                </a:solidFill>
              </a:rPr>
              <a:t>La voz de las víctimas como estándar técnico de referencia.</a:t>
            </a:r>
            <a:endParaRPr lang="en-US" sz="1400" dirty="0"/>
          </a:p>
        </p:txBody>
      </p:sp>
      <p:sp>
        <p:nvSpPr>
          <p:cNvPr id="7" name="Shape 5"/>
          <p:cNvSpPr/>
          <p:nvPr/>
        </p:nvSpPr>
        <p:spPr>
          <a:xfrm>
            <a:off x="548640" y="3566160"/>
            <a:ext cx="2331720" cy="731520"/>
          </a:xfrm>
          <a:prstGeom prst="roundRect">
            <a:avLst>
              <a:gd name="adj" fmla="val 10000"/>
            </a:avLst>
          </a:prstGeom>
          <a:solidFill>
            <a:srgbClr val="253352"/>
          </a:solidFill>
          <a:ln/>
        </p:spPr>
        <p:txBody>
          <a:bodyPr/>
          <a:lstStyle/>
          <a:p>
            <a:endParaRPr lang="es-CO"/>
          </a:p>
        </p:txBody>
      </p:sp>
      <p:sp>
        <p:nvSpPr>
          <p:cNvPr id="8" name="Text 6"/>
          <p:cNvSpPr/>
          <p:nvPr/>
        </p:nvSpPr>
        <p:spPr>
          <a:xfrm>
            <a:off x="548640" y="3611880"/>
            <a:ext cx="2331720" cy="292608"/>
          </a:xfrm>
          <a:prstGeom prst="rect">
            <a:avLst/>
          </a:prstGeom>
          <a:noFill/>
          <a:ln/>
        </p:spPr>
        <p:txBody>
          <a:bodyPr wrap="square" lIns="0" tIns="0" rIns="0" bIns="0" rtlCol="0" anchor="ctr"/>
          <a:lstStyle/>
          <a:p>
            <a:pPr marL="0" indent="0" algn="ctr">
              <a:buNone/>
            </a:pPr>
            <a:r>
              <a:rPr lang="en-US" sz="1600" b="1" dirty="0">
                <a:solidFill>
                  <a:srgbClr val="14A0A4"/>
                </a:solidFill>
              </a:rPr>
              <a:t>DIS</a:t>
            </a:r>
            <a:endParaRPr lang="en-US" sz="1600" dirty="0"/>
          </a:p>
        </p:txBody>
      </p:sp>
      <p:sp>
        <p:nvSpPr>
          <p:cNvPr id="9" name="Text 7"/>
          <p:cNvSpPr/>
          <p:nvPr/>
        </p:nvSpPr>
        <p:spPr>
          <a:xfrm>
            <a:off x="548640" y="3904488"/>
            <a:ext cx="2331720" cy="292608"/>
          </a:xfrm>
          <a:prstGeom prst="rect">
            <a:avLst/>
          </a:prstGeom>
          <a:noFill/>
          <a:ln/>
        </p:spPr>
        <p:txBody>
          <a:bodyPr wrap="square" lIns="0" tIns="0" rIns="0" bIns="0" rtlCol="0" anchor="ctr"/>
          <a:lstStyle/>
          <a:p>
            <a:pPr marL="0" indent="0" algn="ctr">
              <a:buNone/>
            </a:pPr>
            <a:r>
              <a:rPr lang="en-US" sz="950" dirty="0">
                <a:solidFill>
                  <a:srgbClr val="E8ECF2"/>
                </a:solidFill>
              </a:rPr>
              <a:t>Injusticia Discursiva</a:t>
            </a:r>
            <a:endParaRPr lang="en-US" sz="950" dirty="0"/>
          </a:p>
        </p:txBody>
      </p:sp>
      <p:sp>
        <p:nvSpPr>
          <p:cNvPr id="10" name="Shape 8"/>
          <p:cNvSpPr/>
          <p:nvPr/>
        </p:nvSpPr>
        <p:spPr>
          <a:xfrm>
            <a:off x="3154680" y="3566160"/>
            <a:ext cx="2331720" cy="731520"/>
          </a:xfrm>
          <a:prstGeom prst="roundRect">
            <a:avLst>
              <a:gd name="adj" fmla="val 10000"/>
            </a:avLst>
          </a:prstGeom>
          <a:solidFill>
            <a:srgbClr val="253352"/>
          </a:solidFill>
          <a:ln/>
        </p:spPr>
        <p:txBody>
          <a:bodyPr/>
          <a:lstStyle/>
          <a:p>
            <a:endParaRPr lang="es-CO"/>
          </a:p>
        </p:txBody>
      </p:sp>
      <p:sp>
        <p:nvSpPr>
          <p:cNvPr id="11" name="Text 9"/>
          <p:cNvSpPr/>
          <p:nvPr/>
        </p:nvSpPr>
        <p:spPr>
          <a:xfrm>
            <a:off x="3154680" y="3611880"/>
            <a:ext cx="2331720" cy="292608"/>
          </a:xfrm>
          <a:prstGeom prst="rect">
            <a:avLst/>
          </a:prstGeom>
          <a:noFill/>
          <a:ln/>
        </p:spPr>
        <p:txBody>
          <a:bodyPr wrap="square" lIns="0" tIns="0" rIns="0" bIns="0" rtlCol="0" anchor="ctr"/>
          <a:lstStyle/>
          <a:p>
            <a:pPr marL="0" indent="0" algn="ctr">
              <a:buNone/>
            </a:pPr>
            <a:r>
              <a:rPr lang="en-US" sz="1600" b="1" dirty="0">
                <a:solidFill>
                  <a:srgbClr val="14A0A4"/>
                </a:solidFill>
              </a:rPr>
              <a:t>IEI</a:t>
            </a:r>
            <a:endParaRPr lang="en-US" sz="1600" dirty="0"/>
          </a:p>
        </p:txBody>
      </p:sp>
      <p:sp>
        <p:nvSpPr>
          <p:cNvPr id="12" name="Text 10"/>
          <p:cNvSpPr/>
          <p:nvPr/>
        </p:nvSpPr>
        <p:spPr>
          <a:xfrm>
            <a:off x="3154680" y="3904488"/>
            <a:ext cx="2331720" cy="292608"/>
          </a:xfrm>
          <a:prstGeom prst="rect">
            <a:avLst/>
          </a:prstGeom>
          <a:noFill/>
          <a:ln/>
        </p:spPr>
        <p:txBody>
          <a:bodyPr wrap="square" lIns="0" tIns="0" rIns="0" bIns="0" rtlCol="0" anchor="ctr"/>
          <a:lstStyle/>
          <a:p>
            <a:pPr marL="0" indent="0" algn="ctr">
              <a:buNone/>
            </a:pPr>
            <a:r>
              <a:rPr lang="en-US" sz="950" dirty="0">
                <a:solidFill>
                  <a:srgbClr val="E8ECF2"/>
                </a:solidFill>
              </a:rPr>
              <a:t>Injusticia Epistémica</a:t>
            </a:r>
            <a:endParaRPr lang="en-US" sz="950" dirty="0"/>
          </a:p>
        </p:txBody>
      </p:sp>
      <p:sp>
        <p:nvSpPr>
          <p:cNvPr id="13" name="Shape 11"/>
          <p:cNvSpPr/>
          <p:nvPr/>
        </p:nvSpPr>
        <p:spPr>
          <a:xfrm>
            <a:off x="5760720" y="3566160"/>
            <a:ext cx="2331720" cy="731520"/>
          </a:xfrm>
          <a:prstGeom prst="roundRect">
            <a:avLst>
              <a:gd name="adj" fmla="val 10000"/>
            </a:avLst>
          </a:prstGeom>
          <a:solidFill>
            <a:srgbClr val="253352"/>
          </a:solidFill>
          <a:ln/>
        </p:spPr>
        <p:txBody>
          <a:bodyPr/>
          <a:lstStyle/>
          <a:p>
            <a:endParaRPr lang="es-CO"/>
          </a:p>
        </p:txBody>
      </p:sp>
      <p:sp>
        <p:nvSpPr>
          <p:cNvPr id="14" name="Text 12"/>
          <p:cNvSpPr/>
          <p:nvPr/>
        </p:nvSpPr>
        <p:spPr>
          <a:xfrm>
            <a:off x="5760720" y="3611880"/>
            <a:ext cx="2331720" cy="292608"/>
          </a:xfrm>
          <a:prstGeom prst="rect">
            <a:avLst/>
          </a:prstGeom>
          <a:noFill/>
          <a:ln/>
        </p:spPr>
        <p:txBody>
          <a:bodyPr wrap="square" lIns="0" tIns="0" rIns="0" bIns="0" rtlCol="0" anchor="ctr"/>
          <a:lstStyle/>
          <a:p>
            <a:pPr marL="0" indent="0" algn="ctr">
              <a:buNone/>
            </a:pPr>
            <a:r>
              <a:rPr lang="en-US" sz="1600" b="1" dirty="0">
                <a:solidFill>
                  <a:srgbClr val="14A0A4"/>
                </a:solidFill>
              </a:rPr>
              <a:t>ICM</a:t>
            </a:r>
            <a:endParaRPr lang="en-US" sz="1600" dirty="0"/>
          </a:p>
        </p:txBody>
      </p:sp>
      <p:sp>
        <p:nvSpPr>
          <p:cNvPr id="15" name="Text 13"/>
          <p:cNvSpPr/>
          <p:nvPr/>
        </p:nvSpPr>
        <p:spPr>
          <a:xfrm>
            <a:off x="5760720" y="3904488"/>
            <a:ext cx="2331720" cy="292608"/>
          </a:xfrm>
          <a:prstGeom prst="rect">
            <a:avLst/>
          </a:prstGeom>
          <a:noFill/>
          <a:ln/>
        </p:spPr>
        <p:txBody>
          <a:bodyPr wrap="square" lIns="0" tIns="0" rIns="0" bIns="0" rtlCol="0" anchor="ctr"/>
          <a:lstStyle/>
          <a:p>
            <a:pPr marL="0" indent="0" algn="ctr">
              <a:buNone/>
            </a:pPr>
            <a:r>
              <a:rPr lang="en-US" sz="950" dirty="0">
                <a:solidFill>
                  <a:srgbClr val="E8ECF2"/>
                </a:solidFill>
              </a:rPr>
              <a:t>Congruencia Multimodal</a:t>
            </a:r>
            <a:endParaRPr lang="en-US" sz="950" dirty="0"/>
          </a:p>
        </p:txBody>
      </p:sp>
      <p:sp>
        <p:nvSpPr>
          <p:cNvPr id="16" name="Text 14"/>
          <p:cNvSpPr/>
          <p:nvPr/>
        </p:nvSpPr>
        <p:spPr>
          <a:xfrm>
            <a:off x="548640" y="4526280"/>
            <a:ext cx="7772400" cy="365760"/>
          </a:xfrm>
          <a:prstGeom prst="rect">
            <a:avLst/>
          </a:prstGeom>
          <a:noFill/>
          <a:ln/>
        </p:spPr>
        <p:txBody>
          <a:bodyPr wrap="square" lIns="0" tIns="0" rIns="0" bIns="0" rtlCol="0" anchor="ctr"/>
          <a:lstStyle/>
          <a:p>
            <a:pPr marL="0" indent="0">
              <a:buNone/>
            </a:pPr>
            <a:r>
              <a:rPr lang="en-US" sz="1100" dirty="0">
                <a:solidFill>
                  <a:srgbClr val="64748B"/>
                </a:solidFill>
              </a:rPr>
              <a:t>Mireya Camacho  ·  Colaboración técnica académica  ·  Junio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1544</Words>
  <Application>Microsoft Office PowerPoint</Application>
  <PresentationFormat>Presentación en pantalla (16:9)</PresentationFormat>
  <Paragraphs>234</Paragraphs>
  <Slides>13</Slides>
  <Notes>13</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13</vt:i4>
      </vt:variant>
    </vt:vector>
  </HeadingPairs>
  <TitlesOfParts>
    <vt:vector size="15"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Forense Computacional Hermenéutico — Tribunal Justicia y Paz</dc:title>
  <dc:subject>PptxGenJS Presentation</dc:subject>
  <dc:creator>Mireya Camacho</dc:creator>
  <cp:lastModifiedBy>Mireya Camacho Celis</cp:lastModifiedBy>
  <cp:revision>1</cp:revision>
  <dcterms:created xsi:type="dcterms:W3CDTF">2026-06-11T16:53:10Z</dcterms:created>
  <dcterms:modified xsi:type="dcterms:W3CDTF">2026-06-11T17:38:03Z</dcterms:modified>
</cp:coreProperties>
</file>