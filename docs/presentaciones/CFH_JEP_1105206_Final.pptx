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87" d="100"/>
          <a:sy n="87" d="100"/>
        </p:scale>
        <p:origin x="680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171101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B8722A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" name="Text 1"/>
          <p:cNvSpPr/>
          <p:nvPr/>
        </p:nvSpPr>
        <p:spPr>
          <a:xfrm>
            <a:off x="457200" y="201168"/>
            <a:ext cx="8229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kern="0" spc="200" dirty="0">
                <a:solidFill>
                  <a:srgbClr val="B87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HERMENÉUTICA FORENSE COMPUTACIONAL  ·  MACROCASO 003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457200" y="566928"/>
            <a:ext cx="8321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800" b="1" dirty="0">
                <a:solidFill>
                  <a:srgbClr val="1A2B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Más allá de las palabras: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457200" y="1389888"/>
            <a:ext cx="8321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dirty="0">
                <a:solidFill>
                  <a:srgbClr val="2E6A7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 texto, la voz y los gestos también hablan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457200" y="2103120"/>
            <a:ext cx="2011680" cy="22860"/>
          </a:xfrm>
          <a:prstGeom prst="rect">
            <a:avLst/>
          </a:prstGeom>
          <a:solidFill>
            <a:srgbClr val="B8722A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7" name="Text 5"/>
          <p:cNvSpPr/>
          <p:nvPr/>
        </p:nvSpPr>
        <p:spPr>
          <a:xfrm>
            <a:off x="457200" y="230428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Mireya Camacho Celis  ·  Ciencia de Datos  ·  Universidad Externado de Colombia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7200" y="2615184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B7F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Defensa agosto 2026  ·  JEP — Macrocaso 003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57200" y="3108960"/>
            <a:ext cx="8229600" cy="1719072"/>
          </a:xfrm>
          <a:prstGeom prst="rect">
            <a:avLst/>
          </a:prstGeom>
          <a:solidFill>
            <a:srgbClr val="F5F7F9"/>
          </a:solidFill>
          <a:ln w="6350">
            <a:solidFill>
              <a:srgbClr val="DDE3E8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0" name="Shape 8"/>
          <p:cNvSpPr/>
          <p:nvPr/>
        </p:nvSpPr>
        <p:spPr>
          <a:xfrm>
            <a:off x="457200" y="3108960"/>
            <a:ext cx="45720" cy="1719072"/>
          </a:xfrm>
          <a:prstGeom prst="rect">
            <a:avLst/>
          </a:prstGeom>
          <a:solidFill>
            <a:srgbClr val="B8722A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1" name="Text 9"/>
          <p:cNvSpPr/>
          <p:nvPr/>
        </p:nvSpPr>
        <p:spPr>
          <a:xfrm>
            <a:off x="685800" y="3218688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B87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pregunta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685800" y="3511296"/>
            <a:ext cx="78181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¿Pueden medirse, de forma reproducible y auditable, la injusticia discursiva (DIS Score), la injusticia epistémica (IEI) y la congruencia multimodal (ICM) en el archivo del Macrocaso 003, para verificar si el reconocimiento de verdad ante la JEP fue genuino o performativo?</a:t>
            </a:r>
            <a:endParaRPr lang="en-US" sz="15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B8722A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" name="Text 1"/>
          <p:cNvSpPr/>
          <p:nvPr/>
        </p:nvSpPr>
        <p:spPr>
          <a:xfrm>
            <a:off x="457200" y="201168"/>
            <a:ext cx="8229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kern="0" spc="250" dirty="0">
                <a:solidFill>
                  <a:srgbClr val="B87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CONTEXTO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457200" y="457200"/>
            <a:ext cx="83210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A2B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CFH propone indicadores que amplían el análisis del reconocimiento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960120"/>
            <a:ext cx="8229600" cy="13716"/>
          </a:xfrm>
          <a:prstGeom prst="rect">
            <a:avLst/>
          </a:prstGeom>
          <a:solidFill>
            <a:srgbClr val="DDE3E8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6" name="Shape 4"/>
          <p:cNvSpPr/>
          <p:nvPr/>
        </p:nvSpPr>
        <p:spPr>
          <a:xfrm>
            <a:off x="457200" y="1097280"/>
            <a:ext cx="3657600" cy="3749040"/>
          </a:xfrm>
          <a:prstGeom prst="rect">
            <a:avLst/>
          </a:prstGeom>
          <a:solidFill>
            <a:srgbClr val="F5F7F9"/>
          </a:solidFill>
          <a:ln w="6350">
            <a:solidFill>
              <a:srgbClr val="DDE3E8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7" name="Shape 5"/>
          <p:cNvSpPr/>
          <p:nvPr/>
        </p:nvSpPr>
        <p:spPr>
          <a:xfrm>
            <a:off x="457200" y="1097280"/>
            <a:ext cx="45720" cy="3749040"/>
          </a:xfrm>
          <a:prstGeom prst="rect">
            <a:avLst/>
          </a:prstGeom>
          <a:solidFill>
            <a:srgbClr val="2E6A7C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8" name="Text 6"/>
          <p:cNvSpPr/>
          <p:nvPr/>
        </p:nvSpPr>
        <p:spPr>
          <a:xfrm>
            <a:off x="685800" y="1234440"/>
            <a:ext cx="3200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E6A7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 que ya hace la Sección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85800" y="1554480"/>
            <a:ext cx="3200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6B7F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Análisis jurídico del reconocimiento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85800" y="1874520"/>
            <a:ext cx="3200400" cy="165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2B3C"/>
                </a:solidFill>
                <a:latin typeface="Cambria" pitchFamily="34" charset="0"/>
              </a:rPr>
              <a:t>La Sección evalúa el reconocimiento con criterio jurídico y lectura cualitativa del corpus.</a:t>
            </a:r>
          </a:p>
        </p:txBody>
      </p:sp>
      <p:sp>
        <p:nvSpPr>
          <p:cNvPr id="11" name="Text 9"/>
          <p:cNvSpPr/>
          <p:nvPr/>
        </p:nvSpPr>
        <p:spPr>
          <a:xfrm>
            <a:off x="685800" y="3600000"/>
            <a:ext cx="3200400" cy="56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4407408" y="1097280"/>
            <a:ext cx="4315968" cy="1005840"/>
          </a:xfrm>
          <a:prstGeom prst="rect">
            <a:avLst/>
          </a:prstGeom>
          <a:solidFill>
            <a:srgbClr val="1A2B3C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3" name="Text 11"/>
          <p:cNvSpPr/>
          <p:nvPr/>
        </p:nvSpPr>
        <p:spPr>
          <a:xfrm>
            <a:off x="4590288" y="1188720"/>
            <a:ext cx="3977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B872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DIS Score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590288" y="1517904"/>
            <a:ext cx="39776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Discursive Injustice Score — injusticia discursiva en léxico y gramática del corpus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4407408" y="2212848"/>
            <a:ext cx="4315968" cy="1005840"/>
          </a:xfrm>
          <a:prstGeom prst="rect">
            <a:avLst/>
          </a:prstGeom>
          <a:solidFill>
            <a:srgbClr val="1A2B3C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6" name="Text 14"/>
          <p:cNvSpPr/>
          <p:nvPr/>
        </p:nvSpPr>
        <p:spPr>
          <a:xfrm>
            <a:off x="4590288" y="2304288"/>
            <a:ext cx="3977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B872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IEI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4590288" y="2633472"/>
            <a:ext cx="39776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Índice de Injusticia Epistémica — distancia semántica al léxico de las víctimas</a:t>
            </a:r>
            <a:endParaRPr lang="en-US" sz="1350" dirty="0"/>
          </a:p>
        </p:txBody>
      </p:sp>
      <p:sp>
        <p:nvSpPr>
          <p:cNvPr id="18" name="Shape 16"/>
          <p:cNvSpPr/>
          <p:nvPr/>
        </p:nvSpPr>
        <p:spPr>
          <a:xfrm>
            <a:off x="4407408" y="3328416"/>
            <a:ext cx="4315968" cy="1005840"/>
          </a:xfrm>
          <a:prstGeom prst="rect">
            <a:avLst/>
          </a:prstGeom>
          <a:solidFill>
            <a:srgbClr val="1A2B3C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9" name="Text 17"/>
          <p:cNvSpPr/>
          <p:nvPr/>
        </p:nvSpPr>
        <p:spPr>
          <a:xfrm>
            <a:off x="4590288" y="3419856"/>
            <a:ext cx="3977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B872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ICM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4590288" y="3749040"/>
            <a:ext cx="39776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Índice de Congruencia Multimodal — congruencia entre texto, voz y gesto en las audiencias</a:t>
            </a:r>
            <a:endParaRPr lang="en-US" sz="1350" dirty="0"/>
          </a:p>
        </p:txBody>
      </p:sp>
      <p:sp>
        <p:nvSpPr>
          <p:cNvPr id="21" name="Shape 19"/>
          <p:cNvSpPr/>
          <p:nvPr/>
        </p:nvSpPr>
        <p:spPr>
          <a:xfrm>
            <a:off x="4407408" y="4462272"/>
            <a:ext cx="4315968" cy="580000"/>
          </a:xfrm>
          <a:prstGeom prst="rect">
            <a:avLst/>
          </a:prstGeom>
          <a:solidFill>
            <a:srgbClr val="B8722A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2" name="Text 20"/>
          <p:cNvSpPr/>
          <p:nvPr/>
        </p:nvSpPr>
        <p:spPr>
          <a:xfrm>
            <a:off x="4553712" y="4489704"/>
            <a:ext cx="4023360" cy="50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CFH no reemplaza el análisis del magistrado — lo complementa con evidencia cuantitativa, auditable y replicable entre subcasos.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B8722A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" name="Text 1"/>
          <p:cNvSpPr/>
          <p:nvPr/>
        </p:nvSpPr>
        <p:spPr>
          <a:xfrm>
            <a:off x="457200" y="201168"/>
            <a:ext cx="8229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kern="0" spc="250" dirty="0">
                <a:solidFill>
                  <a:srgbClr val="B87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EVIDENCIA A ESCALA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457200" y="457200"/>
            <a:ext cx="83210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A2B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24 años del archivo judicial — procesados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960120"/>
            <a:ext cx="8229600" cy="13716"/>
          </a:xfrm>
          <a:prstGeom prst="rect">
            <a:avLst/>
          </a:prstGeom>
          <a:solidFill>
            <a:srgbClr val="DDE3E8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6" name="Shape 4"/>
          <p:cNvSpPr/>
          <p:nvPr/>
        </p:nvSpPr>
        <p:spPr>
          <a:xfrm>
            <a:off x="438912" y="1188720"/>
            <a:ext cx="4169664" cy="1783080"/>
          </a:xfrm>
          <a:prstGeom prst="rect">
            <a:avLst/>
          </a:prstGeom>
          <a:solidFill>
            <a:srgbClr val="F5F7F9"/>
          </a:solidFill>
          <a:ln w="6350">
            <a:solidFill>
              <a:srgbClr val="DDE3E8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7" name="Text 5"/>
          <p:cNvSpPr/>
          <p:nvPr/>
        </p:nvSpPr>
        <p:spPr>
          <a:xfrm>
            <a:off x="438912" y="1298448"/>
            <a:ext cx="4169664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800" b="1" dirty="0">
                <a:solidFill>
                  <a:srgbClr val="1A2B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309</a:t>
            </a:r>
            <a:endParaRPr lang="en-US" sz="6800" dirty="0"/>
          </a:p>
        </p:txBody>
      </p:sp>
      <p:sp>
        <p:nvSpPr>
          <p:cNvPr id="8" name="Text 6"/>
          <p:cNvSpPr/>
          <p:nvPr/>
        </p:nvSpPr>
        <p:spPr>
          <a:xfrm>
            <a:off x="438912" y="2267712"/>
            <a:ext cx="4169664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documentos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38912" y="2578608"/>
            <a:ext cx="416966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6B7F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 · CSJ · JEP · audiencias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809744" y="1188720"/>
            <a:ext cx="4169664" cy="1783080"/>
          </a:xfrm>
          <a:prstGeom prst="rect">
            <a:avLst/>
          </a:prstGeom>
          <a:solidFill>
            <a:srgbClr val="F5F7F9"/>
          </a:solidFill>
          <a:ln w="6350">
            <a:solidFill>
              <a:srgbClr val="DDE3E8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1" name="Text 9"/>
          <p:cNvSpPr/>
          <p:nvPr/>
        </p:nvSpPr>
        <p:spPr>
          <a:xfrm>
            <a:off x="4809744" y="1298448"/>
            <a:ext cx="4169664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800" b="1" dirty="0">
                <a:solidFill>
                  <a:srgbClr val="1A2B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5.585</a:t>
            </a:r>
            <a:endParaRPr lang="en-US" sz="6800" dirty="0"/>
          </a:p>
        </p:txBody>
      </p:sp>
      <p:sp>
        <p:nvSpPr>
          <p:cNvPr id="12" name="Text 10"/>
          <p:cNvSpPr/>
          <p:nvPr/>
        </p:nvSpPr>
        <p:spPr>
          <a:xfrm>
            <a:off x="4809744" y="2267712"/>
            <a:ext cx="4169664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bloques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4809744" y="2578608"/>
            <a:ext cx="416966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6B7F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unidad de análisis del sistema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38912" y="3154680"/>
            <a:ext cx="4169664" cy="1783080"/>
          </a:xfrm>
          <a:prstGeom prst="rect">
            <a:avLst/>
          </a:prstGeom>
          <a:solidFill>
            <a:srgbClr val="F5F7F9"/>
          </a:solidFill>
          <a:ln w="6350">
            <a:solidFill>
              <a:srgbClr val="DDE3E8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5" name="Text 13"/>
          <p:cNvSpPr/>
          <p:nvPr/>
        </p:nvSpPr>
        <p:spPr>
          <a:xfrm>
            <a:off x="438912" y="3264408"/>
            <a:ext cx="4169664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800" b="1" dirty="0">
                <a:solidFill>
                  <a:srgbClr val="1A2B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31.624</a:t>
            </a:r>
            <a:endParaRPr lang="en-US" sz="6800" dirty="0"/>
          </a:p>
        </p:txBody>
      </p:sp>
      <p:sp>
        <p:nvSpPr>
          <p:cNvPr id="16" name="Text 14"/>
          <p:cNvSpPr/>
          <p:nvPr/>
        </p:nvSpPr>
        <p:spPr>
          <a:xfrm>
            <a:off x="438912" y="4233672"/>
            <a:ext cx="4169664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indicadores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438912" y="4544568"/>
            <a:ext cx="416966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6B7F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y₁ a y₁₃ calculados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809744" y="3154680"/>
            <a:ext cx="4169664" cy="1783080"/>
          </a:xfrm>
          <a:prstGeom prst="rect">
            <a:avLst/>
          </a:prstGeom>
          <a:solidFill>
            <a:srgbClr val="F5F7F9"/>
          </a:solidFill>
          <a:ln w="6350">
            <a:solidFill>
              <a:srgbClr val="DDE3E8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9" name="Text 17"/>
          <p:cNvSpPr/>
          <p:nvPr/>
        </p:nvSpPr>
        <p:spPr>
          <a:xfrm>
            <a:off x="4809744" y="3264408"/>
            <a:ext cx="4169664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800" b="1" dirty="0">
                <a:solidFill>
                  <a:srgbClr val="1A2B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9.660</a:t>
            </a:r>
            <a:endParaRPr lang="en-US" sz="6800" dirty="0"/>
          </a:p>
        </p:txBody>
      </p:sp>
      <p:sp>
        <p:nvSpPr>
          <p:cNvPr id="20" name="Text 18"/>
          <p:cNvSpPr/>
          <p:nvPr/>
        </p:nvSpPr>
        <p:spPr>
          <a:xfrm>
            <a:off x="4809744" y="4233672"/>
            <a:ext cx="4169664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segmentos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4809744" y="4544568"/>
            <a:ext cx="416966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6B7F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voz + rostro por compareciente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57200" y="4956048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B7F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2000–2024  ·  12.3M caracteres procesados  ·  Corpora A + B + C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217920" cy="54864"/>
          </a:xfrm>
          <a:prstGeom prst="rect">
            <a:avLst/>
          </a:prstGeom>
          <a:solidFill>
            <a:srgbClr val="B8722A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" name="Text 1"/>
          <p:cNvSpPr/>
          <p:nvPr/>
        </p:nvSpPr>
        <p:spPr>
          <a:xfrm>
            <a:off x="457200" y="201168"/>
            <a:ext cx="53035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kern="0" spc="250" dirty="0">
                <a:solidFill>
                  <a:srgbClr val="B87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HALLAZGOS DESCRIPTIVOS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457200" y="457200"/>
            <a:ext cx="53949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A2B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Tres patrones del corpus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57200" y="987552"/>
            <a:ext cx="5303520" cy="13716"/>
          </a:xfrm>
          <a:prstGeom prst="rect">
            <a:avLst/>
          </a:prstGeom>
          <a:solidFill>
            <a:srgbClr val="DDE3E8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6" name="Text 4"/>
          <p:cNvSpPr/>
          <p:nvPr/>
        </p:nvSpPr>
        <p:spPr>
          <a:xfrm>
            <a:off x="438912" y="1078992"/>
            <a:ext cx="270662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B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REP por año — Corpus A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38912" y="1353312"/>
            <a:ext cx="270662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6B7F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¿Hay reconocimiento creciente en la justicia ordinaria?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6291072" y="1078992"/>
            <a:ext cx="270662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B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Action Units — Corpus C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291072" y="1353312"/>
            <a:ext cx="270662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6B7F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AU4 ceño (distress) vs AU12 sonrisa, por subcaso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3364992" y="1078992"/>
            <a:ext cx="270662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B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REP por bloque del auto — B-JEP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364992" y="1353312"/>
            <a:ext cx="270662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6B7F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¿Dónde aparece el reconocimiento dentro de la JEP?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438912" y="1810512"/>
            <a:ext cx="6583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F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2003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133856" y="1847088"/>
            <a:ext cx="1645920" cy="182880"/>
          </a:xfrm>
          <a:prstGeom prst="rect">
            <a:avLst/>
          </a:prstGeom>
          <a:solidFill>
            <a:srgbClr val="DDE3E8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4" name="Shape 12"/>
          <p:cNvSpPr/>
          <p:nvPr/>
        </p:nvSpPr>
        <p:spPr>
          <a:xfrm>
            <a:off x="1133856" y="1847088"/>
            <a:ext cx="1015653" cy="182880"/>
          </a:xfrm>
          <a:prstGeom prst="rect">
            <a:avLst/>
          </a:prstGeom>
          <a:solidFill>
            <a:srgbClr val="2E6A7C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5" name="Text 13"/>
          <p:cNvSpPr/>
          <p:nvPr/>
        </p:nvSpPr>
        <p:spPr>
          <a:xfrm>
            <a:off x="2186085" y="1810512"/>
            <a:ext cx="457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E6A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0.253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38912" y="2340864"/>
            <a:ext cx="6583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F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2009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133856" y="2377440"/>
            <a:ext cx="1645920" cy="182880"/>
          </a:xfrm>
          <a:prstGeom prst="rect">
            <a:avLst/>
          </a:prstGeom>
          <a:solidFill>
            <a:srgbClr val="DDE3E8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8" name="Shape 16"/>
          <p:cNvSpPr/>
          <p:nvPr/>
        </p:nvSpPr>
        <p:spPr>
          <a:xfrm>
            <a:off x="1133856" y="2377440"/>
            <a:ext cx="967480" cy="182880"/>
          </a:xfrm>
          <a:prstGeom prst="rect">
            <a:avLst/>
          </a:prstGeom>
          <a:solidFill>
            <a:srgbClr val="2E6A7C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9" name="Text 17"/>
          <p:cNvSpPr/>
          <p:nvPr/>
        </p:nvSpPr>
        <p:spPr>
          <a:xfrm>
            <a:off x="2137912" y="2340864"/>
            <a:ext cx="457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E6A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0.241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38912" y="2871216"/>
            <a:ext cx="6583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F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2014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1133856" y="2907792"/>
            <a:ext cx="1645920" cy="182880"/>
          </a:xfrm>
          <a:prstGeom prst="rect">
            <a:avLst/>
          </a:prstGeom>
          <a:solidFill>
            <a:srgbClr val="DDE3E8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2" name="Shape 20"/>
          <p:cNvSpPr/>
          <p:nvPr/>
        </p:nvSpPr>
        <p:spPr>
          <a:xfrm>
            <a:off x="1133856" y="2907792"/>
            <a:ext cx="268967" cy="182880"/>
          </a:xfrm>
          <a:prstGeom prst="rect">
            <a:avLst/>
          </a:prstGeom>
          <a:solidFill>
            <a:srgbClr val="2E6A7C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3" name="Text 21"/>
          <p:cNvSpPr/>
          <p:nvPr/>
        </p:nvSpPr>
        <p:spPr>
          <a:xfrm>
            <a:off x="1439399" y="2871216"/>
            <a:ext cx="457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E6A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0.067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438912" y="3401568"/>
            <a:ext cx="6583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F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2016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1133856" y="3438144"/>
            <a:ext cx="1645920" cy="182880"/>
          </a:xfrm>
          <a:prstGeom prst="rect">
            <a:avLst/>
          </a:prstGeom>
          <a:solidFill>
            <a:srgbClr val="DDE3E8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6" name="Shape 24"/>
          <p:cNvSpPr/>
          <p:nvPr/>
        </p:nvSpPr>
        <p:spPr>
          <a:xfrm>
            <a:off x="1133856" y="3438144"/>
            <a:ext cx="148534" cy="182880"/>
          </a:xfrm>
          <a:prstGeom prst="rect">
            <a:avLst/>
          </a:prstGeom>
          <a:solidFill>
            <a:srgbClr val="CC4444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7" name="Text 25"/>
          <p:cNvSpPr/>
          <p:nvPr/>
        </p:nvSpPr>
        <p:spPr>
          <a:xfrm>
            <a:off x="1318966" y="3401568"/>
            <a:ext cx="457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CC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0.037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438912" y="3931920"/>
            <a:ext cx="6583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F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2018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1133856" y="3968496"/>
            <a:ext cx="1645920" cy="182880"/>
          </a:xfrm>
          <a:prstGeom prst="rect">
            <a:avLst/>
          </a:prstGeom>
          <a:solidFill>
            <a:srgbClr val="DDE3E8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0" name="Shape 28"/>
          <p:cNvSpPr/>
          <p:nvPr/>
        </p:nvSpPr>
        <p:spPr>
          <a:xfrm>
            <a:off x="1133856" y="3968496"/>
            <a:ext cx="570050" cy="182880"/>
          </a:xfrm>
          <a:prstGeom prst="rect">
            <a:avLst/>
          </a:prstGeom>
          <a:solidFill>
            <a:srgbClr val="2E6A7C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1" name="Text 29"/>
          <p:cNvSpPr/>
          <p:nvPr/>
        </p:nvSpPr>
        <p:spPr>
          <a:xfrm>
            <a:off x="1740482" y="3931920"/>
            <a:ext cx="457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E6A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0.142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438912" y="4462272"/>
            <a:ext cx="6583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F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2021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1133856" y="4498848"/>
            <a:ext cx="1645920" cy="182880"/>
          </a:xfrm>
          <a:prstGeom prst="rect">
            <a:avLst/>
          </a:prstGeom>
          <a:solidFill>
            <a:srgbClr val="DDE3E8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4" name="Shape 32"/>
          <p:cNvSpPr/>
          <p:nvPr/>
        </p:nvSpPr>
        <p:spPr>
          <a:xfrm>
            <a:off x="1133856" y="4498848"/>
            <a:ext cx="1633877" cy="182880"/>
          </a:xfrm>
          <a:prstGeom prst="rect">
            <a:avLst/>
          </a:prstGeom>
          <a:solidFill>
            <a:srgbClr val="B8722A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5" name="Text 33"/>
          <p:cNvSpPr/>
          <p:nvPr/>
        </p:nvSpPr>
        <p:spPr>
          <a:xfrm>
            <a:off x="2804309" y="4462272"/>
            <a:ext cx="457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B87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0.407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438912" y="4937760"/>
            <a:ext cx="2706624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B7F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↑ 2021: 0.407   ↓ 2016: 0.037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6291072" y="1737360"/>
            <a:ext cx="25603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B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Casanare</a:t>
            </a:r>
            <a:endParaRPr 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6291072" y="2011680"/>
            <a:ext cx="1417320" cy="164592"/>
          </a:xfrm>
          <a:prstGeom prst="rect">
            <a:avLst/>
          </a:prstGeom>
          <a:solidFill>
            <a:srgbClr val="DDE3E8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9" name="Shape 37"/>
          <p:cNvSpPr/>
          <p:nvPr/>
        </p:nvSpPr>
        <p:spPr>
          <a:xfrm>
            <a:off x="6291072" y="2011680"/>
            <a:ext cx="269291" cy="164592"/>
          </a:xfrm>
          <a:prstGeom prst="rect">
            <a:avLst/>
          </a:prstGeom>
          <a:solidFill>
            <a:srgbClr val="2E6A7C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40" name="Text 38"/>
          <p:cNvSpPr/>
          <p:nvPr/>
        </p:nvSpPr>
        <p:spPr>
          <a:xfrm>
            <a:off x="7744968" y="1975104"/>
            <a:ext cx="3840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E6A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0.076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6291072" y="2231136"/>
            <a:ext cx="1417320" cy="164592"/>
          </a:xfrm>
          <a:prstGeom prst="rect">
            <a:avLst/>
          </a:prstGeom>
          <a:solidFill>
            <a:srgbClr val="DDE3E8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42" name="Shape 40"/>
          <p:cNvSpPr/>
          <p:nvPr/>
        </p:nvSpPr>
        <p:spPr>
          <a:xfrm>
            <a:off x="6291072" y="2231136"/>
            <a:ext cx="322440" cy="164592"/>
          </a:xfrm>
          <a:prstGeom prst="rect">
            <a:avLst/>
          </a:prstGeom>
          <a:solidFill>
            <a:srgbClr val="B8722A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43" name="Text 41"/>
          <p:cNvSpPr/>
          <p:nvPr/>
        </p:nvSpPr>
        <p:spPr>
          <a:xfrm>
            <a:off x="7744968" y="2194560"/>
            <a:ext cx="3840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B87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0.091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6291072" y="2542032"/>
            <a:ext cx="25603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B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Catatumbo</a:t>
            </a:r>
            <a:endParaRPr lang="en-US" sz="1200" dirty="0"/>
          </a:p>
        </p:txBody>
      </p:sp>
      <p:sp>
        <p:nvSpPr>
          <p:cNvPr id="45" name="Shape 43"/>
          <p:cNvSpPr/>
          <p:nvPr/>
        </p:nvSpPr>
        <p:spPr>
          <a:xfrm>
            <a:off x="6291072" y="2816352"/>
            <a:ext cx="1417320" cy="164592"/>
          </a:xfrm>
          <a:prstGeom prst="rect">
            <a:avLst/>
          </a:prstGeom>
          <a:solidFill>
            <a:srgbClr val="DDE3E8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46" name="Shape 44"/>
          <p:cNvSpPr/>
          <p:nvPr/>
        </p:nvSpPr>
        <p:spPr>
          <a:xfrm>
            <a:off x="6291072" y="2816352"/>
            <a:ext cx="740550" cy="164592"/>
          </a:xfrm>
          <a:prstGeom prst="rect">
            <a:avLst/>
          </a:prstGeom>
          <a:solidFill>
            <a:srgbClr val="2E6A7C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47" name="Text 45"/>
          <p:cNvSpPr/>
          <p:nvPr/>
        </p:nvSpPr>
        <p:spPr>
          <a:xfrm>
            <a:off x="7744968" y="2779776"/>
            <a:ext cx="3840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E6A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0.209</a:t>
            </a:r>
            <a:endParaRPr lang="en-US" sz="1000" dirty="0"/>
          </a:p>
        </p:txBody>
      </p:sp>
      <p:sp>
        <p:nvSpPr>
          <p:cNvPr id="48" name="Shape 46"/>
          <p:cNvSpPr/>
          <p:nvPr/>
        </p:nvSpPr>
        <p:spPr>
          <a:xfrm>
            <a:off x="6291072" y="3035808"/>
            <a:ext cx="1417320" cy="164592"/>
          </a:xfrm>
          <a:prstGeom prst="rect">
            <a:avLst/>
          </a:prstGeom>
          <a:solidFill>
            <a:srgbClr val="DDE3E8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49" name="Shape 47"/>
          <p:cNvSpPr/>
          <p:nvPr/>
        </p:nvSpPr>
        <p:spPr>
          <a:xfrm>
            <a:off x="6291072" y="3035808"/>
            <a:ext cx="336614" cy="164592"/>
          </a:xfrm>
          <a:prstGeom prst="rect">
            <a:avLst/>
          </a:prstGeom>
          <a:solidFill>
            <a:srgbClr val="B8722A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50" name="Text 48"/>
          <p:cNvSpPr/>
          <p:nvPr/>
        </p:nvSpPr>
        <p:spPr>
          <a:xfrm>
            <a:off x="7744968" y="2999232"/>
            <a:ext cx="3840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B87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0.095</a:t>
            </a:r>
            <a:endParaRPr lang="en-US" sz="1000" dirty="0"/>
          </a:p>
        </p:txBody>
      </p:sp>
      <p:sp>
        <p:nvSpPr>
          <p:cNvPr id="51" name="Text 49"/>
          <p:cNvSpPr/>
          <p:nvPr/>
        </p:nvSpPr>
        <p:spPr>
          <a:xfrm>
            <a:off x="6291072" y="3346704"/>
            <a:ext cx="25603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B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Huila</a:t>
            </a:r>
            <a:endParaRPr lang="en-US" sz="1200" dirty="0"/>
          </a:p>
        </p:txBody>
      </p:sp>
      <p:sp>
        <p:nvSpPr>
          <p:cNvPr id="52" name="Shape 50"/>
          <p:cNvSpPr/>
          <p:nvPr/>
        </p:nvSpPr>
        <p:spPr>
          <a:xfrm>
            <a:off x="6291072" y="3621024"/>
            <a:ext cx="1417320" cy="164592"/>
          </a:xfrm>
          <a:prstGeom prst="rect">
            <a:avLst/>
          </a:prstGeom>
          <a:solidFill>
            <a:srgbClr val="DDE3E8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53" name="Shape 51"/>
          <p:cNvSpPr/>
          <p:nvPr/>
        </p:nvSpPr>
        <p:spPr>
          <a:xfrm>
            <a:off x="6291072" y="3621024"/>
            <a:ext cx="892912" cy="164592"/>
          </a:xfrm>
          <a:prstGeom prst="rect">
            <a:avLst/>
          </a:prstGeom>
          <a:solidFill>
            <a:srgbClr val="2E6A7C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54" name="Text 52"/>
          <p:cNvSpPr/>
          <p:nvPr/>
        </p:nvSpPr>
        <p:spPr>
          <a:xfrm>
            <a:off x="7744968" y="3584448"/>
            <a:ext cx="3840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E6A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0.252</a:t>
            </a:r>
            <a:endParaRPr lang="en-US" sz="1000" dirty="0"/>
          </a:p>
        </p:txBody>
      </p:sp>
      <p:sp>
        <p:nvSpPr>
          <p:cNvPr id="55" name="Shape 53"/>
          <p:cNvSpPr/>
          <p:nvPr/>
        </p:nvSpPr>
        <p:spPr>
          <a:xfrm>
            <a:off x="6291072" y="3840480"/>
            <a:ext cx="1417320" cy="164592"/>
          </a:xfrm>
          <a:prstGeom prst="rect">
            <a:avLst/>
          </a:prstGeom>
          <a:solidFill>
            <a:srgbClr val="DDE3E8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56" name="Shape 54"/>
          <p:cNvSpPr/>
          <p:nvPr/>
        </p:nvSpPr>
        <p:spPr>
          <a:xfrm>
            <a:off x="6291072" y="3840480"/>
            <a:ext cx="297637" cy="164592"/>
          </a:xfrm>
          <a:prstGeom prst="rect">
            <a:avLst/>
          </a:prstGeom>
          <a:solidFill>
            <a:srgbClr val="B8722A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57" name="Text 55"/>
          <p:cNvSpPr/>
          <p:nvPr/>
        </p:nvSpPr>
        <p:spPr>
          <a:xfrm>
            <a:off x="7744968" y="3803904"/>
            <a:ext cx="3840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B87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0.084</a:t>
            </a:r>
            <a:endParaRPr lang="en-US" sz="1000" dirty="0"/>
          </a:p>
        </p:txBody>
      </p:sp>
      <p:sp>
        <p:nvSpPr>
          <p:cNvPr id="58" name="Text 56"/>
          <p:cNvSpPr/>
          <p:nvPr/>
        </p:nvSpPr>
        <p:spPr>
          <a:xfrm>
            <a:off x="6291072" y="4151376"/>
            <a:ext cx="25603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B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Dabeiba</a:t>
            </a:r>
            <a:endParaRPr lang="en-US" sz="1200" dirty="0"/>
          </a:p>
        </p:txBody>
      </p:sp>
      <p:sp>
        <p:nvSpPr>
          <p:cNvPr id="59" name="Shape 57"/>
          <p:cNvSpPr/>
          <p:nvPr/>
        </p:nvSpPr>
        <p:spPr>
          <a:xfrm>
            <a:off x="6291072" y="4425696"/>
            <a:ext cx="1417320" cy="164592"/>
          </a:xfrm>
          <a:prstGeom prst="rect">
            <a:avLst/>
          </a:prstGeom>
          <a:solidFill>
            <a:srgbClr val="DDE3E8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60" name="Shape 58"/>
          <p:cNvSpPr/>
          <p:nvPr/>
        </p:nvSpPr>
        <p:spPr>
          <a:xfrm>
            <a:off x="6291072" y="4425696"/>
            <a:ext cx="1303934" cy="164592"/>
          </a:xfrm>
          <a:prstGeom prst="rect">
            <a:avLst/>
          </a:prstGeom>
          <a:solidFill>
            <a:srgbClr val="2E6A7C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61" name="Text 59"/>
          <p:cNvSpPr/>
          <p:nvPr/>
        </p:nvSpPr>
        <p:spPr>
          <a:xfrm>
            <a:off x="7744968" y="4389120"/>
            <a:ext cx="3840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E6A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0.368</a:t>
            </a:r>
            <a:endParaRPr lang="en-US" sz="1000" dirty="0"/>
          </a:p>
        </p:txBody>
      </p:sp>
      <p:sp>
        <p:nvSpPr>
          <p:cNvPr id="62" name="Shape 60"/>
          <p:cNvSpPr/>
          <p:nvPr/>
        </p:nvSpPr>
        <p:spPr>
          <a:xfrm>
            <a:off x="6291072" y="4645152"/>
            <a:ext cx="1417320" cy="164592"/>
          </a:xfrm>
          <a:prstGeom prst="rect">
            <a:avLst/>
          </a:prstGeom>
          <a:solidFill>
            <a:srgbClr val="DDE3E8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63" name="Shape 61"/>
          <p:cNvSpPr/>
          <p:nvPr/>
        </p:nvSpPr>
        <p:spPr>
          <a:xfrm>
            <a:off x="6291072" y="4645152"/>
            <a:ext cx="350787" cy="164592"/>
          </a:xfrm>
          <a:prstGeom prst="rect">
            <a:avLst/>
          </a:prstGeom>
          <a:solidFill>
            <a:srgbClr val="B8722A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64" name="Text 62"/>
          <p:cNvSpPr/>
          <p:nvPr/>
        </p:nvSpPr>
        <p:spPr>
          <a:xfrm>
            <a:off x="7744968" y="4608576"/>
            <a:ext cx="3840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B87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0.099</a:t>
            </a:r>
            <a:endParaRPr lang="en-US" sz="1000" dirty="0"/>
          </a:p>
        </p:txBody>
      </p:sp>
      <p:sp>
        <p:nvSpPr>
          <p:cNvPr id="65" name="Shape 63"/>
          <p:cNvSpPr/>
          <p:nvPr/>
        </p:nvSpPr>
        <p:spPr>
          <a:xfrm>
            <a:off x="6291072" y="4956048"/>
            <a:ext cx="146304" cy="91440"/>
          </a:xfrm>
          <a:prstGeom prst="rect">
            <a:avLst/>
          </a:prstGeom>
          <a:solidFill>
            <a:srgbClr val="2E6A7C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66" name="Text 64"/>
          <p:cNvSpPr/>
          <p:nvPr/>
        </p:nvSpPr>
        <p:spPr>
          <a:xfrm>
            <a:off x="6473952" y="4928616"/>
            <a:ext cx="8229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E6A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AU4 ceño</a:t>
            </a:r>
            <a:endParaRPr lang="en-US" sz="950" dirty="0"/>
          </a:p>
        </p:txBody>
      </p:sp>
      <p:sp>
        <p:nvSpPr>
          <p:cNvPr id="67" name="Shape 65"/>
          <p:cNvSpPr/>
          <p:nvPr/>
        </p:nvSpPr>
        <p:spPr>
          <a:xfrm>
            <a:off x="7388352" y="4956048"/>
            <a:ext cx="146304" cy="91440"/>
          </a:xfrm>
          <a:prstGeom prst="rect">
            <a:avLst/>
          </a:prstGeom>
          <a:solidFill>
            <a:srgbClr val="B8722A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68" name="Text 66"/>
          <p:cNvSpPr/>
          <p:nvPr/>
        </p:nvSpPr>
        <p:spPr>
          <a:xfrm>
            <a:off x="7571232" y="4928616"/>
            <a:ext cx="8229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B87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AU12 sonrisa</a:t>
            </a:r>
            <a:endParaRPr lang="en-US" sz="950" dirty="0"/>
          </a:p>
        </p:txBody>
      </p:sp>
      <p:sp>
        <p:nvSpPr>
          <p:cNvPr id="69" name="Text 67"/>
          <p:cNvSpPr/>
          <p:nvPr/>
        </p:nvSpPr>
        <p:spPr>
          <a:xfrm>
            <a:off x="3364992" y="1737360"/>
            <a:ext cx="2651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C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PATRONES_MACRO</a:t>
            </a:r>
            <a:endParaRPr lang="en-US" sz="1100" dirty="0"/>
          </a:p>
        </p:txBody>
      </p:sp>
      <p:sp>
        <p:nvSpPr>
          <p:cNvPr id="70" name="Shape 68"/>
          <p:cNvSpPr/>
          <p:nvPr/>
        </p:nvSpPr>
        <p:spPr>
          <a:xfrm>
            <a:off x="3364992" y="2029968"/>
            <a:ext cx="2286000" cy="219456"/>
          </a:xfrm>
          <a:prstGeom prst="rect">
            <a:avLst/>
          </a:prstGeom>
          <a:solidFill>
            <a:srgbClr val="DDE3E8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71" name="Text 69"/>
          <p:cNvSpPr/>
          <p:nvPr/>
        </p:nvSpPr>
        <p:spPr>
          <a:xfrm>
            <a:off x="3401568" y="199339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C44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0.000</a:t>
            </a:r>
            <a:endParaRPr lang="en-US" sz="1200" dirty="0"/>
          </a:p>
        </p:txBody>
      </p:sp>
      <p:sp>
        <p:nvSpPr>
          <p:cNvPr id="72" name="Text 70"/>
          <p:cNvSpPr/>
          <p:nvPr/>
        </p:nvSpPr>
        <p:spPr>
          <a:xfrm>
            <a:off x="3364992" y="2542032"/>
            <a:ext cx="2651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E6A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HECHOS_Y_COND.</a:t>
            </a:r>
            <a:endParaRPr lang="en-US" sz="1100" dirty="0"/>
          </a:p>
        </p:txBody>
      </p:sp>
      <p:sp>
        <p:nvSpPr>
          <p:cNvPr id="73" name="Shape 71"/>
          <p:cNvSpPr/>
          <p:nvPr/>
        </p:nvSpPr>
        <p:spPr>
          <a:xfrm>
            <a:off x="3364992" y="2834640"/>
            <a:ext cx="2286000" cy="219456"/>
          </a:xfrm>
          <a:prstGeom prst="rect">
            <a:avLst/>
          </a:prstGeom>
          <a:solidFill>
            <a:srgbClr val="DDE3E8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74" name="Shape 72"/>
          <p:cNvSpPr/>
          <p:nvPr/>
        </p:nvSpPr>
        <p:spPr>
          <a:xfrm>
            <a:off x="3364992" y="2834640"/>
            <a:ext cx="306659" cy="219456"/>
          </a:xfrm>
          <a:prstGeom prst="rect">
            <a:avLst/>
          </a:prstGeom>
          <a:solidFill>
            <a:srgbClr val="2E6A7C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75" name="Text 73"/>
          <p:cNvSpPr/>
          <p:nvPr/>
        </p:nvSpPr>
        <p:spPr>
          <a:xfrm>
            <a:off x="3708227" y="2798064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E6A7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0.055</a:t>
            </a:r>
            <a:endParaRPr lang="en-US" sz="1200" dirty="0"/>
          </a:p>
        </p:txBody>
      </p:sp>
      <p:sp>
        <p:nvSpPr>
          <p:cNvPr id="76" name="Text 74"/>
          <p:cNvSpPr/>
          <p:nvPr/>
        </p:nvSpPr>
        <p:spPr>
          <a:xfrm>
            <a:off x="3364992" y="3346704"/>
            <a:ext cx="2651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E6A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RECONOCIMIENTO</a:t>
            </a:r>
            <a:endParaRPr lang="en-US" sz="1100" dirty="0"/>
          </a:p>
        </p:txBody>
      </p:sp>
      <p:sp>
        <p:nvSpPr>
          <p:cNvPr id="77" name="Shape 75"/>
          <p:cNvSpPr/>
          <p:nvPr/>
        </p:nvSpPr>
        <p:spPr>
          <a:xfrm>
            <a:off x="3364992" y="3639312"/>
            <a:ext cx="2286000" cy="219456"/>
          </a:xfrm>
          <a:prstGeom prst="rect">
            <a:avLst/>
          </a:prstGeom>
          <a:solidFill>
            <a:srgbClr val="DDE3E8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78" name="Shape 76"/>
          <p:cNvSpPr/>
          <p:nvPr/>
        </p:nvSpPr>
        <p:spPr>
          <a:xfrm>
            <a:off x="3364992" y="3639312"/>
            <a:ext cx="1064941" cy="219456"/>
          </a:xfrm>
          <a:prstGeom prst="rect">
            <a:avLst/>
          </a:prstGeom>
          <a:solidFill>
            <a:srgbClr val="2E6A7C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79" name="Text 77"/>
          <p:cNvSpPr/>
          <p:nvPr/>
        </p:nvSpPr>
        <p:spPr>
          <a:xfrm>
            <a:off x="4466509" y="3602736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E6A7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0.191</a:t>
            </a:r>
            <a:endParaRPr lang="en-US" sz="1200" dirty="0"/>
          </a:p>
        </p:txBody>
      </p:sp>
      <p:sp>
        <p:nvSpPr>
          <p:cNvPr id="80" name="Text 78"/>
          <p:cNvSpPr/>
          <p:nvPr/>
        </p:nvSpPr>
        <p:spPr>
          <a:xfrm>
            <a:off x="3364992" y="4151376"/>
            <a:ext cx="2651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B87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CONTRIB_VERDAD</a:t>
            </a:r>
            <a:endParaRPr lang="en-US" sz="1100" dirty="0"/>
          </a:p>
        </p:txBody>
      </p:sp>
      <p:sp>
        <p:nvSpPr>
          <p:cNvPr id="81" name="Shape 79"/>
          <p:cNvSpPr/>
          <p:nvPr/>
        </p:nvSpPr>
        <p:spPr>
          <a:xfrm>
            <a:off x="3364992" y="4443984"/>
            <a:ext cx="2286000" cy="219456"/>
          </a:xfrm>
          <a:prstGeom prst="rect">
            <a:avLst/>
          </a:prstGeom>
          <a:solidFill>
            <a:srgbClr val="DDE3E8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82" name="Shape 80"/>
          <p:cNvSpPr/>
          <p:nvPr/>
        </p:nvSpPr>
        <p:spPr>
          <a:xfrm>
            <a:off x="3364992" y="4443984"/>
            <a:ext cx="2263698" cy="219456"/>
          </a:xfrm>
          <a:prstGeom prst="rect">
            <a:avLst/>
          </a:prstGeom>
          <a:solidFill>
            <a:srgbClr val="B8722A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83" name="Text 81"/>
          <p:cNvSpPr/>
          <p:nvPr/>
        </p:nvSpPr>
        <p:spPr>
          <a:xfrm>
            <a:off x="5665266" y="4407408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B872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0.406</a:t>
            </a:r>
            <a:endParaRPr lang="en-US" sz="1200" dirty="0"/>
          </a:p>
        </p:txBody>
      </p:sp>
      <p:sp>
        <p:nvSpPr>
          <p:cNvPr id="84" name="Text 82"/>
          <p:cNvSpPr/>
          <p:nvPr/>
        </p:nvSpPr>
        <p:spPr>
          <a:xfrm>
            <a:off x="3364992" y="4937760"/>
            <a:ext cx="26517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6B7F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 = 0.000 en PATRONES  ·  REP = 0.406 en CONTRIBUCION_VERDAD</a:t>
            </a:r>
            <a:endParaRPr lang="en-US" sz="950" dirty="0"/>
          </a:p>
        </p:txBody>
      </p:sp>
      <p:sp>
        <p:nvSpPr>
          <p:cNvPr id="85" name="Shape 83"/>
          <p:cNvSpPr/>
          <p:nvPr/>
        </p:nvSpPr>
        <p:spPr>
          <a:xfrm>
            <a:off x="6199632" y="1078992"/>
            <a:ext cx="13716" cy="4114800"/>
          </a:xfrm>
          <a:prstGeom prst="rect">
            <a:avLst/>
          </a:prstGeom>
          <a:solidFill>
            <a:srgbClr val="DDE3E8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86" name="Shape 84"/>
          <p:cNvSpPr/>
          <p:nvPr/>
        </p:nvSpPr>
        <p:spPr>
          <a:xfrm>
            <a:off x="3273552" y="1078992"/>
            <a:ext cx="13716" cy="4114800"/>
          </a:xfrm>
          <a:prstGeom prst="rect">
            <a:avLst/>
          </a:prstGeom>
          <a:solidFill>
            <a:srgbClr val="DDE3E8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B8722A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" name="Text 1"/>
          <p:cNvSpPr/>
          <p:nvPr/>
        </p:nvSpPr>
        <p:spPr>
          <a:xfrm>
            <a:off x="457200" y="201168"/>
            <a:ext cx="8229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kern="0" spc="250" dirty="0">
                <a:solidFill>
                  <a:srgbClr val="B87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HALLAZGO 1 DE 3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457200" y="457200"/>
            <a:ext cx="83210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A2B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 de 9 indicadores confirman la brecha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57200" y="960120"/>
            <a:ext cx="8229600" cy="13716"/>
          </a:xfrm>
          <a:prstGeom prst="rect">
            <a:avLst/>
          </a:prstGeom>
          <a:solidFill>
            <a:srgbClr val="DDE3E8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6" name="Shape 4"/>
          <p:cNvSpPr/>
          <p:nvPr/>
        </p:nvSpPr>
        <p:spPr>
          <a:xfrm>
            <a:off x="457200" y="1143000"/>
            <a:ext cx="3200400" cy="3566160"/>
          </a:xfrm>
          <a:prstGeom prst="rect">
            <a:avLst/>
          </a:prstGeom>
          <a:solidFill>
            <a:srgbClr val="F5F7F9"/>
          </a:solidFill>
          <a:ln w="6350">
            <a:solidFill>
              <a:srgbClr val="DDE3E8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7" name="Text 5"/>
          <p:cNvSpPr/>
          <p:nvPr/>
        </p:nvSpPr>
        <p:spPr>
          <a:xfrm>
            <a:off x="457200" y="1325880"/>
            <a:ext cx="32004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600" b="1" dirty="0">
                <a:solidFill>
                  <a:srgbClr val="B872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8/9</a:t>
            </a:r>
            <a:endParaRPr lang="en-US" sz="9600" dirty="0"/>
          </a:p>
        </p:txBody>
      </p:sp>
      <p:sp>
        <p:nvSpPr>
          <p:cNvPr id="8" name="Text 6"/>
          <p:cNvSpPr/>
          <p:nvPr/>
        </p:nvSpPr>
        <p:spPr>
          <a:xfrm>
            <a:off x="457200" y="3090672"/>
            <a:ext cx="320040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6B7F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indicadores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dirty="0">
                <a:solidFill>
                  <a:srgbClr val="6B7F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significativos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57200" y="3584448"/>
            <a:ext cx="3200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B87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 &lt; 0.001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457200" y="3977640"/>
            <a:ext cx="32004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 temporal confirmado: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i="1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brecha estructural, no artefacto del período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886200" y="1143000"/>
            <a:ext cx="4846320" cy="1920240"/>
          </a:xfrm>
          <a:prstGeom prst="rect">
            <a:avLst/>
          </a:prstGeom>
          <a:solidFill>
            <a:srgbClr val="1A2B3C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2" name="Text 10"/>
          <p:cNvSpPr/>
          <p:nvPr/>
        </p:nvSpPr>
        <p:spPr>
          <a:xfrm>
            <a:off x="4114800" y="1261872"/>
            <a:ext cx="43891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B872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Predictor más fuerte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114800" y="1572768"/>
            <a:ext cx="438912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5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β = −5.337</a:t>
            </a:r>
            <a:endParaRPr lang="en-US" sz="5200" dirty="0"/>
          </a:p>
        </p:txBody>
      </p:sp>
      <p:sp>
        <p:nvSpPr>
          <p:cNvPr id="14" name="Text 12"/>
          <p:cNvSpPr/>
          <p:nvPr/>
        </p:nvSpPr>
        <p:spPr>
          <a:xfrm>
            <a:off x="4114800" y="2304288"/>
            <a:ext cx="4389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y₃ distancia léxico-civil → REP  ·  p &lt; 0.001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114800" y="2578608"/>
            <a:ext cx="43891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transición opera adoptando el léxico de las víctimas — no eliminando el encubrimiento.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3886200" y="3200400"/>
            <a:ext cx="2304288" cy="1508760"/>
          </a:xfrm>
          <a:prstGeom prst="rect">
            <a:avLst/>
          </a:prstGeom>
          <a:solidFill>
            <a:srgbClr val="F5F7F9"/>
          </a:solidFill>
          <a:ln w="6350">
            <a:solidFill>
              <a:srgbClr val="DDE3E8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7" name="Text 15"/>
          <p:cNvSpPr/>
          <p:nvPr/>
        </p:nvSpPr>
        <p:spPr>
          <a:xfrm>
            <a:off x="3977640" y="3310128"/>
            <a:ext cx="212140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F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 — Justicia ordinaria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3977640" y="3566160"/>
            <a:ext cx="2121408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200" b="1" dirty="0">
                <a:solidFill>
                  <a:srgbClr val="7A1E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0.086</a:t>
            </a:r>
            <a:endParaRPr lang="en-US" sz="5200" dirty="0"/>
          </a:p>
        </p:txBody>
      </p:sp>
      <p:sp>
        <p:nvSpPr>
          <p:cNvPr id="19" name="Text 17"/>
          <p:cNvSpPr/>
          <p:nvPr/>
        </p:nvSpPr>
        <p:spPr>
          <a:xfrm>
            <a:off x="3977640" y="4279392"/>
            <a:ext cx="212140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B7F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428232" y="3200400"/>
            <a:ext cx="2304288" cy="1508760"/>
          </a:xfrm>
          <a:prstGeom prst="rect">
            <a:avLst/>
          </a:prstGeom>
          <a:solidFill>
            <a:srgbClr val="F5F7F9"/>
          </a:solidFill>
          <a:ln w="6350">
            <a:solidFill>
              <a:srgbClr val="DDE3E8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1" name="Text 19"/>
          <p:cNvSpPr/>
          <p:nvPr/>
        </p:nvSpPr>
        <p:spPr>
          <a:xfrm>
            <a:off x="6519672" y="3310128"/>
            <a:ext cx="212140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F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 — JEP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519672" y="3566160"/>
            <a:ext cx="2121408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200" b="1" dirty="0">
                <a:solidFill>
                  <a:srgbClr val="1A4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0.153</a:t>
            </a:r>
            <a:endParaRPr lang="en-US" sz="5200" dirty="0"/>
          </a:p>
        </p:txBody>
      </p:sp>
      <p:sp>
        <p:nvSpPr>
          <p:cNvPr id="23" name="Text 21"/>
          <p:cNvSpPr/>
          <p:nvPr/>
        </p:nvSpPr>
        <p:spPr>
          <a:xfrm>
            <a:off x="6519672" y="4279392"/>
            <a:ext cx="212140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B87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+78%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B8722A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" name="Text 1"/>
          <p:cNvSpPr/>
          <p:nvPr/>
        </p:nvSpPr>
        <p:spPr>
          <a:xfrm>
            <a:off x="457200" y="201168"/>
            <a:ext cx="8229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kern="0" spc="250" dirty="0">
                <a:solidFill>
                  <a:srgbClr val="B87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HALLAZGO 2 DE 3  ·  CASO CATATUMBO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457200" y="457200"/>
            <a:ext cx="83210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A2B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Decir lo correcto ≠ hablar desde las víctimas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57200" y="960120"/>
            <a:ext cx="8229600" cy="13716"/>
          </a:xfrm>
          <a:prstGeom prst="rect">
            <a:avLst/>
          </a:prstGeom>
          <a:solidFill>
            <a:srgbClr val="DDE3E8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6" name="Shape 4"/>
          <p:cNvSpPr/>
          <p:nvPr/>
        </p:nvSpPr>
        <p:spPr>
          <a:xfrm>
            <a:off x="457200" y="1143000"/>
            <a:ext cx="3931920" cy="2743200"/>
          </a:xfrm>
          <a:prstGeom prst="rect">
            <a:avLst/>
          </a:prstGeom>
          <a:solidFill>
            <a:srgbClr val="F5F7F9"/>
          </a:solidFill>
          <a:ln w="6350">
            <a:solidFill>
              <a:srgbClr val="DDE3E8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7" name="Text 5"/>
          <p:cNvSpPr/>
          <p:nvPr/>
        </p:nvSpPr>
        <p:spPr>
          <a:xfrm>
            <a:off x="457200" y="1261872"/>
            <a:ext cx="39319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E6A7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DIS Score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7200" y="1609344"/>
            <a:ext cx="39319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6B7F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Injusticia discursiva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dirty="0">
                <a:solidFill>
                  <a:srgbClr val="6B7F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(gramática + léxico)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57200" y="2084832"/>
            <a:ext cx="3931920" cy="10789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800" b="1" dirty="0">
                <a:solidFill>
                  <a:srgbClr val="1A4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0.110</a:t>
            </a:r>
            <a:endParaRPr lang="en-US" sz="8800" dirty="0"/>
          </a:p>
        </p:txBody>
      </p:sp>
      <p:sp>
        <p:nvSpPr>
          <p:cNvPr id="10" name="Text 8"/>
          <p:cNvSpPr/>
          <p:nvPr/>
        </p:nvSpPr>
        <p:spPr>
          <a:xfrm>
            <a:off x="457200" y="3145536"/>
            <a:ext cx="39319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1A4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baja injusticia gramatical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457200" y="3621024"/>
            <a:ext cx="3931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1A4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4754880" y="1143000"/>
            <a:ext cx="3931920" cy="2743200"/>
          </a:xfrm>
          <a:prstGeom prst="rect">
            <a:avLst/>
          </a:prstGeom>
          <a:solidFill>
            <a:srgbClr val="1A2B3C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3" name="Text 11"/>
          <p:cNvSpPr/>
          <p:nvPr/>
        </p:nvSpPr>
        <p:spPr>
          <a:xfrm>
            <a:off x="4754880" y="1261872"/>
            <a:ext cx="39319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B872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IEI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754880" y="1609344"/>
            <a:ext cx="39319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Distancia semántica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 léxico de las víctimas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754880" y="2084832"/>
            <a:ext cx="3931920" cy="10789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800" b="1" dirty="0">
                <a:solidFill>
                  <a:srgbClr val="B872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0.624</a:t>
            </a:r>
            <a:endParaRPr lang="en-US" sz="8800" dirty="0"/>
          </a:p>
        </p:txBody>
      </p:sp>
      <p:sp>
        <p:nvSpPr>
          <p:cNvPr id="16" name="Text 14"/>
          <p:cNvSpPr/>
          <p:nvPr/>
        </p:nvSpPr>
        <p:spPr>
          <a:xfrm>
            <a:off x="4754880" y="3145536"/>
            <a:ext cx="39319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B87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ALTA injusticia epistémica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4754880" y="3621024"/>
            <a:ext cx="3931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B87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↑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457200" y="4041648"/>
            <a:ext cx="8229600" cy="749808"/>
          </a:xfrm>
          <a:prstGeom prst="rect">
            <a:avLst/>
          </a:prstGeom>
          <a:solidFill>
            <a:srgbClr val="F5F7F9"/>
          </a:solidFill>
          <a:ln w="6350">
            <a:solidFill>
              <a:srgbClr val="DDE3E8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9" name="Shape 17"/>
          <p:cNvSpPr/>
          <p:nvPr/>
        </p:nvSpPr>
        <p:spPr>
          <a:xfrm>
            <a:off x="457200" y="4041648"/>
            <a:ext cx="45720" cy="749808"/>
          </a:xfrm>
          <a:prstGeom prst="rect">
            <a:avLst/>
          </a:prstGeom>
          <a:solidFill>
            <a:srgbClr val="B8722A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0" name="Text 18"/>
          <p:cNvSpPr/>
          <p:nvPr/>
        </p:nvSpPr>
        <p:spPr>
          <a:xfrm>
            <a:off x="685800" y="4133088"/>
            <a:ext cx="78638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B87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Δ = 0.514  ·  </a:t>
            </a:r>
            <a:r>
              <a:rPr lang="en-US" sz="15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Capitán Chaparro reduce su injusticia gramatical pero permanece semánticamente distante del léxico de las víctimas. Reducir el encubrimiento no es lo mismo que adoptar la verdad de las víctimas.</a:t>
            </a:r>
            <a:endParaRPr lang="en-US" sz="15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B8722A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" name="Text 1"/>
          <p:cNvSpPr/>
          <p:nvPr/>
        </p:nvSpPr>
        <p:spPr>
          <a:xfrm>
            <a:off x="457200" y="201168"/>
            <a:ext cx="8229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kern="0" spc="250" dirty="0">
                <a:solidFill>
                  <a:srgbClr val="B87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HALLAZGO 3 DE 3  ·  ICM TRI-CANAL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457200" y="457200"/>
            <a:ext cx="83210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A2B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Palabras, voz y cuerpo no siempre dicen lo mismo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57200" y="960120"/>
            <a:ext cx="8229600" cy="13716"/>
          </a:xfrm>
          <a:prstGeom prst="rect">
            <a:avLst/>
          </a:prstGeom>
          <a:solidFill>
            <a:srgbClr val="DDE3E8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6" name="Shape 4"/>
          <p:cNvSpPr/>
          <p:nvPr/>
        </p:nvSpPr>
        <p:spPr>
          <a:xfrm>
            <a:off x="457200" y="1115568"/>
            <a:ext cx="8229600" cy="566928"/>
          </a:xfrm>
          <a:prstGeom prst="rect">
            <a:avLst/>
          </a:prstGeom>
          <a:solidFill>
            <a:srgbClr val="F5F7F9"/>
          </a:solidFill>
          <a:ln w="6350">
            <a:solidFill>
              <a:srgbClr val="DDE3E8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7" name="Shape 5"/>
          <p:cNvSpPr/>
          <p:nvPr/>
        </p:nvSpPr>
        <p:spPr>
          <a:xfrm>
            <a:off x="457200" y="1115568"/>
            <a:ext cx="45720" cy="566928"/>
          </a:xfrm>
          <a:prstGeom prst="rect">
            <a:avLst/>
          </a:prstGeom>
          <a:solidFill>
            <a:srgbClr val="2E6A7C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8" name="Text 6"/>
          <p:cNvSpPr/>
          <p:nvPr/>
        </p:nvSpPr>
        <p:spPr>
          <a:xfrm>
            <a:off x="685800" y="1225296"/>
            <a:ext cx="7863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ICM = 0.40 × facial  +  0.40 × vocal  +  0.20 × verbal  —  congruencia alta = genuino · congruencia baja = performativo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38912" y="1828800"/>
            <a:ext cx="2066544" cy="3063240"/>
          </a:xfrm>
          <a:prstGeom prst="rect">
            <a:avLst/>
          </a:prstGeom>
          <a:solidFill>
            <a:srgbClr val="F5F7F9"/>
          </a:solidFill>
          <a:ln w="6350">
            <a:solidFill>
              <a:srgbClr val="DDE3E8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0" name="Shape 8"/>
          <p:cNvSpPr/>
          <p:nvPr/>
        </p:nvSpPr>
        <p:spPr>
          <a:xfrm>
            <a:off x="438912" y="1828800"/>
            <a:ext cx="2066544" cy="45720"/>
          </a:xfrm>
          <a:prstGeom prst="rect">
            <a:avLst/>
          </a:prstGeom>
          <a:solidFill>
            <a:srgbClr val="6B7F8E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1" name="Text 9"/>
          <p:cNvSpPr/>
          <p:nvPr/>
        </p:nvSpPr>
        <p:spPr>
          <a:xfrm>
            <a:off x="438912" y="1938528"/>
            <a:ext cx="2066544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200" b="1" dirty="0">
                <a:solidFill>
                  <a:srgbClr val="6B7F8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0.295</a:t>
            </a:r>
            <a:endParaRPr lang="en-US" sz="5200" dirty="0"/>
          </a:p>
        </p:txBody>
      </p:sp>
      <p:sp>
        <p:nvSpPr>
          <p:cNvPr id="12" name="Shape 10"/>
          <p:cNvSpPr/>
          <p:nvPr/>
        </p:nvSpPr>
        <p:spPr>
          <a:xfrm>
            <a:off x="576072" y="2880360"/>
            <a:ext cx="1792224" cy="13716"/>
          </a:xfrm>
          <a:prstGeom prst="rect">
            <a:avLst/>
          </a:prstGeom>
          <a:solidFill>
            <a:srgbClr val="DDE3E8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3" name="Text 11"/>
          <p:cNvSpPr/>
          <p:nvPr/>
        </p:nvSpPr>
        <p:spPr>
          <a:xfrm>
            <a:off x="438912" y="2944368"/>
            <a:ext cx="206654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A2B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Catatumbo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438912" y="3273552"/>
            <a:ext cx="206654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6B7F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Cap. Chaparro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30352" y="3584448"/>
            <a:ext cx="1883664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AU15 tristeza ↑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2633472" y="1828800"/>
            <a:ext cx="2066544" cy="3063240"/>
          </a:xfrm>
          <a:prstGeom prst="rect">
            <a:avLst/>
          </a:prstGeom>
          <a:solidFill>
            <a:srgbClr val="F5F7F9"/>
          </a:solidFill>
          <a:ln w="6350">
            <a:solidFill>
              <a:srgbClr val="DDE3E8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7" name="Shape 15"/>
          <p:cNvSpPr/>
          <p:nvPr/>
        </p:nvSpPr>
        <p:spPr>
          <a:xfrm>
            <a:off x="2633472" y="1828800"/>
            <a:ext cx="2066544" cy="45720"/>
          </a:xfrm>
          <a:prstGeom prst="rect">
            <a:avLst/>
          </a:prstGeom>
          <a:solidFill>
            <a:srgbClr val="7A4520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8" name="Text 16"/>
          <p:cNvSpPr/>
          <p:nvPr/>
        </p:nvSpPr>
        <p:spPr>
          <a:xfrm>
            <a:off x="2633472" y="1938528"/>
            <a:ext cx="2066544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200" b="1" dirty="0">
                <a:solidFill>
                  <a:srgbClr val="7A45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0.355</a:t>
            </a:r>
            <a:endParaRPr lang="en-US" sz="5200" dirty="0"/>
          </a:p>
        </p:txBody>
      </p:sp>
      <p:sp>
        <p:nvSpPr>
          <p:cNvPr id="19" name="Shape 17"/>
          <p:cNvSpPr/>
          <p:nvPr/>
        </p:nvSpPr>
        <p:spPr>
          <a:xfrm>
            <a:off x="2770632" y="2880360"/>
            <a:ext cx="1792224" cy="13716"/>
          </a:xfrm>
          <a:prstGeom prst="rect">
            <a:avLst/>
          </a:prstGeom>
          <a:solidFill>
            <a:srgbClr val="DDE3E8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0" name="Text 18"/>
          <p:cNvSpPr/>
          <p:nvPr/>
        </p:nvSpPr>
        <p:spPr>
          <a:xfrm>
            <a:off x="2633472" y="2944368"/>
            <a:ext cx="206654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A2B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Casanare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2633472" y="3273552"/>
            <a:ext cx="206654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6B7F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Gral. Torres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2724912" y="3584448"/>
            <a:ext cx="1883664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Voz ≠ Cara  Δ=0.225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4828032" y="1828800"/>
            <a:ext cx="2066544" cy="3063240"/>
          </a:xfrm>
          <a:prstGeom prst="rect">
            <a:avLst/>
          </a:prstGeom>
          <a:solidFill>
            <a:srgbClr val="F5F7F9"/>
          </a:solidFill>
          <a:ln w="6350">
            <a:solidFill>
              <a:srgbClr val="DDE3E8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4" name="Shape 22"/>
          <p:cNvSpPr/>
          <p:nvPr/>
        </p:nvSpPr>
        <p:spPr>
          <a:xfrm>
            <a:off x="4828032" y="1828800"/>
            <a:ext cx="2066544" cy="45720"/>
          </a:xfrm>
          <a:prstGeom prst="rect">
            <a:avLst/>
          </a:prstGeom>
          <a:solidFill>
            <a:srgbClr val="2E6A7C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5" name="Text 23"/>
          <p:cNvSpPr/>
          <p:nvPr/>
        </p:nvSpPr>
        <p:spPr>
          <a:xfrm>
            <a:off x="4828032" y="1938528"/>
            <a:ext cx="2066544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200" b="1" dirty="0">
                <a:solidFill>
                  <a:srgbClr val="2E6A7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0.421</a:t>
            </a:r>
            <a:endParaRPr lang="en-US" sz="5200" dirty="0"/>
          </a:p>
        </p:txBody>
      </p:sp>
      <p:sp>
        <p:nvSpPr>
          <p:cNvPr id="26" name="Shape 24"/>
          <p:cNvSpPr/>
          <p:nvPr/>
        </p:nvSpPr>
        <p:spPr>
          <a:xfrm>
            <a:off x="4965192" y="2880360"/>
            <a:ext cx="1792224" cy="13716"/>
          </a:xfrm>
          <a:prstGeom prst="rect">
            <a:avLst/>
          </a:prstGeom>
          <a:solidFill>
            <a:srgbClr val="DDE3E8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7" name="Text 25"/>
          <p:cNvSpPr/>
          <p:nvPr/>
        </p:nvSpPr>
        <p:spPr>
          <a:xfrm>
            <a:off x="4828032" y="2944368"/>
            <a:ext cx="206654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A2B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Huila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4828032" y="3273552"/>
            <a:ext cx="206654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6B7F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Soldados / Ollo La Tapia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4919472" y="3584448"/>
            <a:ext cx="1883664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Semánticamente más cercano</a:t>
            </a:r>
            <a:endParaRPr lang="en-US" sz="1250" dirty="0"/>
          </a:p>
        </p:txBody>
      </p:sp>
      <p:sp>
        <p:nvSpPr>
          <p:cNvPr id="30" name="Shape 28"/>
          <p:cNvSpPr/>
          <p:nvPr/>
        </p:nvSpPr>
        <p:spPr>
          <a:xfrm>
            <a:off x="7022592" y="1828800"/>
            <a:ext cx="2066544" cy="3063240"/>
          </a:xfrm>
          <a:prstGeom prst="rect">
            <a:avLst/>
          </a:prstGeom>
          <a:solidFill>
            <a:srgbClr val="F5F7F9"/>
          </a:solidFill>
          <a:ln w="6350">
            <a:solidFill>
              <a:srgbClr val="DDE3E8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1" name="Shape 29"/>
          <p:cNvSpPr/>
          <p:nvPr/>
        </p:nvSpPr>
        <p:spPr>
          <a:xfrm>
            <a:off x="7022592" y="1828800"/>
            <a:ext cx="2066544" cy="45720"/>
          </a:xfrm>
          <a:prstGeom prst="rect">
            <a:avLst/>
          </a:prstGeom>
          <a:solidFill>
            <a:srgbClr val="1A4A2E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2" name="Text 30"/>
          <p:cNvSpPr/>
          <p:nvPr/>
        </p:nvSpPr>
        <p:spPr>
          <a:xfrm>
            <a:off x="7022592" y="1938528"/>
            <a:ext cx="2066544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200" b="1" dirty="0">
                <a:solidFill>
                  <a:srgbClr val="1A4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0.490</a:t>
            </a:r>
            <a:endParaRPr lang="en-US" sz="5200" dirty="0"/>
          </a:p>
        </p:txBody>
      </p:sp>
      <p:sp>
        <p:nvSpPr>
          <p:cNvPr id="33" name="Shape 31"/>
          <p:cNvSpPr/>
          <p:nvPr/>
        </p:nvSpPr>
        <p:spPr>
          <a:xfrm>
            <a:off x="7159752" y="2880360"/>
            <a:ext cx="1792224" cy="13716"/>
          </a:xfrm>
          <a:prstGeom prst="rect">
            <a:avLst/>
          </a:prstGeom>
          <a:solidFill>
            <a:srgbClr val="DDE3E8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4" name="Text 32"/>
          <p:cNvSpPr/>
          <p:nvPr/>
        </p:nvSpPr>
        <p:spPr>
          <a:xfrm>
            <a:off x="7022592" y="2944368"/>
            <a:ext cx="206654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A2B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Dabeiba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7022592" y="3273552"/>
            <a:ext cx="206654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6B7F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Oficial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7114032" y="3584448"/>
            <a:ext cx="1883664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49 fosas — materialidad máxima</a:t>
            </a:r>
            <a:endParaRPr lang="en-US" sz="1250" dirty="0"/>
          </a:p>
        </p:txBody>
      </p:sp>
      <p:sp>
        <p:nvSpPr>
          <p:cNvPr id="37" name="Text 35"/>
          <p:cNvSpPr/>
          <p:nvPr/>
        </p:nvSpPr>
        <p:spPr>
          <a:xfrm>
            <a:off x="457200" y="4956048"/>
            <a:ext cx="8229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7F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El ICM mide congruencia entre señales comunicativas — no sinceridad individual  (Barrett et al., 2019 · Buolamwini &amp; Gebru, 2018)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B8722A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" name="Text 1"/>
          <p:cNvSpPr/>
          <p:nvPr/>
        </p:nvSpPr>
        <p:spPr>
          <a:xfrm>
            <a:off x="457200" y="201168"/>
            <a:ext cx="8229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kern="0" spc="250" dirty="0">
                <a:solidFill>
                  <a:srgbClr val="B87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 QUE YA ESTÁ LISTO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457200" y="457200"/>
            <a:ext cx="83210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A2B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Los datos de Catatumbo y Dabeiba están calculados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960120"/>
            <a:ext cx="8229600" cy="13716"/>
          </a:xfrm>
          <a:prstGeom prst="rect">
            <a:avLst/>
          </a:prstGeom>
          <a:solidFill>
            <a:srgbClr val="DDE3E8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6" name="Shape 4"/>
          <p:cNvSpPr/>
          <p:nvPr/>
        </p:nvSpPr>
        <p:spPr>
          <a:xfrm>
            <a:off x="457200" y="1170432"/>
            <a:ext cx="4224528" cy="1133856"/>
          </a:xfrm>
          <a:prstGeom prst="rect">
            <a:avLst/>
          </a:prstGeom>
          <a:solidFill>
            <a:srgbClr val="F5F7F9"/>
          </a:solidFill>
          <a:ln w="6350">
            <a:solidFill>
              <a:srgbClr val="DDE3E8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7" name="Shape 5"/>
          <p:cNvSpPr/>
          <p:nvPr/>
        </p:nvSpPr>
        <p:spPr>
          <a:xfrm>
            <a:off x="457200" y="1170432"/>
            <a:ext cx="45720" cy="1133856"/>
          </a:xfrm>
          <a:prstGeom prst="rect">
            <a:avLst/>
          </a:prstGeom>
          <a:solidFill>
            <a:srgbClr val="2E6A7C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8" name="Text 6"/>
          <p:cNvSpPr/>
          <p:nvPr/>
        </p:nvSpPr>
        <p:spPr>
          <a:xfrm>
            <a:off x="640080" y="1298448"/>
            <a:ext cx="391363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E6A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Corpus completo procesado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40080" y="1664208"/>
            <a:ext cx="3913632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309 docs · 5.585 bloques · 31.624 indicadores · 9.660 segmentos · 12.3M chars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864608" y="1170432"/>
            <a:ext cx="4224528" cy="1133856"/>
          </a:xfrm>
          <a:prstGeom prst="rect">
            <a:avLst/>
          </a:prstGeom>
          <a:solidFill>
            <a:srgbClr val="F5F7F9"/>
          </a:solidFill>
          <a:ln w="6350">
            <a:solidFill>
              <a:srgbClr val="DDE3E8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1" name="Shape 9"/>
          <p:cNvSpPr/>
          <p:nvPr/>
        </p:nvSpPr>
        <p:spPr>
          <a:xfrm>
            <a:off x="4864608" y="1170432"/>
            <a:ext cx="45720" cy="1133856"/>
          </a:xfrm>
          <a:prstGeom prst="rect">
            <a:avLst/>
          </a:prstGeom>
          <a:solidFill>
            <a:srgbClr val="2E6A7C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2" name="Text 10"/>
          <p:cNvSpPr/>
          <p:nvPr/>
        </p:nvSpPr>
        <p:spPr>
          <a:xfrm>
            <a:off x="5047488" y="1298448"/>
            <a:ext cx="391363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E6A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Catatumbo (RC 01/2022)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5047488" y="1664208"/>
            <a:ext cx="3913632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 = 0.110  ·  IEI = 0.624  ·  ICM = 0.295 — datos para la Sección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57200" y="2468880"/>
            <a:ext cx="4224528" cy="1133856"/>
          </a:xfrm>
          <a:prstGeom prst="rect">
            <a:avLst/>
          </a:prstGeom>
          <a:solidFill>
            <a:srgbClr val="F5F7F9"/>
          </a:solidFill>
          <a:ln w="6350">
            <a:solidFill>
              <a:srgbClr val="DDE3E8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5" name="Shape 13"/>
          <p:cNvSpPr/>
          <p:nvPr/>
        </p:nvSpPr>
        <p:spPr>
          <a:xfrm>
            <a:off x="457200" y="2468880"/>
            <a:ext cx="45720" cy="1133856"/>
          </a:xfrm>
          <a:prstGeom prst="rect">
            <a:avLst/>
          </a:prstGeom>
          <a:solidFill>
            <a:srgbClr val="2E6A7C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6" name="Text 14"/>
          <p:cNvSpPr/>
          <p:nvPr/>
        </p:nvSpPr>
        <p:spPr>
          <a:xfrm>
            <a:off x="640080" y="2596896"/>
            <a:ext cx="391363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E6A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Dabeiba (RC 04/2024)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40080" y="2962656"/>
            <a:ext cx="3913632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 = 0.490  ·  IEI = 0.299  ·  ICM = 0.490 — 49 fosas recuperadas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4864608" y="2468880"/>
            <a:ext cx="4224528" cy="1133856"/>
          </a:xfrm>
          <a:prstGeom prst="rect">
            <a:avLst/>
          </a:prstGeom>
          <a:solidFill>
            <a:srgbClr val="F5F7F9"/>
          </a:solidFill>
          <a:ln w="6350">
            <a:solidFill>
              <a:srgbClr val="DDE3E8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9" name="Shape 17"/>
          <p:cNvSpPr/>
          <p:nvPr/>
        </p:nvSpPr>
        <p:spPr>
          <a:xfrm>
            <a:off x="4864608" y="2468880"/>
            <a:ext cx="45720" cy="1133856"/>
          </a:xfrm>
          <a:prstGeom prst="rect">
            <a:avLst/>
          </a:prstGeom>
          <a:solidFill>
            <a:srgbClr val="2E6A7C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0" name="Text 18"/>
          <p:cNvSpPr/>
          <p:nvPr/>
        </p:nvSpPr>
        <p:spPr>
          <a:xfrm>
            <a:off x="5047488" y="2596896"/>
            <a:ext cx="391363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E6A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Sentencias 2025 en el corpus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5047488" y="2962656"/>
            <a:ext cx="3913632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Primeras sanciones propias de Colombia — TP-SeRVR — procesadas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457200" y="3767328"/>
            <a:ext cx="4224528" cy="1133856"/>
          </a:xfrm>
          <a:prstGeom prst="rect">
            <a:avLst/>
          </a:prstGeom>
          <a:solidFill>
            <a:srgbClr val="F5F7F9"/>
          </a:solidFill>
          <a:ln w="6350">
            <a:solidFill>
              <a:srgbClr val="E0C070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3" name="Shape 21"/>
          <p:cNvSpPr/>
          <p:nvPr/>
        </p:nvSpPr>
        <p:spPr>
          <a:xfrm>
            <a:off x="457200" y="3767328"/>
            <a:ext cx="45720" cy="1133856"/>
          </a:xfrm>
          <a:prstGeom prst="rect">
            <a:avLst/>
          </a:prstGeom>
          <a:solidFill>
            <a:srgbClr val="B8722A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4" name="Text 22"/>
          <p:cNvSpPr/>
          <p:nvPr/>
        </p:nvSpPr>
        <p:spPr>
          <a:xfrm>
            <a:off x="640080" y="3895344"/>
            <a:ext cx="391363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B87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⏳  Pendiente: segundo anotador IAA κ &gt; 0.80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640080" y="4261104"/>
            <a:ext cx="3913632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Habilita CFH-BERT v3 y modelo SEM completo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4864608" y="3767328"/>
            <a:ext cx="4224528" cy="1133856"/>
          </a:xfrm>
          <a:prstGeom prst="rect">
            <a:avLst/>
          </a:prstGeom>
          <a:solidFill>
            <a:srgbClr val="F5F7F9"/>
          </a:solidFill>
          <a:ln w="6350">
            <a:solidFill>
              <a:srgbClr val="E0C070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7" name="Shape 25"/>
          <p:cNvSpPr/>
          <p:nvPr/>
        </p:nvSpPr>
        <p:spPr>
          <a:xfrm>
            <a:off x="4864608" y="3767328"/>
            <a:ext cx="45720" cy="1133856"/>
          </a:xfrm>
          <a:prstGeom prst="rect">
            <a:avLst/>
          </a:prstGeom>
          <a:solidFill>
            <a:srgbClr val="B8722A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8" name="Text 26"/>
          <p:cNvSpPr/>
          <p:nvPr/>
        </p:nvSpPr>
        <p:spPr>
          <a:xfrm>
            <a:off x="5047488" y="3895344"/>
            <a:ext cx="391363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B87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⏳  Pendiente: video Costa Caribe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5047488" y="4261104"/>
            <a:ext cx="3913632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DRM YouTube — 5° subcaso sin ICM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B8722A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" name="Text 1"/>
          <p:cNvSpPr/>
          <p:nvPr/>
        </p:nvSpPr>
        <p:spPr>
          <a:xfrm>
            <a:off x="457200" y="201168"/>
            <a:ext cx="8229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kern="0" spc="250" dirty="0">
                <a:solidFill>
                  <a:srgbClr val="B87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PROPUESTA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457200" y="457200"/>
            <a:ext cx="83210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A2B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Cuatro puntos de entrada en el proceso JEP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960120"/>
            <a:ext cx="8229600" cy="13716"/>
          </a:xfrm>
          <a:prstGeom prst="rect">
            <a:avLst/>
          </a:prstGeom>
          <a:solidFill>
            <a:srgbClr val="DDE3E8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6" name="Shape 4"/>
          <p:cNvSpPr/>
          <p:nvPr/>
        </p:nvSpPr>
        <p:spPr>
          <a:xfrm>
            <a:off x="457200" y="1143000"/>
            <a:ext cx="4224528" cy="1783080"/>
          </a:xfrm>
          <a:prstGeom prst="rect">
            <a:avLst/>
          </a:prstGeom>
          <a:solidFill>
            <a:srgbClr val="F5F7F9"/>
          </a:solidFill>
          <a:ln w="6350">
            <a:solidFill>
              <a:srgbClr val="DDE3E8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7" name="Shape 5"/>
          <p:cNvSpPr/>
          <p:nvPr/>
        </p:nvSpPr>
        <p:spPr>
          <a:xfrm>
            <a:off x="457200" y="1143000"/>
            <a:ext cx="45720" cy="1783080"/>
          </a:xfrm>
          <a:prstGeom prst="rect">
            <a:avLst/>
          </a:prstGeom>
          <a:solidFill>
            <a:srgbClr val="6B7F8E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8" name="Text 6"/>
          <p:cNvSpPr/>
          <p:nvPr/>
        </p:nvSpPr>
        <p:spPr>
          <a:xfrm>
            <a:off x="640080" y="1234440"/>
            <a:ext cx="391363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6B7F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Fase 0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640080" y="1490472"/>
            <a:ext cx="391363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A2B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Sustitución de sanciones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640080" y="1911096"/>
            <a:ext cx="3913632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Sección de Revisión verifica que el reconocimiento fue pleno. CFH provee la primera evidencia cuantitativa.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40080" y="2679192"/>
            <a:ext cx="391363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F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Ley 1922/2018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864608" y="1143000"/>
            <a:ext cx="4224528" cy="1783080"/>
          </a:xfrm>
          <a:prstGeom prst="rect">
            <a:avLst/>
          </a:prstGeom>
          <a:solidFill>
            <a:srgbClr val="F5F7F9"/>
          </a:solidFill>
          <a:ln w="6350">
            <a:solidFill>
              <a:srgbClr val="DDE3E8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3" name="Shape 11"/>
          <p:cNvSpPr/>
          <p:nvPr/>
        </p:nvSpPr>
        <p:spPr>
          <a:xfrm>
            <a:off x="4864608" y="1143000"/>
            <a:ext cx="45720" cy="1783080"/>
          </a:xfrm>
          <a:prstGeom prst="rect">
            <a:avLst/>
          </a:prstGeom>
          <a:solidFill>
            <a:srgbClr val="B8722A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4" name="Text 12"/>
          <p:cNvSpPr/>
          <p:nvPr/>
        </p:nvSpPr>
        <p:spPr>
          <a:xfrm>
            <a:off x="5047488" y="1234440"/>
            <a:ext cx="391363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B87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Fase 1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5047488" y="1490472"/>
            <a:ext cx="391363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A2B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Imposición de sanciones propias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5047488" y="1911096"/>
            <a:ext cx="3913632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SeRVR revisa RC 01 y RC 04. Los datos están calculados y disponibles para la Sección ahora.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5047488" y="2679192"/>
            <a:ext cx="391363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B87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⚑  URGENTE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57200" y="3081528"/>
            <a:ext cx="4224528" cy="1783080"/>
          </a:xfrm>
          <a:prstGeom prst="rect">
            <a:avLst/>
          </a:prstGeom>
          <a:solidFill>
            <a:srgbClr val="F5F7F9"/>
          </a:solidFill>
          <a:ln w="6350">
            <a:solidFill>
              <a:srgbClr val="DDE3E8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9" name="Shape 17"/>
          <p:cNvSpPr/>
          <p:nvPr/>
        </p:nvSpPr>
        <p:spPr>
          <a:xfrm>
            <a:off x="457200" y="3081528"/>
            <a:ext cx="45720" cy="1783080"/>
          </a:xfrm>
          <a:prstGeom prst="rect">
            <a:avLst/>
          </a:prstGeom>
          <a:solidFill>
            <a:srgbClr val="2E6A7C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0" name="Text 18"/>
          <p:cNvSpPr/>
          <p:nvPr/>
        </p:nvSpPr>
        <p:spPr>
          <a:xfrm>
            <a:off x="640080" y="3172968"/>
            <a:ext cx="391363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2E6A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Fase 2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640080" y="3429000"/>
            <a:ext cx="391363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A2B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Incidente de incumplimiento</a:t>
            </a:r>
            <a:endParaRPr lang="en-US" sz="1700" dirty="0"/>
          </a:p>
        </p:txBody>
      </p:sp>
      <p:sp>
        <p:nvSpPr>
          <p:cNvPr id="22" name="Text 20"/>
          <p:cNvSpPr/>
          <p:nvPr/>
        </p:nvSpPr>
        <p:spPr>
          <a:xfrm>
            <a:off x="640080" y="3849624"/>
            <a:ext cx="3913632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CFH permite monitorear la coherencia y continuidad del reconocimiento a lo largo del proceso.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640080" y="4617720"/>
            <a:ext cx="391363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E6A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SENIT 5/2023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864608" y="3081528"/>
            <a:ext cx="4224528" cy="1783080"/>
          </a:xfrm>
          <a:prstGeom prst="rect">
            <a:avLst/>
          </a:prstGeom>
          <a:solidFill>
            <a:srgbClr val="F5F7F9"/>
          </a:solidFill>
          <a:ln w="6350">
            <a:solidFill>
              <a:srgbClr val="DDE3E8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5" name="Shape 23"/>
          <p:cNvSpPr/>
          <p:nvPr/>
        </p:nvSpPr>
        <p:spPr>
          <a:xfrm>
            <a:off x="4864608" y="3081528"/>
            <a:ext cx="45720" cy="1783080"/>
          </a:xfrm>
          <a:prstGeom prst="rect">
            <a:avLst/>
          </a:prstGeom>
          <a:solidFill>
            <a:srgbClr val="1A4A2E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6" name="Text 24"/>
          <p:cNvSpPr/>
          <p:nvPr/>
        </p:nvSpPr>
        <p:spPr>
          <a:xfrm>
            <a:off x="5047488" y="3172968"/>
            <a:ext cx="391363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1A4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Fase 3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5047488" y="3429000"/>
            <a:ext cx="391363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A2B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Estándar desde la primera audiencia</a:t>
            </a:r>
            <a:endParaRPr lang="en-US" sz="1700" dirty="0"/>
          </a:p>
        </p:txBody>
      </p:sp>
      <p:sp>
        <p:nvSpPr>
          <p:cNvPr id="28" name="Text 26"/>
          <p:cNvSpPr/>
          <p:nvPr/>
        </p:nvSpPr>
        <p:spPr>
          <a:xfrm>
            <a:off x="5047488" y="3849624"/>
            <a:ext cx="3913632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subcasos sin RC y para Macrocasos 01, 02, 07, 08 en etapas tempranas.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5047488" y="4617720"/>
            <a:ext cx="391363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4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Escalable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457200" y="4828032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6B7F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ISR (AOG 011/2024): evalúa viabilidad de proyectos futuros. CFH audita el reconocimiento que los habilita — fases distintas.</a:t>
            </a: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B8722A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" name="Text 1"/>
          <p:cNvSpPr/>
          <p:nvPr/>
        </p:nvSpPr>
        <p:spPr>
          <a:xfrm>
            <a:off x="457200" y="201168"/>
            <a:ext cx="8229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kern="0" spc="200" dirty="0">
                <a:solidFill>
                  <a:srgbClr val="B87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ARCHIVO TIENE MEMORIA — Y AHORA TAMBIÉN TIENE MÉTRICAS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457200" y="502920"/>
            <a:ext cx="832104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100" i="1" dirty="0">
                <a:solidFill>
                  <a:srgbClr val="1A2B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«Fair Leonardo Porras Bernal salió de Cazucá buscando trabajo.»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457200" y="1170432"/>
            <a:ext cx="8321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B7F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 nombre aparece en el corpus en tres momentos. Los tres tienen indicadores calculados.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1508760"/>
            <a:ext cx="8229600" cy="13716"/>
          </a:xfrm>
          <a:prstGeom prst="rect">
            <a:avLst/>
          </a:prstGeom>
          <a:solidFill>
            <a:srgbClr val="DDE3E8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7" name="Shape 5"/>
          <p:cNvSpPr/>
          <p:nvPr/>
        </p:nvSpPr>
        <p:spPr>
          <a:xfrm>
            <a:off x="438912" y="1691640"/>
            <a:ext cx="2798064" cy="3246120"/>
          </a:xfrm>
          <a:prstGeom prst="rect">
            <a:avLst/>
          </a:prstGeom>
          <a:solidFill>
            <a:srgbClr val="F5F7F9"/>
          </a:solidFill>
          <a:ln w="6350">
            <a:solidFill>
              <a:srgbClr val="DDE3E8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8" name="Shape 6"/>
          <p:cNvSpPr/>
          <p:nvPr/>
        </p:nvSpPr>
        <p:spPr>
          <a:xfrm>
            <a:off x="438912" y="1691640"/>
            <a:ext cx="2798064" cy="36576"/>
          </a:xfrm>
          <a:prstGeom prst="rect">
            <a:avLst/>
          </a:prstGeom>
          <a:solidFill>
            <a:srgbClr val="7A1E1E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9" name="Text 7"/>
          <p:cNvSpPr/>
          <p:nvPr/>
        </p:nvSpPr>
        <p:spPr>
          <a:xfrm>
            <a:off x="438912" y="1783080"/>
            <a:ext cx="2798064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800" b="1" dirty="0">
                <a:solidFill>
                  <a:srgbClr val="7A1E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2014</a:t>
            </a:r>
            <a:endParaRPr lang="en-US" sz="4800" dirty="0"/>
          </a:p>
        </p:txBody>
      </p:sp>
      <p:sp>
        <p:nvSpPr>
          <p:cNvPr id="10" name="Text 8"/>
          <p:cNvSpPr/>
          <p:nvPr/>
        </p:nvSpPr>
        <p:spPr>
          <a:xfrm>
            <a:off x="566928" y="2395728"/>
            <a:ext cx="25420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Corte Suprema · A-CSJ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566928" y="2670048"/>
            <a:ext cx="254203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6B7F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85001-23-33-000-2014-00006-01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566928" y="2926080"/>
            <a:ext cx="2542032" cy="713232"/>
          </a:xfrm>
          <a:prstGeom prst="rect">
            <a:avLst/>
          </a:prstGeom>
          <a:solidFill>
            <a:srgbClr val="FFFFFF"/>
          </a:solidFill>
          <a:ln w="6350">
            <a:solidFill>
              <a:srgbClr val="DDE3E8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3" name="Text 11"/>
          <p:cNvSpPr/>
          <p:nvPr/>
        </p:nvSpPr>
        <p:spPr>
          <a:xfrm>
            <a:off x="603504" y="2944368"/>
            <a:ext cx="2468880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1A2B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"muerta en combate,</a:t>
            </a:r>
            <a:endParaRPr lang="en-US" sz="1200" dirty="0"/>
          </a:p>
          <a:p>
            <a:pPr marL="0" indent="0">
              <a:buNone/>
            </a:pPr>
            <a:r>
              <a:rPr lang="en-US" sz="1200" i="1" dirty="0">
                <a:solidFill>
                  <a:srgbClr val="1A2B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una persona sin identificar"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66928" y="3749040"/>
            <a:ext cx="11887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F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1773936" y="3712464"/>
            <a:ext cx="133502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2200" b="1" dirty="0">
                <a:solidFill>
                  <a:srgbClr val="7A1E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0.000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566928" y="4078224"/>
            <a:ext cx="11887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F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y8 MAFAPO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1773936" y="4059936"/>
            <a:ext cx="133502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800" b="1" dirty="0">
                <a:solidFill>
                  <a:srgbClr val="2E6A7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0.197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438912" y="4736592"/>
            <a:ext cx="2798064" cy="201168"/>
          </a:xfrm>
          <a:prstGeom prst="rect">
            <a:avLst/>
          </a:prstGeom>
          <a:solidFill>
            <a:srgbClr val="7A1E1E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9" name="Text 17"/>
          <p:cNvSpPr/>
          <p:nvPr/>
        </p:nvSpPr>
        <p:spPr>
          <a:xfrm>
            <a:off x="438912" y="4736592"/>
            <a:ext cx="279806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nombre · Eufemismo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3383280" y="1691640"/>
            <a:ext cx="2798064" cy="3246120"/>
          </a:xfrm>
          <a:prstGeom prst="rect">
            <a:avLst/>
          </a:prstGeom>
          <a:solidFill>
            <a:srgbClr val="F5F7F9"/>
          </a:solidFill>
          <a:ln w="6350">
            <a:solidFill>
              <a:srgbClr val="DDE3E8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1" name="Shape 19"/>
          <p:cNvSpPr/>
          <p:nvPr/>
        </p:nvSpPr>
        <p:spPr>
          <a:xfrm>
            <a:off x="3383280" y="1691640"/>
            <a:ext cx="2798064" cy="36576"/>
          </a:xfrm>
          <a:prstGeom prst="rect">
            <a:avLst/>
          </a:prstGeom>
          <a:solidFill>
            <a:srgbClr val="B8722A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2" name="Text 20"/>
          <p:cNvSpPr/>
          <p:nvPr/>
        </p:nvSpPr>
        <p:spPr>
          <a:xfrm>
            <a:off x="3383280" y="1783080"/>
            <a:ext cx="2798064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800" b="1" dirty="0">
                <a:solidFill>
                  <a:srgbClr val="B872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2022</a:t>
            </a:r>
            <a:endParaRPr lang="en-US" sz="4800" dirty="0"/>
          </a:p>
        </p:txBody>
      </p:sp>
      <p:sp>
        <p:nvSpPr>
          <p:cNvPr id="23" name="Text 21"/>
          <p:cNvSpPr/>
          <p:nvPr/>
        </p:nvSpPr>
        <p:spPr>
          <a:xfrm>
            <a:off x="3511296" y="2395728"/>
            <a:ext cx="25420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SRVR · B-JEP · RC 01/2022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3511296" y="2670048"/>
            <a:ext cx="254203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6B7F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 determinación 14 julio 2022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3511296" y="2926080"/>
            <a:ext cx="2542032" cy="713232"/>
          </a:xfrm>
          <a:prstGeom prst="rect">
            <a:avLst/>
          </a:prstGeom>
          <a:solidFill>
            <a:srgbClr val="FFFFFF"/>
          </a:solidFill>
          <a:ln w="6350">
            <a:solidFill>
              <a:srgbClr val="DDE3E8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6" name="Text 24"/>
          <p:cNvSpPr/>
          <p:nvPr/>
        </p:nvSpPr>
        <p:spPr>
          <a:xfrm>
            <a:off x="3547872" y="2944368"/>
            <a:ext cx="2468880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1A2B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"el asesinato</a:t>
            </a:r>
            <a:endParaRPr lang="en-US" sz="1200" dirty="0"/>
          </a:p>
          <a:p>
            <a:pPr marL="0" indent="0">
              <a:buNone/>
            </a:pPr>
            <a:r>
              <a:rPr lang="en-US" sz="1200" i="1" dirty="0">
                <a:solidFill>
                  <a:srgbClr val="1A2B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del joven Fair Leonardo"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3511296" y="3749040"/>
            <a:ext cx="11887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F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4718304" y="3712464"/>
            <a:ext cx="133502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2200" b="1" dirty="0">
                <a:solidFill>
                  <a:srgbClr val="B872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0.229</a:t>
            </a:r>
            <a:endParaRPr lang="en-US" sz="2200" dirty="0"/>
          </a:p>
        </p:txBody>
      </p:sp>
      <p:sp>
        <p:nvSpPr>
          <p:cNvPr id="29" name="Text 27"/>
          <p:cNvSpPr/>
          <p:nvPr/>
        </p:nvSpPr>
        <p:spPr>
          <a:xfrm>
            <a:off x="3511296" y="4005072"/>
            <a:ext cx="11887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B7F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CONS: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4718304" y="3968496"/>
            <a:ext cx="133502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800" b="1" dirty="0">
                <a:solidFill>
                  <a:srgbClr val="B872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0.768</a:t>
            </a:r>
            <a:endParaRPr lang="en-US" sz="1800" dirty="0"/>
          </a:p>
        </p:txBody>
      </p:sp>
      <p:sp>
        <p:nvSpPr>
          <p:cNvPr id="31" name="Text 29"/>
          <p:cNvSpPr/>
          <p:nvPr/>
        </p:nvSpPr>
        <p:spPr>
          <a:xfrm>
            <a:off x="3511296" y="4261104"/>
            <a:ext cx="11887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F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y8 MAFAPO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4718304" y="4242816"/>
            <a:ext cx="133502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800" b="1" dirty="0">
                <a:solidFill>
                  <a:srgbClr val="2E6A7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0.179</a:t>
            </a:r>
            <a:endParaRPr lang="en-US" sz="1800" dirty="0"/>
          </a:p>
        </p:txBody>
      </p:sp>
      <p:sp>
        <p:nvSpPr>
          <p:cNvPr id="33" name="Shape 31"/>
          <p:cNvSpPr/>
          <p:nvPr/>
        </p:nvSpPr>
        <p:spPr>
          <a:xfrm>
            <a:off x="3383280" y="4736592"/>
            <a:ext cx="2798064" cy="201168"/>
          </a:xfrm>
          <a:prstGeom prst="rect">
            <a:avLst/>
          </a:prstGeom>
          <a:solidFill>
            <a:srgbClr val="B8722A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4" name="Text 32"/>
          <p:cNvSpPr/>
          <p:nvPr/>
        </p:nvSpPr>
        <p:spPr>
          <a:xfrm>
            <a:off x="3383280" y="4736592"/>
            <a:ext cx="279806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 nombre · Con verbo activo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6327648" y="1691640"/>
            <a:ext cx="2798064" cy="3246120"/>
          </a:xfrm>
          <a:prstGeom prst="rect">
            <a:avLst/>
          </a:prstGeom>
          <a:solidFill>
            <a:srgbClr val="F5F7F9"/>
          </a:solidFill>
          <a:ln w="6350">
            <a:solidFill>
              <a:srgbClr val="DDE3E8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6" name="Shape 34"/>
          <p:cNvSpPr/>
          <p:nvPr/>
        </p:nvSpPr>
        <p:spPr>
          <a:xfrm>
            <a:off x="6327648" y="1691640"/>
            <a:ext cx="2798064" cy="36576"/>
          </a:xfrm>
          <a:prstGeom prst="rect">
            <a:avLst/>
          </a:prstGeom>
          <a:solidFill>
            <a:srgbClr val="2E6A7C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7" name="Text 35"/>
          <p:cNvSpPr/>
          <p:nvPr/>
        </p:nvSpPr>
        <p:spPr>
          <a:xfrm>
            <a:off x="6327648" y="1783080"/>
            <a:ext cx="2798064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800" b="1" dirty="0">
                <a:solidFill>
                  <a:srgbClr val="2E6A7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2025</a:t>
            </a:r>
            <a:endParaRPr lang="en-US" sz="4800" dirty="0"/>
          </a:p>
        </p:txBody>
      </p:sp>
      <p:sp>
        <p:nvSpPr>
          <p:cNvPr id="38" name="Text 36"/>
          <p:cNvSpPr/>
          <p:nvPr/>
        </p:nvSpPr>
        <p:spPr>
          <a:xfrm>
            <a:off x="6455664" y="2395728"/>
            <a:ext cx="25420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Tribunal · Sentencia TP-SeRVR</a:t>
            </a:r>
            <a:endParaRPr lang="en-US" sz="1150" dirty="0"/>
          </a:p>
        </p:txBody>
      </p:sp>
      <p:sp>
        <p:nvSpPr>
          <p:cNvPr id="39" name="Text 37"/>
          <p:cNvSpPr/>
          <p:nvPr/>
        </p:nvSpPr>
        <p:spPr>
          <a:xfrm>
            <a:off x="6455664" y="2670048"/>
            <a:ext cx="254203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6B7F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Primera sanción propia Colombia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6455664" y="2926080"/>
            <a:ext cx="2542032" cy="713232"/>
          </a:xfrm>
          <a:prstGeom prst="rect">
            <a:avLst/>
          </a:prstGeom>
          <a:solidFill>
            <a:srgbClr val="FFFFFF"/>
          </a:solidFill>
          <a:ln w="6350">
            <a:solidFill>
              <a:srgbClr val="DDE3E8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41" name="Text 39"/>
          <p:cNvSpPr/>
          <p:nvPr/>
        </p:nvSpPr>
        <p:spPr>
          <a:xfrm>
            <a:off x="6492240" y="2944368"/>
            <a:ext cx="2468880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1A2B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"Sanción propia impuesta.</a:t>
            </a:r>
            <a:endParaRPr lang="en-US" sz="1200" dirty="0"/>
          </a:p>
          <a:p>
            <a:pPr marL="0" indent="0">
              <a:buNone/>
            </a:pPr>
            <a:r>
              <a:rPr lang="en-US" sz="1200" i="1" dirty="0">
                <a:solidFill>
                  <a:srgbClr val="1A2B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Reconocimiento mantenido."</a:t>
            </a:r>
            <a:endParaRPr lang="en-US" sz="1200" dirty="0"/>
          </a:p>
        </p:txBody>
      </p:sp>
      <p:sp>
        <p:nvSpPr>
          <p:cNvPr id="42" name="Text 40"/>
          <p:cNvSpPr/>
          <p:nvPr/>
        </p:nvSpPr>
        <p:spPr>
          <a:xfrm>
            <a:off x="6455664" y="3749040"/>
            <a:ext cx="11887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F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7662672" y="3712464"/>
            <a:ext cx="133502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2200" b="1" dirty="0">
                <a:solidFill>
                  <a:srgbClr val="2E6A7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0.228</a:t>
            </a:r>
            <a:endParaRPr lang="en-US" sz="2200" dirty="0"/>
          </a:p>
        </p:txBody>
      </p:sp>
      <p:sp>
        <p:nvSpPr>
          <p:cNvPr id="44" name="Text 42"/>
          <p:cNvSpPr/>
          <p:nvPr/>
        </p:nvSpPr>
        <p:spPr>
          <a:xfrm>
            <a:off x="6455664" y="4078224"/>
            <a:ext cx="11887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F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y8 MAFAPO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7662672" y="4059936"/>
            <a:ext cx="133502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800" b="1" dirty="0">
                <a:solidFill>
                  <a:srgbClr val="2E6A7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—</a:t>
            </a:r>
            <a:endParaRPr lang="en-US" sz="1800" dirty="0"/>
          </a:p>
        </p:txBody>
      </p:sp>
      <p:sp>
        <p:nvSpPr>
          <p:cNvPr id="46" name="Shape 44"/>
          <p:cNvSpPr/>
          <p:nvPr/>
        </p:nvSpPr>
        <p:spPr>
          <a:xfrm>
            <a:off x="6327648" y="4736592"/>
            <a:ext cx="2798064" cy="201168"/>
          </a:xfrm>
          <a:prstGeom prst="rect">
            <a:avLst/>
          </a:prstGeom>
          <a:solidFill>
            <a:srgbClr val="2E6A7C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47" name="Text 45"/>
          <p:cNvSpPr/>
          <p:nvPr/>
        </p:nvSpPr>
        <p:spPr>
          <a:xfrm>
            <a:off x="6327648" y="4736592"/>
            <a:ext cx="279806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Tribunal sostiene el reconocimiento</a:t>
            </a:r>
            <a:endParaRPr lang="en-US" sz="1000" dirty="0"/>
          </a:p>
        </p:txBody>
      </p:sp>
      <p:sp>
        <p:nvSpPr>
          <p:cNvPr id="48" name="Text 46"/>
          <p:cNvSpPr/>
          <p:nvPr/>
        </p:nvSpPr>
        <p:spPr>
          <a:xfrm>
            <a:off x="3218688" y="3127248"/>
            <a:ext cx="23774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DDE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49" name="Text 47"/>
          <p:cNvSpPr/>
          <p:nvPr/>
        </p:nvSpPr>
        <p:spPr>
          <a:xfrm>
            <a:off x="6163056" y="3127248"/>
            <a:ext cx="23774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DDE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50" name="Text 48"/>
          <p:cNvSpPr/>
          <p:nvPr/>
        </p:nvSpPr>
        <p:spPr>
          <a:xfrm>
            <a:off x="457200" y="4919472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i="1" dirty="0">
                <a:solidFill>
                  <a:srgbClr val="1A2B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 CFH mide la distancia entre esas versiones de su historia en el archivo del Estado.</a:t>
            </a:r>
            <a:endParaRPr lang="en-US" sz="12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1023</Words>
  <Application>Microsoft Office PowerPoint</Application>
  <PresentationFormat>Presentación en pantalla (16:9)</PresentationFormat>
  <Paragraphs>212</Paragraphs>
  <Slides>10</Slides>
  <Notes>10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10</vt:i4>
      </vt:variant>
    </vt:vector>
  </HeadingPairs>
  <TitlesOfParts>
    <vt:vector size="14" baseType="lpstr">
      <vt:lpstr>Arial</vt:lpstr>
      <vt:lpstr>Calibri</vt:lpstr>
      <vt:lpstr>Cambria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Mireya Camacho Celis</cp:lastModifiedBy>
  <cp:revision>1</cp:revision>
  <dcterms:created xsi:type="dcterms:W3CDTF">2026-05-10T00:52:48Z</dcterms:created>
  <dcterms:modified xsi:type="dcterms:W3CDTF">2026-05-11T02:48:30Z</dcterms:modified>
</cp:coreProperties>
</file>