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9A227"/>
          </a:solidFill>
          <a:ln/>
        </p:spPr>
      </p:sp>
      <p:sp>
        <p:nvSpPr>
          <p:cNvPr id="3" name="Shape 1"/>
          <p:cNvSpPr/>
          <p:nvPr/>
        </p:nvSpPr>
        <p:spPr>
          <a:xfrm>
            <a:off x="411480" y="5120640"/>
            <a:ext cx="11750040" cy="1737360"/>
          </a:xfrm>
          <a:prstGeom prst="rect">
            <a:avLst/>
          </a:prstGeom>
          <a:solidFill>
            <a:srgbClr val="16345A"/>
          </a:solidFill>
          <a:ln/>
        </p:spPr>
      </p:sp>
      <p:sp>
        <p:nvSpPr>
          <p:cNvPr id="4" name="Text 2"/>
          <p:cNvSpPr/>
          <p:nvPr/>
        </p:nvSpPr>
        <p:spPr>
          <a:xfrm>
            <a:off x="640080" y="457200"/>
            <a:ext cx="10972800" cy="914400"/>
          </a:xfrm>
          <a:prstGeom prst="rect">
            <a:avLst/>
          </a:prstGeom>
          <a:noFill/>
          <a:ln/>
        </p:spPr>
        <p:txBody>
          <a:bodyPr wrap="square" lIns="0" tIns="0" rIns="0" bIns="0" rtlCol="0" anchor="ctr"/>
          <a:lstStyle/>
          <a:p>
            <a:pPr indent="0" marL="0">
              <a:buNone/>
            </a:pPr>
            <a:r>
              <a:rPr lang="en-US" sz="6400" b="1" dirty="0">
                <a:solidFill>
                  <a:srgbClr val="F0C040"/>
                </a:solidFill>
                <a:latin typeface="Georgia" pitchFamily="34" charset="0"/>
                <a:ea typeface="Georgia" pitchFamily="34" charset="-122"/>
                <a:cs typeface="Georgia" pitchFamily="34" charset="-120"/>
              </a:rPr>
              <a:t>CFH</a:t>
            </a:r>
            <a:endParaRPr lang="en-US" sz="6400" dirty="0"/>
          </a:p>
        </p:txBody>
      </p:sp>
      <p:sp>
        <p:nvSpPr>
          <p:cNvPr id="5" name="Text 3"/>
          <p:cNvSpPr/>
          <p:nvPr/>
        </p:nvSpPr>
        <p:spPr>
          <a:xfrm>
            <a:off x="640080" y="1371600"/>
            <a:ext cx="10972800" cy="594360"/>
          </a:xfrm>
          <a:prstGeom prst="rect">
            <a:avLst/>
          </a:prstGeom>
          <a:noFill/>
          <a:ln/>
        </p:spPr>
        <p:txBody>
          <a:bodyPr wrap="square" lIns="0" tIns="0" rIns="0" bIns="0" rtlCol="0" anchor="ctr"/>
          <a:lstStyle/>
          <a:p>
            <a:pPr indent="0" marL="0">
              <a:buNone/>
            </a:pPr>
            <a:r>
              <a:rPr lang="en-US" sz="2500" dirty="0">
                <a:solidFill>
                  <a:srgbClr val="FFFFFF"/>
                </a:solidFill>
                <a:latin typeface="Calibri" pitchFamily="34" charset="0"/>
                <a:ea typeface="Calibri" pitchFamily="34" charset="-122"/>
                <a:cs typeface="Calibri" pitchFamily="34" charset="-120"/>
              </a:rPr>
              <a:t>Hermenéutica Forense Computacional</a:t>
            </a:r>
            <a:endParaRPr lang="en-US" sz="2500" dirty="0"/>
          </a:p>
        </p:txBody>
      </p:sp>
      <p:sp>
        <p:nvSpPr>
          <p:cNvPr id="6" name="Text 4"/>
          <p:cNvSpPr/>
          <p:nvPr/>
        </p:nvSpPr>
        <p:spPr>
          <a:xfrm>
            <a:off x="640080" y="1965960"/>
            <a:ext cx="10058400" cy="411480"/>
          </a:xfrm>
          <a:prstGeom prst="rect">
            <a:avLst/>
          </a:prstGeom>
          <a:noFill/>
          <a:ln/>
        </p:spPr>
        <p:txBody>
          <a:bodyPr wrap="square" lIns="0" tIns="0" rIns="0" bIns="0" rtlCol="0" anchor="ctr"/>
          <a:lstStyle/>
          <a:p>
            <a:pPr indent="0" marL="0">
              <a:buNone/>
            </a:pPr>
            <a:r>
              <a:rPr lang="en-US" sz="1600" dirty="0">
                <a:solidFill>
                  <a:srgbClr val="BDD7EE"/>
                </a:solidFill>
                <a:latin typeface="Calibri Light" pitchFamily="34" charset="0"/>
                <a:ea typeface="Calibri Light" pitchFamily="34" charset="-122"/>
                <a:cs typeface="Calibri Light" pitchFamily="34" charset="-120"/>
              </a:rPr>
              <a:t>Protocolo Matemático · Indicadores · Experimentos</a:t>
            </a:r>
            <a:endParaRPr lang="en-US" sz="1600" dirty="0"/>
          </a:p>
        </p:txBody>
      </p:sp>
      <p:sp>
        <p:nvSpPr>
          <p:cNvPr id="7" name="Shape 5"/>
          <p:cNvSpPr/>
          <p:nvPr/>
        </p:nvSpPr>
        <p:spPr>
          <a:xfrm>
            <a:off x="640080" y="2468880"/>
            <a:ext cx="10515600" cy="0"/>
          </a:xfrm>
          <a:prstGeom prst="line">
            <a:avLst/>
          </a:prstGeom>
          <a:noFill/>
          <a:ln w="19050">
            <a:solidFill>
              <a:srgbClr val="C9A227"/>
            </a:solidFill>
            <a:prstDash val="solid"/>
          </a:ln>
        </p:spPr>
      </p:sp>
      <p:sp>
        <p:nvSpPr>
          <p:cNvPr id="8" name="Shape 6"/>
          <p:cNvSpPr/>
          <p:nvPr/>
        </p:nvSpPr>
        <p:spPr>
          <a:xfrm>
            <a:off x="640080" y="2606040"/>
            <a:ext cx="320040" cy="457200"/>
          </a:xfrm>
          <a:prstGeom prst="rect">
            <a:avLst/>
          </a:prstGeom>
          <a:solidFill>
            <a:srgbClr val="4A90D9"/>
          </a:solidFill>
          <a:ln/>
        </p:spPr>
      </p:sp>
      <p:sp>
        <p:nvSpPr>
          <p:cNvPr id="9" name="Text 7"/>
          <p:cNvSpPr/>
          <p:nvPr/>
        </p:nvSpPr>
        <p:spPr>
          <a:xfrm>
            <a:off x="1024128" y="2624328"/>
            <a:ext cx="1828800" cy="237744"/>
          </a:xfrm>
          <a:prstGeom prst="rect">
            <a:avLst/>
          </a:prstGeom>
          <a:noFill/>
          <a:ln/>
        </p:spPr>
        <p:txBody>
          <a:bodyPr wrap="square" lIns="0" tIns="0" rIns="0" bIns="0" rtlCol="0" anchor="ctr"/>
          <a:lstStyle/>
          <a:p>
            <a:pPr indent="0" marL="0">
              <a:buNone/>
            </a:pPr>
            <a:r>
              <a:rPr lang="en-US" sz="1100" b="1" dirty="0">
                <a:solidFill>
                  <a:srgbClr val="F0C040"/>
                </a:solidFill>
              </a:rPr>
              <a:t>Habermas:</a:t>
            </a:r>
            <a:endParaRPr lang="en-US" sz="1100" dirty="0"/>
          </a:p>
        </p:txBody>
      </p:sp>
      <p:sp>
        <p:nvSpPr>
          <p:cNvPr id="10" name="Text 8"/>
          <p:cNvSpPr/>
          <p:nvPr/>
        </p:nvSpPr>
        <p:spPr>
          <a:xfrm>
            <a:off x="1024128" y="2843784"/>
            <a:ext cx="1828800" cy="201168"/>
          </a:xfrm>
          <a:prstGeom prst="rect">
            <a:avLst/>
          </a:prstGeom>
          <a:noFill/>
          <a:ln/>
        </p:spPr>
        <p:txBody>
          <a:bodyPr wrap="square" lIns="0" tIns="0" rIns="0" bIns="0" rtlCol="0" anchor="ctr"/>
          <a:lstStyle/>
          <a:p>
            <a:pPr indent="0" marL="0">
              <a:buNone/>
            </a:pPr>
            <a:r>
              <a:rPr lang="en-US" sz="850" i="1" dirty="0">
                <a:solidFill>
                  <a:srgbClr val="9DB8D8"/>
                </a:solidFill>
              </a:rPr>
              <a:t>Teoría Acción Comunicativa (1981)</a:t>
            </a:r>
            <a:endParaRPr lang="en-US" sz="850" dirty="0"/>
          </a:p>
        </p:txBody>
      </p:sp>
      <p:sp>
        <p:nvSpPr>
          <p:cNvPr id="11" name="Text 9"/>
          <p:cNvSpPr/>
          <p:nvPr/>
        </p:nvSpPr>
        <p:spPr>
          <a:xfrm>
            <a:off x="2880360" y="2679192"/>
            <a:ext cx="8595360" cy="347472"/>
          </a:xfrm>
          <a:prstGeom prst="rect">
            <a:avLst/>
          </a:prstGeom>
          <a:noFill/>
          <a:ln/>
        </p:spPr>
        <p:txBody>
          <a:bodyPr wrap="square" lIns="0" tIns="0" rIns="0" bIns="0" rtlCol="0" anchor="ctr"/>
          <a:lstStyle/>
          <a:p>
            <a:pPr indent="0" marL="0">
              <a:buNone/>
            </a:pPr>
            <a:r>
              <a:rPr lang="en-US" sz="950" dirty="0">
                <a:solidFill>
                  <a:srgbClr val="FFFFFF"/>
                </a:solidFill>
              </a:rPr>
              <a:t>DIS Score — Violaciones a pretensiones de validez del discurso (sinceridad, verdad, corrección normativa)</a:t>
            </a:r>
            <a:endParaRPr lang="en-US" sz="950" dirty="0"/>
          </a:p>
        </p:txBody>
      </p:sp>
      <p:sp>
        <p:nvSpPr>
          <p:cNvPr id="12" name="Shape 10"/>
          <p:cNvSpPr/>
          <p:nvPr/>
        </p:nvSpPr>
        <p:spPr>
          <a:xfrm>
            <a:off x="640080" y="3191256"/>
            <a:ext cx="320040" cy="457200"/>
          </a:xfrm>
          <a:prstGeom prst="rect">
            <a:avLst/>
          </a:prstGeom>
          <a:solidFill>
            <a:srgbClr val="B5450B"/>
          </a:solidFill>
          <a:ln/>
        </p:spPr>
      </p:sp>
      <p:sp>
        <p:nvSpPr>
          <p:cNvPr id="13" name="Text 11"/>
          <p:cNvSpPr/>
          <p:nvPr/>
        </p:nvSpPr>
        <p:spPr>
          <a:xfrm>
            <a:off x="1024128" y="3209544"/>
            <a:ext cx="1828800" cy="237744"/>
          </a:xfrm>
          <a:prstGeom prst="rect">
            <a:avLst/>
          </a:prstGeom>
          <a:noFill/>
          <a:ln/>
        </p:spPr>
        <p:txBody>
          <a:bodyPr wrap="square" lIns="0" tIns="0" rIns="0" bIns="0" rtlCol="0" anchor="ctr"/>
          <a:lstStyle/>
          <a:p>
            <a:pPr indent="0" marL="0">
              <a:buNone/>
            </a:pPr>
            <a:r>
              <a:rPr lang="en-US" sz="1100" b="1" dirty="0">
                <a:solidFill>
                  <a:srgbClr val="F0C040"/>
                </a:solidFill>
              </a:rPr>
              <a:t>Galtung:</a:t>
            </a:r>
            <a:endParaRPr lang="en-US" sz="1100" dirty="0"/>
          </a:p>
        </p:txBody>
      </p:sp>
      <p:sp>
        <p:nvSpPr>
          <p:cNvPr id="14" name="Text 12"/>
          <p:cNvSpPr/>
          <p:nvPr/>
        </p:nvSpPr>
        <p:spPr>
          <a:xfrm>
            <a:off x="1024128" y="3429000"/>
            <a:ext cx="1828800" cy="201168"/>
          </a:xfrm>
          <a:prstGeom prst="rect">
            <a:avLst/>
          </a:prstGeom>
          <a:noFill/>
          <a:ln/>
        </p:spPr>
        <p:txBody>
          <a:bodyPr wrap="square" lIns="0" tIns="0" rIns="0" bIns="0" rtlCol="0" anchor="ctr"/>
          <a:lstStyle/>
          <a:p>
            <a:pPr indent="0" marL="0">
              <a:buNone/>
            </a:pPr>
            <a:r>
              <a:rPr lang="en-US" sz="850" i="1" dirty="0">
                <a:solidFill>
                  <a:srgbClr val="9DB8D8"/>
                </a:solidFill>
              </a:rPr>
              <a:t>Violencia Cultural / Estructural (1990)</a:t>
            </a:r>
            <a:endParaRPr lang="en-US" sz="850" dirty="0"/>
          </a:p>
        </p:txBody>
      </p:sp>
      <p:sp>
        <p:nvSpPr>
          <p:cNvPr id="15" name="Text 13"/>
          <p:cNvSpPr/>
          <p:nvPr/>
        </p:nvSpPr>
        <p:spPr>
          <a:xfrm>
            <a:off x="2880360" y="3264408"/>
            <a:ext cx="8595360" cy="347472"/>
          </a:xfrm>
          <a:prstGeom prst="rect">
            <a:avLst/>
          </a:prstGeom>
          <a:noFill/>
          <a:ln/>
        </p:spPr>
        <p:txBody>
          <a:bodyPr wrap="square" lIns="0" tIns="0" rIns="0" bIns="0" rtlCol="0" anchor="ctr"/>
          <a:lstStyle/>
          <a:p>
            <a:pPr indent="0" marL="0">
              <a:buNone/>
            </a:pPr>
            <a:r>
              <a:rPr lang="en-US" sz="950" dirty="0">
                <a:solidFill>
                  <a:srgbClr val="FFFFFF"/>
                </a:solidFill>
              </a:rPr>
              <a:t>EBI, NV — Lenguaje institucional como violencia cultural que legitima la directa</a:t>
            </a:r>
            <a:endParaRPr lang="en-US" sz="950" dirty="0"/>
          </a:p>
        </p:txBody>
      </p:sp>
      <p:sp>
        <p:nvSpPr>
          <p:cNvPr id="16" name="Shape 14"/>
          <p:cNvSpPr/>
          <p:nvPr/>
        </p:nvSpPr>
        <p:spPr>
          <a:xfrm>
            <a:off x="640080" y="3776472"/>
            <a:ext cx="320040" cy="457200"/>
          </a:xfrm>
          <a:prstGeom prst="rect">
            <a:avLst/>
          </a:prstGeom>
          <a:solidFill>
            <a:srgbClr val="6B3FA0"/>
          </a:solidFill>
          <a:ln/>
        </p:spPr>
      </p:sp>
      <p:sp>
        <p:nvSpPr>
          <p:cNvPr id="17" name="Text 15"/>
          <p:cNvSpPr/>
          <p:nvPr/>
        </p:nvSpPr>
        <p:spPr>
          <a:xfrm>
            <a:off x="1024128" y="3794760"/>
            <a:ext cx="1828800" cy="237744"/>
          </a:xfrm>
          <a:prstGeom prst="rect">
            <a:avLst/>
          </a:prstGeom>
          <a:noFill/>
          <a:ln/>
        </p:spPr>
        <p:txBody>
          <a:bodyPr wrap="square" lIns="0" tIns="0" rIns="0" bIns="0" rtlCol="0" anchor="ctr"/>
          <a:lstStyle/>
          <a:p>
            <a:pPr indent="0" marL="0">
              <a:buNone/>
            </a:pPr>
            <a:r>
              <a:rPr lang="en-US" sz="1100" b="1" dirty="0">
                <a:solidFill>
                  <a:srgbClr val="F0C040"/>
                </a:solidFill>
              </a:rPr>
              <a:t>Fricker:</a:t>
            </a:r>
            <a:endParaRPr lang="en-US" sz="1100" dirty="0"/>
          </a:p>
        </p:txBody>
      </p:sp>
      <p:sp>
        <p:nvSpPr>
          <p:cNvPr id="18" name="Text 16"/>
          <p:cNvSpPr/>
          <p:nvPr/>
        </p:nvSpPr>
        <p:spPr>
          <a:xfrm>
            <a:off x="1024128" y="4014216"/>
            <a:ext cx="1828800" cy="201168"/>
          </a:xfrm>
          <a:prstGeom prst="rect">
            <a:avLst/>
          </a:prstGeom>
          <a:noFill/>
          <a:ln/>
        </p:spPr>
        <p:txBody>
          <a:bodyPr wrap="square" lIns="0" tIns="0" rIns="0" bIns="0" rtlCol="0" anchor="ctr"/>
          <a:lstStyle/>
          <a:p>
            <a:pPr indent="0" marL="0">
              <a:buNone/>
            </a:pPr>
            <a:r>
              <a:rPr lang="en-US" sz="850" i="1" dirty="0">
                <a:solidFill>
                  <a:srgbClr val="9DB8D8"/>
                </a:solidFill>
              </a:rPr>
              <a:t>Epistemic Injustice (2007)</a:t>
            </a:r>
            <a:endParaRPr lang="en-US" sz="850" dirty="0"/>
          </a:p>
        </p:txBody>
      </p:sp>
      <p:sp>
        <p:nvSpPr>
          <p:cNvPr id="19" name="Text 17"/>
          <p:cNvSpPr/>
          <p:nvPr/>
        </p:nvSpPr>
        <p:spPr>
          <a:xfrm>
            <a:off x="2880360" y="3849624"/>
            <a:ext cx="8595360" cy="347472"/>
          </a:xfrm>
          <a:prstGeom prst="rect">
            <a:avLst/>
          </a:prstGeom>
          <a:noFill/>
          <a:ln/>
        </p:spPr>
        <p:txBody>
          <a:bodyPr wrap="square" lIns="0" tIns="0" rIns="0" bIns="0" rtlCol="0" anchor="ctr"/>
          <a:lstStyle/>
          <a:p>
            <a:pPr indent="0" marL="0">
              <a:buNone/>
            </a:pPr>
            <a:r>
              <a:rPr lang="en-US" sz="950" dirty="0">
                <a:solidFill>
                  <a:srgbClr val="FFFFFF"/>
                </a:solidFill>
              </a:rPr>
              <a:t>IEI Score — Credibility discount (testimonial) · Hermeneutical gap (hermenéutica)</a:t>
            </a:r>
            <a:endParaRPr lang="en-US" sz="950" dirty="0"/>
          </a:p>
        </p:txBody>
      </p:sp>
      <p:sp>
        <p:nvSpPr>
          <p:cNvPr id="20" name="Shape 18"/>
          <p:cNvSpPr/>
          <p:nvPr/>
        </p:nvSpPr>
        <p:spPr>
          <a:xfrm>
            <a:off x="640080" y="4361688"/>
            <a:ext cx="320040" cy="457200"/>
          </a:xfrm>
          <a:prstGeom prst="rect">
            <a:avLst/>
          </a:prstGeom>
          <a:solidFill>
            <a:srgbClr val="217346"/>
          </a:solidFill>
          <a:ln/>
        </p:spPr>
      </p:sp>
      <p:sp>
        <p:nvSpPr>
          <p:cNvPr id="21" name="Text 19"/>
          <p:cNvSpPr/>
          <p:nvPr/>
        </p:nvSpPr>
        <p:spPr>
          <a:xfrm>
            <a:off x="1024128" y="4379976"/>
            <a:ext cx="1828800" cy="237744"/>
          </a:xfrm>
          <a:prstGeom prst="rect">
            <a:avLst/>
          </a:prstGeom>
          <a:noFill/>
          <a:ln/>
        </p:spPr>
        <p:txBody>
          <a:bodyPr wrap="square" lIns="0" tIns="0" rIns="0" bIns="0" rtlCol="0" anchor="ctr"/>
          <a:lstStyle/>
          <a:p>
            <a:pPr indent="0" marL="0">
              <a:buNone/>
            </a:pPr>
            <a:r>
              <a:rPr lang="en-US" sz="1100" b="1" dirty="0">
                <a:solidFill>
                  <a:srgbClr val="F0C040"/>
                </a:solidFill>
              </a:rPr>
              <a:t>Fraser:</a:t>
            </a:r>
            <a:endParaRPr lang="en-US" sz="1100" dirty="0"/>
          </a:p>
        </p:txBody>
      </p:sp>
      <p:sp>
        <p:nvSpPr>
          <p:cNvPr id="22" name="Text 20"/>
          <p:cNvSpPr/>
          <p:nvPr/>
        </p:nvSpPr>
        <p:spPr>
          <a:xfrm>
            <a:off x="1024128" y="4599432"/>
            <a:ext cx="1828800" cy="201168"/>
          </a:xfrm>
          <a:prstGeom prst="rect">
            <a:avLst/>
          </a:prstGeom>
          <a:noFill/>
          <a:ln/>
        </p:spPr>
        <p:txBody>
          <a:bodyPr wrap="square" lIns="0" tIns="0" rIns="0" bIns="0" rtlCol="0" anchor="ctr"/>
          <a:lstStyle/>
          <a:p>
            <a:pPr indent="0" marL="0">
              <a:buNone/>
            </a:pPr>
            <a:r>
              <a:rPr lang="en-US" sz="850" i="1" dirty="0">
                <a:solidFill>
                  <a:srgbClr val="9DB8D8"/>
                </a:solidFill>
              </a:rPr>
              <a:t>Escalas de Justicia (2008)</a:t>
            </a:r>
            <a:endParaRPr lang="en-US" sz="850" dirty="0"/>
          </a:p>
        </p:txBody>
      </p:sp>
      <p:sp>
        <p:nvSpPr>
          <p:cNvPr id="23" name="Text 21"/>
          <p:cNvSpPr/>
          <p:nvPr/>
        </p:nvSpPr>
        <p:spPr>
          <a:xfrm>
            <a:off x="2880360" y="4434840"/>
            <a:ext cx="8595360" cy="347472"/>
          </a:xfrm>
          <a:prstGeom prst="rect">
            <a:avLst/>
          </a:prstGeom>
          <a:noFill/>
          <a:ln/>
        </p:spPr>
        <p:txBody>
          <a:bodyPr wrap="square" lIns="0" tIns="0" rIns="0" bIns="0" rtlCol="0" anchor="ctr"/>
          <a:lstStyle/>
          <a:p>
            <a:pPr indent="0" marL="0">
              <a:buNone/>
            </a:pPr>
            <a:r>
              <a:rPr lang="en-US" sz="950" dirty="0">
                <a:solidFill>
                  <a:srgbClr val="FFFFFF"/>
                </a:solidFill>
              </a:rPr>
              <a:t>REP, ICM — Reconocimiento epistémico · Paridad participativa en el discurso oral</a:t>
            </a:r>
            <a:endParaRPr lang="en-US" sz="950" dirty="0"/>
          </a:p>
        </p:txBody>
      </p:sp>
      <p:sp>
        <p:nvSpPr>
          <p:cNvPr id="24" name="Text 22"/>
          <p:cNvSpPr/>
          <p:nvPr/>
        </p:nvSpPr>
        <p:spPr>
          <a:xfrm>
            <a:off x="640080" y="5193792"/>
            <a:ext cx="10972800" cy="32004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Corpus:</a:t>
            </a:r>
            <a:pPr indent="0" marL="0">
              <a:buNone/>
            </a:pPr>
            <a:r>
              <a:rPr lang="en-US" sz="1100" dirty="0">
                <a:solidFill>
                  <a:srgbClr val="FFFFFF"/>
                </a:solidFill>
                <a:latin typeface="Calibri" pitchFamily="34" charset="0"/>
                <a:ea typeface="Calibri" pitchFamily="34" charset="-122"/>
                <a:cs typeface="Calibri" pitchFamily="34" charset="-120"/>
              </a:rPr>
              <a:t>  A (CSJ/CE, n=2,340) · B (JEP escrito, n=287) · C (JEP oral, 5 audiencias, 46h)</a:t>
            </a:r>
            <a:endParaRPr lang="en-US" sz="1100" dirty="0"/>
          </a:p>
        </p:txBody>
      </p:sp>
      <p:sp>
        <p:nvSpPr>
          <p:cNvPr id="25" name="Text 23"/>
          <p:cNvSpPr/>
          <p:nvPr/>
        </p:nvSpPr>
        <p:spPr>
          <a:xfrm>
            <a:off x="640080" y="5532120"/>
            <a:ext cx="10972800" cy="32004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H₃ central:</a:t>
            </a:r>
            <a:pPr indent="0" marL="0">
              <a:buNone/>
            </a:pPr>
            <a:r>
              <a:rPr lang="en-US" sz="1100" dirty="0">
                <a:solidFill>
                  <a:srgbClr val="FFFFFF"/>
                </a:solidFill>
                <a:latin typeface="Calibri" pitchFamily="34" charset="0"/>
                <a:ea typeface="Calibri" pitchFamily="34" charset="-122"/>
                <a:cs typeface="Calibri" pitchFamily="34" charset="-120"/>
              </a:rPr>
              <a:t>  β₂₃ &lt; 0 — mayor injusticia discursiva (Habermas+Galtung) predice menor transición epistémica (Fricker+Fraser)</a:t>
            </a:r>
            <a:endParaRPr lang="en-US" sz="1100" dirty="0"/>
          </a:p>
        </p:txBody>
      </p:sp>
      <p:sp>
        <p:nvSpPr>
          <p:cNvPr id="26" name="Text 24"/>
          <p:cNvSpPr/>
          <p:nvPr/>
        </p:nvSpPr>
        <p:spPr>
          <a:xfrm>
            <a:off x="640080" y="5943600"/>
            <a:ext cx="10972800" cy="274320"/>
          </a:xfrm>
          <a:prstGeom prst="rect">
            <a:avLst/>
          </a:prstGeom>
          <a:noFill/>
          <a:ln/>
        </p:spPr>
        <p:txBody>
          <a:bodyPr wrap="square" lIns="0" tIns="0" rIns="0" bIns="0" rtlCol="0" anchor="ctr"/>
          <a:lstStyle/>
          <a:p>
            <a:pPr indent="0" marL="0">
              <a:buNone/>
            </a:pPr>
            <a:r>
              <a:rPr lang="en-US" sz="1000" dirty="0">
                <a:solidFill>
                  <a:srgbClr val="9DB8D8"/>
                </a:solidFill>
                <a:latin typeface="Calibri Light" pitchFamily="34" charset="0"/>
                <a:ea typeface="Calibri Light" pitchFamily="34" charset="-122"/>
                <a:cs typeface="Calibri Light" pitchFamily="34" charset="-120"/>
              </a:rPr>
              <a:t>Mireya Camacho Celis · Universidad Externado de Colombia · Defensa agosto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1F4E79"/>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Marco Teórico Cuatri-pilar — De la teoría social a la operacionalización computacional</a:t>
            </a:r>
            <a:endParaRPr lang="en-US" sz="1700" dirty="0"/>
          </a:p>
        </p:txBody>
      </p:sp>
      <p:sp>
        <p:nvSpPr>
          <p:cNvPr id="4" name="Shape 2"/>
          <p:cNvSpPr/>
          <p:nvPr/>
        </p:nvSpPr>
        <p:spPr>
          <a:xfrm>
            <a:off x="182880" y="91440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182880" y="914400"/>
            <a:ext cx="5806440" cy="384048"/>
          </a:xfrm>
          <a:prstGeom prst="rect">
            <a:avLst/>
          </a:prstGeom>
          <a:solidFill>
            <a:srgbClr val="4A90D9"/>
          </a:solidFill>
          <a:ln/>
        </p:spPr>
      </p:sp>
      <p:sp>
        <p:nvSpPr>
          <p:cNvPr id="6" name="Text 4"/>
          <p:cNvSpPr/>
          <p:nvPr/>
        </p:nvSpPr>
        <p:spPr>
          <a:xfrm>
            <a:off x="274320" y="914400"/>
            <a:ext cx="5623560" cy="384048"/>
          </a:xfrm>
          <a:prstGeom prst="rect">
            <a:avLst/>
          </a:prstGeom>
          <a:noFill/>
          <a:ln/>
        </p:spPr>
        <p:txBody>
          <a:bodyPr wrap="square" lIns="0" tIns="0" rIns="0" bIns="0" rtlCol="0" anchor="ctr"/>
          <a:lstStyle/>
          <a:p>
            <a:pPr indent="0" marL="0">
              <a:buNone/>
            </a:pPr>
            <a:r>
              <a:rPr lang="en-US" sz="1100" b="1" dirty="0">
                <a:solidFill>
                  <a:srgbClr val="FFFFFF"/>
                </a:solidFill>
              </a:rPr>
              <a:t>HABERMAS — Teoría de la Acción Comunicativa (1981)</a:t>
            </a:r>
            <a:endParaRPr lang="en-US" sz="1100" dirty="0"/>
          </a:p>
        </p:txBody>
      </p:sp>
      <p:sp>
        <p:nvSpPr>
          <p:cNvPr id="7" name="Shape 5"/>
          <p:cNvSpPr/>
          <p:nvPr/>
        </p:nvSpPr>
        <p:spPr>
          <a:xfrm>
            <a:off x="182880" y="1298448"/>
            <a:ext cx="5806440" cy="18288"/>
          </a:xfrm>
          <a:prstGeom prst="rect">
            <a:avLst/>
          </a:prstGeom>
          <a:solidFill>
            <a:srgbClr val="4A90D9"/>
          </a:solidFill>
          <a:ln/>
        </p:spPr>
      </p:sp>
      <p:sp>
        <p:nvSpPr>
          <p:cNvPr id="8" name="Text 6"/>
          <p:cNvSpPr/>
          <p:nvPr/>
        </p:nvSpPr>
        <p:spPr>
          <a:xfrm>
            <a:off x="274320" y="1353312"/>
            <a:ext cx="5623560" cy="201168"/>
          </a:xfrm>
          <a:prstGeom prst="rect">
            <a:avLst/>
          </a:prstGeom>
          <a:noFill/>
          <a:ln/>
        </p:spPr>
        <p:txBody>
          <a:bodyPr wrap="square" lIns="0" tIns="0" rIns="0" bIns="0" rtlCol="0" anchor="ctr"/>
          <a:lstStyle/>
          <a:p>
            <a:pPr indent="0" marL="0">
              <a:buNone/>
            </a:pPr>
            <a:r>
              <a:rPr lang="en-US" sz="850" b="1" dirty="0">
                <a:solidFill>
                  <a:srgbClr val="4A90D9"/>
                </a:solidFill>
              </a:rPr>
              <a:t>CONCEPTO CLAVE:</a:t>
            </a:r>
            <a:endParaRPr lang="en-US" sz="850" dirty="0"/>
          </a:p>
        </p:txBody>
      </p:sp>
      <p:sp>
        <p:nvSpPr>
          <p:cNvPr id="9" name="Text 7"/>
          <p:cNvSpPr/>
          <p:nvPr/>
        </p:nvSpPr>
        <p:spPr>
          <a:xfrm>
            <a:off x="274320" y="1536192"/>
            <a:ext cx="5623560" cy="658368"/>
          </a:xfrm>
          <a:prstGeom prst="rect">
            <a:avLst/>
          </a:prstGeom>
          <a:noFill/>
          <a:ln/>
        </p:spPr>
        <p:txBody>
          <a:bodyPr wrap="square" lIns="0" tIns="0" rIns="0" bIns="0" rtlCol="0" anchor="ctr"/>
          <a:lstStyle/>
          <a:p>
            <a:pPr indent="0" marL="0">
              <a:buNone/>
            </a:pPr>
            <a:r>
              <a:rPr lang="en-US" sz="850" dirty="0">
                <a:solidFill>
                  <a:srgbClr val="1A1A2E"/>
                </a:solidFill>
              </a:rPr>
              <a:t>Pretensiones de validez del discurso: verdad proposicional, corrección normativa, sinceridad expresiva. El discurso legítimo requiere que los tres canales sean coherentes y que el hablante sea reconocido como interlocutor válido.</a:t>
            </a:r>
            <a:endParaRPr lang="en-US" sz="850" dirty="0"/>
          </a:p>
        </p:txBody>
      </p:sp>
      <p:sp>
        <p:nvSpPr>
          <p:cNvPr id="10" name="Shape 8"/>
          <p:cNvSpPr/>
          <p:nvPr/>
        </p:nvSpPr>
        <p:spPr>
          <a:xfrm>
            <a:off x="274320" y="2212848"/>
            <a:ext cx="5623560" cy="18288"/>
          </a:xfrm>
          <a:prstGeom prst="rect">
            <a:avLst/>
          </a:prstGeom>
          <a:solidFill>
            <a:srgbClr val="4A90D9"/>
          </a:solidFill>
          <a:ln/>
        </p:spPr>
      </p:sp>
      <p:sp>
        <p:nvSpPr>
          <p:cNvPr id="11" name="Text 9"/>
          <p:cNvSpPr/>
          <p:nvPr/>
        </p:nvSpPr>
        <p:spPr>
          <a:xfrm>
            <a:off x="274320" y="2267712"/>
            <a:ext cx="5623560" cy="201168"/>
          </a:xfrm>
          <a:prstGeom prst="rect">
            <a:avLst/>
          </a:prstGeom>
          <a:noFill/>
          <a:ln/>
        </p:spPr>
        <p:txBody>
          <a:bodyPr wrap="square" lIns="0" tIns="0" rIns="0" bIns="0" rtlCol="0" anchor="ctr"/>
          <a:lstStyle/>
          <a:p>
            <a:pPr indent="0" marL="0">
              <a:buNone/>
            </a:pPr>
            <a:r>
              <a:rPr lang="en-US" sz="850" b="1" dirty="0">
                <a:solidFill>
                  <a:srgbClr val="4A90D9"/>
                </a:solidFill>
              </a:rPr>
              <a:t>OPERACIONALIZACIÓN CFH:</a:t>
            </a:r>
            <a:endParaRPr lang="en-US" sz="850" dirty="0"/>
          </a:p>
        </p:txBody>
      </p:sp>
      <p:sp>
        <p:nvSpPr>
          <p:cNvPr id="12" name="Text 10"/>
          <p:cNvSpPr/>
          <p:nvPr/>
        </p:nvSpPr>
        <p:spPr>
          <a:xfrm>
            <a:off x="274320" y="2450592"/>
            <a:ext cx="5623560" cy="658368"/>
          </a:xfrm>
          <a:prstGeom prst="rect">
            <a:avLst/>
          </a:prstGeom>
          <a:noFill/>
          <a:ln/>
        </p:spPr>
        <p:txBody>
          <a:bodyPr wrap="square" lIns="0" tIns="0" rIns="0" bIns="0" rtlCol="0" anchor="ctr"/>
          <a:lstStyle/>
          <a:p>
            <a:pPr indent="0" marL="0">
              <a:buNone/>
            </a:pPr>
            <a:r>
              <a:rPr lang="en-US" sz="850" dirty="0">
                <a:solidFill>
                  <a:srgbClr val="1A1A2E"/>
                </a:solidFill>
              </a:rPr>
              <a:t>DIS Score (η₁): SA viola la sinceridad suprimiendo al sujeto. NV viola la corrección normativa negando la victimización. EBI viola la verdad proposicional eufemizando el homicidio. ICM: la incongruencia tri-canal es una violación de la sinceridad expresiva habermasiana.</a:t>
            </a:r>
            <a:endParaRPr lang="en-US" sz="850" dirty="0"/>
          </a:p>
        </p:txBody>
      </p:sp>
      <p:sp>
        <p:nvSpPr>
          <p:cNvPr id="13" name="Shape 11"/>
          <p:cNvSpPr/>
          <p:nvPr/>
        </p:nvSpPr>
        <p:spPr>
          <a:xfrm>
            <a:off x="274320" y="3154680"/>
            <a:ext cx="5623560" cy="347472"/>
          </a:xfrm>
          <a:prstGeom prst="rect">
            <a:avLst/>
          </a:prstGeom>
          <a:solidFill>
            <a:srgbClr val="EBF5FF"/>
          </a:solidFill>
          <a:ln/>
        </p:spPr>
      </p:sp>
      <p:sp>
        <p:nvSpPr>
          <p:cNvPr id="14" name="Text 12"/>
          <p:cNvSpPr/>
          <p:nvPr/>
        </p:nvSpPr>
        <p:spPr>
          <a:xfrm>
            <a:off x="320040" y="3172968"/>
            <a:ext cx="5532120" cy="310896"/>
          </a:xfrm>
          <a:prstGeom prst="rect">
            <a:avLst/>
          </a:prstGeom>
          <a:noFill/>
          <a:ln/>
        </p:spPr>
        <p:txBody>
          <a:bodyPr wrap="square" lIns="0" tIns="0" rIns="0" bIns="0" rtlCol="0" anchor="ctr"/>
          <a:lstStyle/>
          <a:p>
            <a:pPr indent="0" marL="0">
              <a:buNone/>
            </a:pPr>
            <a:r>
              <a:rPr lang="en-US" sz="900" b="1" dirty="0">
                <a:solidFill>
                  <a:srgbClr val="4A90D9"/>
                </a:solidFill>
              </a:rPr>
              <a:t>Indicadores: y₁ EBI · y₂ SA · y₄ NV · y₁₂ ICM</a:t>
            </a:r>
            <a:endParaRPr lang="en-US" sz="900" dirty="0"/>
          </a:p>
        </p:txBody>
      </p:sp>
      <p:sp>
        <p:nvSpPr>
          <p:cNvPr id="15" name="Shape 13"/>
          <p:cNvSpPr/>
          <p:nvPr/>
        </p:nvSpPr>
        <p:spPr>
          <a:xfrm>
            <a:off x="6172200" y="91440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6172200" y="914400"/>
            <a:ext cx="5806440" cy="384048"/>
          </a:xfrm>
          <a:prstGeom prst="rect">
            <a:avLst/>
          </a:prstGeom>
          <a:solidFill>
            <a:srgbClr val="B5450B"/>
          </a:solidFill>
          <a:ln/>
        </p:spPr>
      </p:sp>
      <p:sp>
        <p:nvSpPr>
          <p:cNvPr id="17" name="Text 15"/>
          <p:cNvSpPr/>
          <p:nvPr/>
        </p:nvSpPr>
        <p:spPr>
          <a:xfrm>
            <a:off x="6263640" y="914400"/>
            <a:ext cx="5623560" cy="384048"/>
          </a:xfrm>
          <a:prstGeom prst="rect">
            <a:avLst/>
          </a:prstGeom>
          <a:noFill/>
          <a:ln/>
        </p:spPr>
        <p:txBody>
          <a:bodyPr wrap="square" lIns="0" tIns="0" rIns="0" bIns="0" rtlCol="0" anchor="ctr"/>
          <a:lstStyle/>
          <a:p>
            <a:pPr indent="0" marL="0">
              <a:buNone/>
            </a:pPr>
            <a:r>
              <a:rPr lang="en-US" sz="1100" b="1" dirty="0">
                <a:solidFill>
                  <a:srgbClr val="FFFFFF"/>
                </a:solidFill>
              </a:rPr>
              <a:t>GALTUNG — Cultural Violence (1990) · Peace by Peaceful Means (1996)</a:t>
            </a:r>
            <a:endParaRPr lang="en-US" sz="1100" dirty="0"/>
          </a:p>
        </p:txBody>
      </p:sp>
      <p:sp>
        <p:nvSpPr>
          <p:cNvPr id="18" name="Shape 16"/>
          <p:cNvSpPr/>
          <p:nvPr/>
        </p:nvSpPr>
        <p:spPr>
          <a:xfrm>
            <a:off x="6172200" y="1298448"/>
            <a:ext cx="5806440" cy="18288"/>
          </a:xfrm>
          <a:prstGeom prst="rect">
            <a:avLst/>
          </a:prstGeom>
          <a:solidFill>
            <a:srgbClr val="B5450B"/>
          </a:solidFill>
          <a:ln/>
        </p:spPr>
      </p:sp>
      <p:sp>
        <p:nvSpPr>
          <p:cNvPr id="19" name="Text 17"/>
          <p:cNvSpPr/>
          <p:nvPr/>
        </p:nvSpPr>
        <p:spPr>
          <a:xfrm>
            <a:off x="6263640" y="1353312"/>
            <a:ext cx="5623560" cy="201168"/>
          </a:xfrm>
          <a:prstGeom prst="rect">
            <a:avLst/>
          </a:prstGeom>
          <a:noFill/>
          <a:ln/>
        </p:spPr>
        <p:txBody>
          <a:bodyPr wrap="square" lIns="0" tIns="0" rIns="0" bIns="0" rtlCol="0" anchor="ctr"/>
          <a:lstStyle/>
          <a:p>
            <a:pPr indent="0" marL="0">
              <a:buNone/>
            </a:pPr>
            <a:r>
              <a:rPr lang="en-US" sz="850" b="1" dirty="0">
                <a:solidFill>
                  <a:srgbClr val="B5450B"/>
                </a:solidFill>
              </a:rPr>
              <a:t>CONCEPTO CLAVE:</a:t>
            </a:r>
            <a:endParaRPr lang="en-US" sz="850" dirty="0"/>
          </a:p>
        </p:txBody>
      </p:sp>
      <p:sp>
        <p:nvSpPr>
          <p:cNvPr id="20" name="Text 18"/>
          <p:cNvSpPr/>
          <p:nvPr/>
        </p:nvSpPr>
        <p:spPr>
          <a:xfrm>
            <a:off x="6263640" y="1536192"/>
            <a:ext cx="5623560" cy="658368"/>
          </a:xfrm>
          <a:prstGeom prst="rect">
            <a:avLst/>
          </a:prstGeom>
          <a:noFill/>
          <a:ln/>
        </p:spPr>
        <p:txBody>
          <a:bodyPr wrap="square" lIns="0" tIns="0" rIns="0" bIns="0" rtlCol="0" anchor="ctr"/>
          <a:lstStyle/>
          <a:p>
            <a:pPr indent="0" marL="0">
              <a:buNone/>
            </a:pPr>
            <a:r>
              <a:rPr lang="en-US" sz="850" dirty="0">
                <a:solidFill>
                  <a:srgbClr val="1A1A2E"/>
                </a:solidFill>
              </a:rPr>
              <a:t>Violencia cultural: aspectos de la cultura que legitiman la violencia directa y estructural. El lenguaje institucional-militar opera como violencia cultural cuando presenta el asesinato de civiles como operación legítima del Estado.</a:t>
            </a:r>
            <a:endParaRPr lang="en-US" sz="850" dirty="0"/>
          </a:p>
        </p:txBody>
      </p:sp>
      <p:sp>
        <p:nvSpPr>
          <p:cNvPr id="21" name="Shape 19"/>
          <p:cNvSpPr/>
          <p:nvPr/>
        </p:nvSpPr>
        <p:spPr>
          <a:xfrm>
            <a:off x="6263640" y="2212848"/>
            <a:ext cx="5623560" cy="18288"/>
          </a:xfrm>
          <a:prstGeom prst="rect">
            <a:avLst/>
          </a:prstGeom>
          <a:solidFill>
            <a:srgbClr val="B5450B"/>
          </a:solidFill>
          <a:ln/>
        </p:spPr>
      </p:sp>
      <p:sp>
        <p:nvSpPr>
          <p:cNvPr id="22" name="Text 20"/>
          <p:cNvSpPr/>
          <p:nvPr/>
        </p:nvSpPr>
        <p:spPr>
          <a:xfrm>
            <a:off x="6263640" y="2267712"/>
            <a:ext cx="5623560" cy="201168"/>
          </a:xfrm>
          <a:prstGeom prst="rect">
            <a:avLst/>
          </a:prstGeom>
          <a:noFill/>
          <a:ln/>
        </p:spPr>
        <p:txBody>
          <a:bodyPr wrap="square" lIns="0" tIns="0" rIns="0" bIns="0" rtlCol="0" anchor="ctr"/>
          <a:lstStyle/>
          <a:p>
            <a:pPr indent="0" marL="0">
              <a:buNone/>
            </a:pPr>
            <a:r>
              <a:rPr lang="en-US" sz="850" b="1" dirty="0">
                <a:solidFill>
                  <a:srgbClr val="B5450B"/>
                </a:solidFill>
              </a:rPr>
              <a:t>OPERACIONALIZACIÓN CFH:</a:t>
            </a:r>
            <a:endParaRPr lang="en-US" sz="850" dirty="0"/>
          </a:p>
        </p:txBody>
      </p:sp>
      <p:sp>
        <p:nvSpPr>
          <p:cNvPr id="23" name="Text 21"/>
          <p:cNvSpPr/>
          <p:nvPr/>
        </p:nvSpPr>
        <p:spPr>
          <a:xfrm>
            <a:off x="6263640" y="2450592"/>
            <a:ext cx="5623560" cy="658368"/>
          </a:xfrm>
          <a:prstGeom prst="rect">
            <a:avLst/>
          </a:prstGeom>
          <a:noFill/>
          <a:ln/>
        </p:spPr>
        <p:txBody>
          <a:bodyPr wrap="square" lIns="0" tIns="0" rIns="0" bIns="0" rtlCol="0" anchor="ctr"/>
          <a:lstStyle/>
          <a:p>
            <a:pPr indent="0" marL="0">
              <a:buNone/>
            </a:pPr>
            <a:r>
              <a:rPr lang="en-US" sz="850" dirty="0">
                <a:solidFill>
                  <a:srgbClr val="1A1A2E"/>
                </a:solidFill>
              </a:rPr>
              <a:t>EBI Score (y₁): el vocabulario de 'bajas en combate' y 'resultados operacionales' es Galtung's cultural violence lexicalizada. NV Score (y₄): la recategorización de civiles como combatientes legitima la violencia estructural del Estado.</a:t>
            </a:r>
            <a:endParaRPr lang="en-US" sz="850" dirty="0"/>
          </a:p>
        </p:txBody>
      </p:sp>
      <p:sp>
        <p:nvSpPr>
          <p:cNvPr id="24" name="Shape 22"/>
          <p:cNvSpPr/>
          <p:nvPr/>
        </p:nvSpPr>
        <p:spPr>
          <a:xfrm>
            <a:off x="6263640" y="3154680"/>
            <a:ext cx="5623560" cy="347472"/>
          </a:xfrm>
          <a:prstGeom prst="rect">
            <a:avLst/>
          </a:prstGeom>
          <a:solidFill>
            <a:srgbClr val="FFF4EE"/>
          </a:solidFill>
          <a:ln/>
        </p:spPr>
      </p:sp>
      <p:sp>
        <p:nvSpPr>
          <p:cNvPr id="25" name="Text 23"/>
          <p:cNvSpPr/>
          <p:nvPr/>
        </p:nvSpPr>
        <p:spPr>
          <a:xfrm>
            <a:off x="6309360" y="3172968"/>
            <a:ext cx="5532120" cy="310896"/>
          </a:xfrm>
          <a:prstGeom prst="rect">
            <a:avLst/>
          </a:prstGeom>
          <a:noFill/>
          <a:ln/>
        </p:spPr>
        <p:txBody>
          <a:bodyPr wrap="square" lIns="0" tIns="0" rIns="0" bIns="0" rtlCol="0" anchor="ctr"/>
          <a:lstStyle/>
          <a:p>
            <a:pPr indent="0" marL="0">
              <a:buNone/>
            </a:pPr>
            <a:r>
              <a:rPr lang="en-US" sz="900" b="1" dirty="0">
                <a:solidFill>
                  <a:srgbClr val="B5450B"/>
                </a:solidFill>
              </a:rPr>
              <a:t>Indicadores: y₁ EBI · y₄ NV</a:t>
            </a:r>
            <a:endParaRPr lang="en-US" sz="900" dirty="0"/>
          </a:p>
        </p:txBody>
      </p:sp>
      <p:sp>
        <p:nvSpPr>
          <p:cNvPr id="26" name="Shape 24"/>
          <p:cNvSpPr/>
          <p:nvPr/>
        </p:nvSpPr>
        <p:spPr>
          <a:xfrm>
            <a:off x="182880" y="379476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7" name="Shape 25"/>
          <p:cNvSpPr/>
          <p:nvPr/>
        </p:nvSpPr>
        <p:spPr>
          <a:xfrm>
            <a:off x="182880" y="3794760"/>
            <a:ext cx="5806440" cy="384048"/>
          </a:xfrm>
          <a:prstGeom prst="rect">
            <a:avLst/>
          </a:prstGeom>
          <a:solidFill>
            <a:srgbClr val="6B3FA0"/>
          </a:solidFill>
          <a:ln/>
        </p:spPr>
      </p:sp>
      <p:sp>
        <p:nvSpPr>
          <p:cNvPr id="28" name="Text 26"/>
          <p:cNvSpPr/>
          <p:nvPr/>
        </p:nvSpPr>
        <p:spPr>
          <a:xfrm>
            <a:off x="274320" y="3794760"/>
            <a:ext cx="5623560" cy="384048"/>
          </a:xfrm>
          <a:prstGeom prst="rect">
            <a:avLst/>
          </a:prstGeom>
          <a:noFill/>
          <a:ln/>
        </p:spPr>
        <p:txBody>
          <a:bodyPr wrap="square" lIns="0" tIns="0" rIns="0" bIns="0" rtlCol="0" anchor="ctr"/>
          <a:lstStyle/>
          <a:p>
            <a:pPr indent="0" marL="0">
              <a:buNone/>
            </a:pPr>
            <a:r>
              <a:rPr lang="en-US" sz="1100" b="1" dirty="0">
                <a:solidFill>
                  <a:srgbClr val="FFFFFF"/>
                </a:solidFill>
              </a:rPr>
              <a:t>FRICKER — Epistemic Injustice (2007)</a:t>
            </a:r>
            <a:endParaRPr lang="en-US" sz="1100" dirty="0"/>
          </a:p>
        </p:txBody>
      </p:sp>
      <p:sp>
        <p:nvSpPr>
          <p:cNvPr id="29" name="Shape 27"/>
          <p:cNvSpPr/>
          <p:nvPr/>
        </p:nvSpPr>
        <p:spPr>
          <a:xfrm>
            <a:off x="182880" y="4178808"/>
            <a:ext cx="5806440" cy="18288"/>
          </a:xfrm>
          <a:prstGeom prst="rect">
            <a:avLst/>
          </a:prstGeom>
          <a:solidFill>
            <a:srgbClr val="6B3FA0"/>
          </a:solidFill>
          <a:ln/>
        </p:spPr>
      </p:sp>
      <p:sp>
        <p:nvSpPr>
          <p:cNvPr id="30" name="Text 28"/>
          <p:cNvSpPr/>
          <p:nvPr/>
        </p:nvSpPr>
        <p:spPr>
          <a:xfrm>
            <a:off x="274320" y="4233672"/>
            <a:ext cx="5623560" cy="201168"/>
          </a:xfrm>
          <a:prstGeom prst="rect">
            <a:avLst/>
          </a:prstGeom>
          <a:noFill/>
          <a:ln/>
        </p:spPr>
        <p:txBody>
          <a:bodyPr wrap="square" lIns="0" tIns="0" rIns="0" bIns="0" rtlCol="0" anchor="ctr"/>
          <a:lstStyle/>
          <a:p>
            <a:pPr indent="0" marL="0">
              <a:buNone/>
            </a:pPr>
            <a:r>
              <a:rPr lang="en-US" sz="850" b="1" dirty="0">
                <a:solidFill>
                  <a:srgbClr val="6B3FA0"/>
                </a:solidFill>
              </a:rPr>
              <a:t>CONCEPTO CLAVE:</a:t>
            </a:r>
            <a:endParaRPr lang="en-US" sz="850" dirty="0"/>
          </a:p>
        </p:txBody>
      </p:sp>
      <p:sp>
        <p:nvSpPr>
          <p:cNvPr id="31" name="Text 29"/>
          <p:cNvSpPr/>
          <p:nvPr/>
        </p:nvSpPr>
        <p:spPr>
          <a:xfrm>
            <a:off x="274320" y="4416552"/>
            <a:ext cx="5623560" cy="658368"/>
          </a:xfrm>
          <a:prstGeom prst="rect">
            <a:avLst/>
          </a:prstGeom>
          <a:noFill/>
          <a:ln/>
        </p:spPr>
        <p:txBody>
          <a:bodyPr wrap="square" lIns="0" tIns="0" rIns="0" bIns="0" rtlCol="0" anchor="ctr"/>
          <a:lstStyle/>
          <a:p>
            <a:pPr indent="0" marL="0">
              <a:buNone/>
            </a:pPr>
            <a:r>
              <a:rPr lang="en-US" sz="850" dirty="0">
                <a:solidFill>
                  <a:srgbClr val="1A1A2E"/>
                </a:solidFill>
              </a:rPr>
              <a:t>Injusticia testimonial (credibility discount): la víctima recibe menos credibilidad de la que merece por razón de su identidad. Injusticia hermenéutica (hermeneutical gap): ausencia de recursos conceptuales para articular la experiencia.</a:t>
            </a:r>
            <a:endParaRPr lang="en-US" sz="850" dirty="0"/>
          </a:p>
        </p:txBody>
      </p:sp>
      <p:sp>
        <p:nvSpPr>
          <p:cNvPr id="32" name="Shape 30"/>
          <p:cNvSpPr/>
          <p:nvPr/>
        </p:nvSpPr>
        <p:spPr>
          <a:xfrm>
            <a:off x="274320" y="5093208"/>
            <a:ext cx="5623560" cy="18288"/>
          </a:xfrm>
          <a:prstGeom prst="rect">
            <a:avLst/>
          </a:prstGeom>
          <a:solidFill>
            <a:srgbClr val="6B3FA0"/>
          </a:solidFill>
          <a:ln/>
        </p:spPr>
      </p:sp>
      <p:sp>
        <p:nvSpPr>
          <p:cNvPr id="33" name="Text 31"/>
          <p:cNvSpPr/>
          <p:nvPr/>
        </p:nvSpPr>
        <p:spPr>
          <a:xfrm>
            <a:off x="274320" y="5148072"/>
            <a:ext cx="5623560" cy="201168"/>
          </a:xfrm>
          <a:prstGeom prst="rect">
            <a:avLst/>
          </a:prstGeom>
          <a:noFill/>
          <a:ln/>
        </p:spPr>
        <p:txBody>
          <a:bodyPr wrap="square" lIns="0" tIns="0" rIns="0" bIns="0" rtlCol="0" anchor="ctr"/>
          <a:lstStyle/>
          <a:p>
            <a:pPr indent="0" marL="0">
              <a:buNone/>
            </a:pPr>
            <a:r>
              <a:rPr lang="en-US" sz="850" b="1" dirty="0">
                <a:solidFill>
                  <a:srgbClr val="6B3FA0"/>
                </a:solidFill>
              </a:rPr>
              <a:t>OPERACIONALIZACIÓN CFH:</a:t>
            </a:r>
            <a:endParaRPr lang="en-US" sz="850" dirty="0"/>
          </a:p>
        </p:txBody>
      </p:sp>
      <p:sp>
        <p:nvSpPr>
          <p:cNvPr id="34" name="Text 32"/>
          <p:cNvSpPr/>
          <p:nvPr/>
        </p:nvSpPr>
        <p:spPr>
          <a:xfrm>
            <a:off x="274320" y="5330952"/>
            <a:ext cx="5623560" cy="658368"/>
          </a:xfrm>
          <a:prstGeom prst="rect">
            <a:avLst/>
          </a:prstGeom>
          <a:noFill/>
          <a:ln/>
        </p:spPr>
        <p:txBody>
          <a:bodyPr wrap="square" lIns="0" tIns="0" rIns="0" bIns="0" rtlCol="0" anchor="ctr"/>
          <a:lstStyle/>
          <a:p>
            <a:pPr indent="0" marL="0">
              <a:buNone/>
            </a:pPr>
            <a:r>
              <a:rPr lang="en-US" sz="850" dirty="0">
                <a:solidFill>
                  <a:srgbClr val="1A1A2E"/>
                </a:solidFill>
              </a:rPr>
              <a:t>IEI Score (η₂): y₈ y y₉ miden la hermeneutical gap — distancia semántica al léxico de víctimas y estándares DDHH. y₄ dentro del IEI mide el credibility discount. REP mide la expansión de recursos hermenéuticos.</a:t>
            </a:r>
            <a:endParaRPr lang="en-US" sz="850" dirty="0"/>
          </a:p>
        </p:txBody>
      </p:sp>
      <p:sp>
        <p:nvSpPr>
          <p:cNvPr id="35" name="Shape 33"/>
          <p:cNvSpPr/>
          <p:nvPr/>
        </p:nvSpPr>
        <p:spPr>
          <a:xfrm>
            <a:off x="274320" y="6035040"/>
            <a:ext cx="5623560" cy="347472"/>
          </a:xfrm>
          <a:prstGeom prst="rect">
            <a:avLst/>
          </a:prstGeom>
          <a:solidFill>
            <a:srgbClr val="F5EEFF"/>
          </a:solidFill>
          <a:ln/>
        </p:spPr>
      </p:sp>
      <p:sp>
        <p:nvSpPr>
          <p:cNvPr id="36" name="Text 34"/>
          <p:cNvSpPr/>
          <p:nvPr/>
        </p:nvSpPr>
        <p:spPr>
          <a:xfrm>
            <a:off x="320040" y="6053328"/>
            <a:ext cx="5532120" cy="310896"/>
          </a:xfrm>
          <a:prstGeom prst="rect">
            <a:avLst/>
          </a:prstGeom>
          <a:noFill/>
          <a:ln/>
        </p:spPr>
        <p:txBody>
          <a:bodyPr wrap="square" lIns="0" tIns="0" rIns="0" bIns="0" rtlCol="0" anchor="ctr"/>
          <a:lstStyle/>
          <a:p>
            <a:pPr indent="0" marL="0">
              <a:buNone/>
            </a:pPr>
            <a:r>
              <a:rPr lang="en-US" sz="900" b="1" dirty="0">
                <a:solidFill>
                  <a:srgbClr val="6B3FA0"/>
                </a:solidFill>
              </a:rPr>
              <a:t>Indicadores: y₄ (en IEI) · y₈ · y₉ · y₁₀</a:t>
            </a:r>
            <a:endParaRPr lang="en-US" sz="900" dirty="0"/>
          </a:p>
        </p:txBody>
      </p:sp>
      <p:sp>
        <p:nvSpPr>
          <p:cNvPr id="37" name="Shape 35"/>
          <p:cNvSpPr/>
          <p:nvPr/>
        </p:nvSpPr>
        <p:spPr>
          <a:xfrm>
            <a:off x="6172200" y="379476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8" name="Shape 36"/>
          <p:cNvSpPr/>
          <p:nvPr/>
        </p:nvSpPr>
        <p:spPr>
          <a:xfrm>
            <a:off x="6172200" y="3794760"/>
            <a:ext cx="5806440" cy="384048"/>
          </a:xfrm>
          <a:prstGeom prst="rect">
            <a:avLst/>
          </a:prstGeom>
          <a:solidFill>
            <a:srgbClr val="217346"/>
          </a:solidFill>
          <a:ln/>
        </p:spPr>
      </p:sp>
      <p:sp>
        <p:nvSpPr>
          <p:cNvPr id="39" name="Text 37"/>
          <p:cNvSpPr/>
          <p:nvPr/>
        </p:nvSpPr>
        <p:spPr>
          <a:xfrm>
            <a:off x="6263640" y="3794760"/>
            <a:ext cx="5623560" cy="384048"/>
          </a:xfrm>
          <a:prstGeom prst="rect">
            <a:avLst/>
          </a:prstGeom>
          <a:noFill/>
          <a:ln/>
        </p:spPr>
        <p:txBody>
          <a:bodyPr wrap="square" lIns="0" tIns="0" rIns="0" bIns="0" rtlCol="0" anchor="ctr"/>
          <a:lstStyle/>
          <a:p>
            <a:pPr indent="0" marL="0">
              <a:buNone/>
            </a:pPr>
            <a:r>
              <a:rPr lang="en-US" sz="1100" b="1" dirty="0">
                <a:solidFill>
                  <a:srgbClr val="FFFFFF"/>
                </a:solidFill>
              </a:rPr>
              <a:t>FRASER — Scales of Justice (2008) · Redistribution or Recognition (2003)</a:t>
            </a:r>
            <a:endParaRPr lang="en-US" sz="1100" dirty="0"/>
          </a:p>
        </p:txBody>
      </p:sp>
      <p:sp>
        <p:nvSpPr>
          <p:cNvPr id="40" name="Shape 38"/>
          <p:cNvSpPr/>
          <p:nvPr/>
        </p:nvSpPr>
        <p:spPr>
          <a:xfrm>
            <a:off x="6172200" y="4178808"/>
            <a:ext cx="5806440" cy="18288"/>
          </a:xfrm>
          <a:prstGeom prst="rect">
            <a:avLst/>
          </a:prstGeom>
          <a:solidFill>
            <a:srgbClr val="217346"/>
          </a:solidFill>
          <a:ln/>
        </p:spPr>
      </p:sp>
      <p:sp>
        <p:nvSpPr>
          <p:cNvPr id="41" name="Text 39"/>
          <p:cNvSpPr/>
          <p:nvPr/>
        </p:nvSpPr>
        <p:spPr>
          <a:xfrm>
            <a:off x="6263640" y="4233672"/>
            <a:ext cx="5623560" cy="201168"/>
          </a:xfrm>
          <a:prstGeom prst="rect">
            <a:avLst/>
          </a:prstGeom>
          <a:noFill/>
          <a:ln/>
        </p:spPr>
        <p:txBody>
          <a:bodyPr wrap="square" lIns="0" tIns="0" rIns="0" bIns="0" rtlCol="0" anchor="ctr"/>
          <a:lstStyle/>
          <a:p>
            <a:pPr indent="0" marL="0">
              <a:buNone/>
            </a:pPr>
            <a:r>
              <a:rPr lang="en-US" sz="850" b="1" dirty="0">
                <a:solidFill>
                  <a:srgbClr val="217346"/>
                </a:solidFill>
              </a:rPr>
              <a:t>CONCEPTO CLAVE:</a:t>
            </a:r>
            <a:endParaRPr lang="en-US" sz="850" dirty="0"/>
          </a:p>
        </p:txBody>
      </p:sp>
      <p:sp>
        <p:nvSpPr>
          <p:cNvPr id="42" name="Text 40"/>
          <p:cNvSpPr/>
          <p:nvPr/>
        </p:nvSpPr>
        <p:spPr>
          <a:xfrm>
            <a:off x="6263640" y="4416552"/>
            <a:ext cx="5623560" cy="658368"/>
          </a:xfrm>
          <a:prstGeom prst="rect">
            <a:avLst/>
          </a:prstGeom>
          <a:noFill/>
          <a:ln/>
        </p:spPr>
        <p:txBody>
          <a:bodyPr wrap="square" lIns="0" tIns="0" rIns="0" bIns="0" rtlCol="0" anchor="ctr"/>
          <a:lstStyle/>
          <a:p>
            <a:pPr indent="0" marL="0">
              <a:buNone/>
            </a:pPr>
            <a:r>
              <a:rPr lang="en-US" sz="850" dirty="0">
                <a:solidFill>
                  <a:srgbClr val="1A1A2E"/>
                </a:solidFill>
              </a:rPr>
              <a:t>Paridad participativa: condición de justicia donde todos participan como pares en la vida social. Tres dimensiones: redistribución (económica), reconocimiento (cultural), representación (política). El reconocimiento epistémico es condición de la paridad participativa.</a:t>
            </a:r>
            <a:endParaRPr lang="en-US" sz="850" dirty="0"/>
          </a:p>
        </p:txBody>
      </p:sp>
      <p:sp>
        <p:nvSpPr>
          <p:cNvPr id="43" name="Shape 41"/>
          <p:cNvSpPr/>
          <p:nvPr/>
        </p:nvSpPr>
        <p:spPr>
          <a:xfrm>
            <a:off x="6263640" y="5093208"/>
            <a:ext cx="5623560" cy="18288"/>
          </a:xfrm>
          <a:prstGeom prst="rect">
            <a:avLst/>
          </a:prstGeom>
          <a:solidFill>
            <a:srgbClr val="217346"/>
          </a:solidFill>
          <a:ln/>
        </p:spPr>
      </p:sp>
      <p:sp>
        <p:nvSpPr>
          <p:cNvPr id="44" name="Text 42"/>
          <p:cNvSpPr/>
          <p:nvPr/>
        </p:nvSpPr>
        <p:spPr>
          <a:xfrm>
            <a:off x="6263640" y="5148072"/>
            <a:ext cx="5623560" cy="201168"/>
          </a:xfrm>
          <a:prstGeom prst="rect">
            <a:avLst/>
          </a:prstGeom>
          <a:noFill/>
          <a:ln/>
        </p:spPr>
        <p:txBody>
          <a:bodyPr wrap="square" lIns="0" tIns="0" rIns="0" bIns="0" rtlCol="0" anchor="ctr"/>
          <a:lstStyle/>
          <a:p>
            <a:pPr indent="0" marL="0">
              <a:buNone/>
            </a:pPr>
            <a:r>
              <a:rPr lang="en-US" sz="850" b="1" dirty="0">
                <a:solidFill>
                  <a:srgbClr val="217346"/>
                </a:solidFill>
              </a:rPr>
              <a:t>OPERACIONALIZACIÓN CFH:</a:t>
            </a:r>
            <a:endParaRPr lang="en-US" sz="850" dirty="0"/>
          </a:p>
        </p:txBody>
      </p:sp>
      <p:sp>
        <p:nvSpPr>
          <p:cNvPr id="45" name="Text 43"/>
          <p:cNvSpPr/>
          <p:nvPr/>
        </p:nvSpPr>
        <p:spPr>
          <a:xfrm>
            <a:off x="6263640" y="5330952"/>
            <a:ext cx="5623560" cy="658368"/>
          </a:xfrm>
          <a:prstGeom prst="rect">
            <a:avLst/>
          </a:prstGeom>
          <a:noFill/>
          <a:ln/>
        </p:spPr>
        <p:txBody>
          <a:bodyPr wrap="square" lIns="0" tIns="0" rIns="0" bIns="0" rtlCol="0" anchor="ctr"/>
          <a:lstStyle/>
          <a:p>
            <a:pPr indent="0" marL="0">
              <a:buNone/>
            </a:pPr>
            <a:r>
              <a:rPr lang="en-US" sz="850" dirty="0">
                <a:solidFill>
                  <a:srgbClr val="1A1A2E"/>
                </a:solidFill>
              </a:rPr>
              <a:t>REP Score (y₁₀): el lenguaje reparador restaura el reconocimiento epistémico de la víctima como interlocutora válida. ICM tri-canal: la congruencia entre canales es el requisito performativo de la paridad participativa. DIS alto → paridad bloqueada.</a:t>
            </a:r>
            <a:endParaRPr lang="en-US" sz="850" dirty="0"/>
          </a:p>
        </p:txBody>
      </p:sp>
      <p:sp>
        <p:nvSpPr>
          <p:cNvPr id="46" name="Shape 44"/>
          <p:cNvSpPr/>
          <p:nvPr/>
        </p:nvSpPr>
        <p:spPr>
          <a:xfrm>
            <a:off x="6263640" y="6035040"/>
            <a:ext cx="5623560" cy="347472"/>
          </a:xfrm>
          <a:prstGeom prst="rect">
            <a:avLst/>
          </a:prstGeom>
          <a:solidFill>
            <a:srgbClr val="EBF7F0"/>
          </a:solidFill>
          <a:ln/>
        </p:spPr>
      </p:sp>
      <p:sp>
        <p:nvSpPr>
          <p:cNvPr id="47" name="Text 45"/>
          <p:cNvSpPr/>
          <p:nvPr/>
        </p:nvSpPr>
        <p:spPr>
          <a:xfrm>
            <a:off x="6309360" y="6053328"/>
            <a:ext cx="5532120" cy="310896"/>
          </a:xfrm>
          <a:prstGeom prst="rect">
            <a:avLst/>
          </a:prstGeom>
          <a:noFill/>
          <a:ln/>
        </p:spPr>
        <p:txBody>
          <a:bodyPr wrap="square" lIns="0" tIns="0" rIns="0" bIns="0" rtlCol="0" anchor="ctr"/>
          <a:lstStyle/>
          <a:p>
            <a:pPr indent="0" marL="0">
              <a:buNone/>
            </a:pPr>
            <a:r>
              <a:rPr lang="en-US" sz="900" b="1" dirty="0">
                <a:solidFill>
                  <a:srgbClr val="217346"/>
                </a:solidFill>
              </a:rPr>
              <a:t>Indicadores: y₁₀ REP · y₁₂ ICM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1F4E79"/>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Arquitectura — 3 Capas · 4 Variables Latentes · 13 Indicadores · 4 Marcos Teóricos</a:t>
            </a:r>
            <a:endParaRPr lang="en-US" sz="1700" dirty="0"/>
          </a:p>
        </p:txBody>
      </p:sp>
      <p:sp>
        <p:nvSpPr>
          <p:cNvPr id="4" name="Shape 2"/>
          <p:cNvSpPr/>
          <p:nvPr/>
        </p:nvSpPr>
        <p:spPr>
          <a:xfrm>
            <a:off x="182880" y="914400"/>
            <a:ext cx="3474720" cy="5486400"/>
          </a:xfrm>
          <a:prstGeom prst="rect">
            <a:avLst/>
          </a:prstGeom>
          <a:solidFill>
            <a:srgbClr val="EBF3FB"/>
          </a:solidFill>
          <a:ln/>
          <a:effectLst>
            <a:outerShdw sx="100000" sy="100000" kx="0" ky="0" algn="bl" rotWithShape="0" blurRad="76200" dist="25400" dir="8100000">
              <a:srgbClr val="000000">
                <a:alpha val="12000"/>
              </a:srgbClr>
            </a:outerShdw>
          </a:effectLst>
        </p:spPr>
      </p:sp>
      <p:sp>
        <p:nvSpPr>
          <p:cNvPr id="5" name="Shape 3"/>
          <p:cNvSpPr/>
          <p:nvPr/>
        </p:nvSpPr>
        <p:spPr>
          <a:xfrm>
            <a:off x="182880" y="914400"/>
            <a:ext cx="3474720" cy="384048"/>
          </a:xfrm>
          <a:prstGeom prst="rect">
            <a:avLst/>
          </a:prstGeom>
          <a:solidFill>
            <a:srgbClr val="2E75B6"/>
          </a:solidFill>
          <a:ln/>
        </p:spPr>
      </p:sp>
      <p:sp>
        <p:nvSpPr>
          <p:cNvPr id="6" name="Text 4"/>
          <p:cNvSpPr/>
          <p:nvPr/>
        </p:nvSpPr>
        <p:spPr>
          <a:xfrm>
            <a:off x="228600" y="914400"/>
            <a:ext cx="3383280" cy="256032"/>
          </a:xfrm>
          <a:prstGeom prst="rect">
            <a:avLst/>
          </a:prstGeom>
          <a:noFill/>
          <a:ln/>
        </p:spPr>
        <p:txBody>
          <a:bodyPr wrap="square" lIns="0" tIns="0" rIns="0" bIns="0" rtlCol="0" anchor="ctr"/>
          <a:lstStyle/>
          <a:p>
            <a:pPr indent="0" marL="0">
              <a:buNone/>
            </a:pPr>
            <a:r>
              <a:rPr lang="en-US" sz="1100" b="1" dirty="0">
                <a:solidFill>
                  <a:srgbClr val="FFFFFF"/>
                </a:solidFill>
              </a:rPr>
              <a:t>CAPA 1 — TEXTUAL</a:t>
            </a:r>
            <a:endParaRPr lang="en-US" sz="1100" dirty="0"/>
          </a:p>
        </p:txBody>
      </p:sp>
      <p:sp>
        <p:nvSpPr>
          <p:cNvPr id="7" name="Text 5"/>
          <p:cNvSpPr/>
          <p:nvPr/>
        </p:nvSpPr>
        <p:spPr>
          <a:xfrm>
            <a:off x="228600" y="1170432"/>
            <a:ext cx="3383280" cy="155448"/>
          </a:xfrm>
          <a:prstGeom prst="rect">
            <a:avLst/>
          </a:prstGeom>
          <a:noFill/>
          <a:ln/>
        </p:spPr>
        <p:txBody>
          <a:bodyPr wrap="square" lIns="0" tIns="0" rIns="0" bIns="0" rtlCol="0" anchor="ctr"/>
          <a:lstStyle/>
          <a:p>
            <a:pPr indent="0" marL="0">
              <a:buNone/>
            </a:pPr>
            <a:r>
              <a:rPr lang="en-US" sz="750" i="1" dirty="0">
                <a:solidFill>
                  <a:srgbClr val="FFFFFF"/>
                </a:solidFill>
              </a:rPr>
              <a:t>Habermas (SAV) · Galtung (CV)</a:t>
            </a:r>
            <a:endParaRPr lang="en-US" sz="750" dirty="0"/>
          </a:p>
        </p:txBody>
      </p:sp>
      <p:sp>
        <p:nvSpPr>
          <p:cNvPr id="8" name="Shape 6"/>
          <p:cNvSpPr/>
          <p:nvPr/>
        </p:nvSpPr>
        <p:spPr>
          <a:xfrm>
            <a:off x="256032" y="1389888"/>
            <a:ext cx="384048" cy="502920"/>
          </a:xfrm>
          <a:prstGeom prst="rect">
            <a:avLst/>
          </a:prstGeom>
          <a:solidFill>
            <a:srgbClr val="FCE4D6"/>
          </a:solidFill>
          <a:ln/>
        </p:spPr>
      </p:sp>
      <p:sp>
        <p:nvSpPr>
          <p:cNvPr id="9" name="Text 7"/>
          <p:cNvSpPr/>
          <p:nvPr/>
        </p:nvSpPr>
        <p:spPr>
          <a:xfrm>
            <a:off x="256032" y="1389888"/>
            <a:ext cx="384048" cy="502920"/>
          </a:xfrm>
          <a:prstGeom prst="rect">
            <a:avLst/>
          </a:prstGeom>
          <a:noFill/>
          <a:ln/>
        </p:spPr>
        <p:txBody>
          <a:bodyPr wrap="square" lIns="0" tIns="0" rIns="0" bIns="0" rtlCol="0" anchor="ctr"/>
          <a:lstStyle/>
          <a:p>
            <a:pPr algn="ctr" indent="0" marL="0">
              <a:buNone/>
            </a:pPr>
            <a:r>
              <a:rPr lang="en-US" sz="900" b="1" dirty="0">
                <a:solidFill>
                  <a:srgbClr val="C00000"/>
                </a:solidFill>
              </a:rPr>
              <a:t>y₁</a:t>
            </a:r>
            <a:endParaRPr lang="en-US" sz="900" dirty="0"/>
          </a:p>
        </p:txBody>
      </p:sp>
      <p:sp>
        <p:nvSpPr>
          <p:cNvPr id="10" name="Text 8"/>
          <p:cNvSpPr/>
          <p:nvPr/>
        </p:nvSpPr>
        <p:spPr>
          <a:xfrm>
            <a:off x="694944" y="1408176"/>
            <a:ext cx="2871216" cy="246888"/>
          </a:xfrm>
          <a:prstGeom prst="rect">
            <a:avLst/>
          </a:prstGeom>
          <a:noFill/>
          <a:ln/>
        </p:spPr>
        <p:txBody>
          <a:bodyPr wrap="square" lIns="0" tIns="0" rIns="0" bIns="0" rtlCol="0" anchor="ctr"/>
          <a:lstStyle/>
          <a:p>
            <a:pPr indent="0" marL="0">
              <a:buNone/>
            </a:pPr>
            <a:r>
              <a:rPr lang="en-US" sz="1000" b="1" dirty="0">
                <a:solidFill>
                  <a:srgbClr val="1A1A2E"/>
                </a:solidFill>
              </a:rPr>
              <a:t>EBI Score</a:t>
            </a:r>
            <a:endParaRPr lang="en-US" sz="1000" dirty="0"/>
          </a:p>
        </p:txBody>
      </p:sp>
      <p:sp>
        <p:nvSpPr>
          <p:cNvPr id="11" name="Text 9"/>
          <p:cNvSpPr/>
          <p:nvPr/>
        </p:nvSpPr>
        <p:spPr>
          <a:xfrm>
            <a:off x="694944" y="1645920"/>
            <a:ext cx="2871216" cy="182880"/>
          </a:xfrm>
          <a:prstGeom prst="rect">
            <a:avLst/>
          </a:prstGeom>
          <a:noFill/>
          <a:ln/>
        </p:spPr>
        <p:txBody>
          <a:bodyPr wrap="square" lIns="0" tIns="0" rIns="0" bIns="0" rtlCol="0" anchor="ctr"/>
          <a:lstStyle/>
          <a:p>
            <a:pPr indent="0" marL="0">
              <a:buNone/>
            </a:pPr>
            <a:r>
              <a:rPr lang="en-US" sz="800" dirty="0">
                <a:solidFill>
                  <a:srgbClr val="6B7280"/>
                </a:solidFill>
              </a:rPr>
              <a:t>Eufemismo Bélico-Institucional</a:t>
            </a:r>
            <a:endParaRPr lang="en-US" sz="800" dirty="0"/>
          </a:p>
        </p:txBody>
      </p:sp>
      <p:sp>
        <p:nvSpPr>
          <p:cNvPr id="12" name="Text 10"/>
          <p:cNvSpPr/>
          <p:nvPr/>
        </p:nvSpPr>
        <p:spPr>
          <a:xfrm>
            <a:off x="694944" y="1645920"/>
            <a:ext cx="2871216" cy="182880"/>
          </a:xfrm>
          <a:prstGeom prst="rect">
            <a:avLst/>
          </a:prstGeom>
          <a:noFill/>
          <a:ln/>
        </p:spPr>
        <p:txBody>
          <a:bodyPr wrap="square" lIns="0" tIns="0" rIns="0" bIns="0" rtlCol="0" anchor="ctr"/>
          <a:lstStyle/>
          <a:p>
            <a:pPr algn="r" indent="0" marL="0">
              <a:buNone/>
            </a:pPr>
            <a:r>
              <a:rPr lang="en-US" sz="800" dirty="0">
                <a:solidFill>
                  <a:srgbClr val="6B7280"/>
                </a:solidFill>
              </a:rPr>
              <a:t>CFH-BERT v2 IO</a:t>
            </a:r>
            <a:endParaRPr lang="en-US" sz="800" dirty="0"/>
          </a:p>
        </p:txBody>
      </p:sp>
      <p:sp>
        <p:nvSpPr>
          <p:cNvPr id="13" name="Shape 11"/>
          <p:cNvSpPr/>
          <p:nvPr/>
        </p:nvSpPr>
        <p:spPr>
          <a:xfrm>
            <a:off x="256032" y="2075688"/>
            <a:ext cx="384048" cy="502920"/>
          </a:xfrm>
          <a:prstGeom prst="rect">
            <a:avLst/>
          </a:prstGeom>
          <a:solidFill>
            <a:srgbClr val="E2F0E8"/>
          </a:solidFill>
          <a:ln/>
        </p:spPr>
      </p:sp>
      <p:sp>
        <p:nvSpPr>
          <p:cNvPr id="14" name="Text 12"/>
          <p:cNvSpPr/>
          <p:nvPr/>
        </p:nvSpPr>
        <p:spPr>
          <a:xfrm>
            <a:off x="256032" y="2075688"/>
            <a:ext cx="384048" cy="502920"/>
          </a:xfrm>
          <a:prstGeom prst="rect">
            <a:avLst/>
          </a:prstGeom>
          <a:noFill/>
          <a:ln/>
        </p:spPr>
        <p:txBody>
          <a:bodyPr wrap="square" lIns="0" tIns="0" rIns="0" bIns="0" rtlCol="0" anchor="ctr"/>
          <a:lstStyle/>
          <a:p>
            <a:pPr algn="ctr" indent="0" marL="0">
              <a:buNone/>
            </a:pPr>
            <a:r>
              <a:rPr lang="en-US" sz="900" b="1" dirty="0">
                <a:solidFill>
                  <a:srgbClr val="217346"/>
                </a:solidFill>
              </a:rPr>
              <a:t>y₂</a:t>
            </a:r>
            <a:endParaRPr lang="en-US" sz="900" dirty="0"/>
          </a:p>
        </p:txBody>
      </p:sp>
      <p:sp>
        <p:nvSpPr>
          <p:cNvPr id="15" name="Text 13"/>
          <p:cNvSpPr/>
          <p:nvPr/>
        </p:nvSpPr>
        <p:spPr>
          <a:xfrm>
            <a:off x="694944" y="2093976"/>
            <a:ext cx="2871216" cy="246888"/>
          </a:xfrm>
          <a:prstGeom prst="rect">
            <a:avLst/>
          </a:prstGeom>
          <a:noFill/>
          <a:ln/>
        </p:spPr>
        <p:txBody>
          <a:bodyPr wrap="square" lIns="0" tIns="0" rIns="0" bIns="0" rtlCol="0" anchor="ctr"/>
          <a:lstStyle/>
          <a:p>
            <a:pPr indent="0" marL="0">
              <a:buNone/>
            </a:pPr>
            <a:r>
              <a:rPr lang="en-US" sz="1000" b="1" dirty="0">
                <a:solidFill>
                  <a:srgbClr val="1A1A2E"/>
                </a:solidFill>
              </a:rPr>
              <a:t>SA Score</a:t>
            </a:r>
            <a:endParaRPr lang="en-US" sz="1000" dirty="0"/>
          </a:p>
        </p:txBody>
      </p:sp>
      <p:sp>
        <p:nvSpPr>
          <p:cNvPr id="16" name="Text 14"/>
          <p:cNvSpPr/>
          <p:nvPr/>
        </p:nvSpPr>
        <p:spPr>
          <a:xfrm>
            <a:off x="694944" y="2331720"/>
            <a:ext cx="2871216" cy="182880"/>
          </a:xfrm>
          <a:prstGeom prst="rect">
            <a:avLst/>
          </a:prstGeom>
          <a:noFill/>
          <a:ln/>
        </p:spPr>
        <p:txBody>
          <a:bodyPr wrap="square" lIns="0" tIns="0" rIns="0" bIns="0" rtlCol="0" anchor="ctr"/>
          <a:lstStyle/>
          <a:p>
            <a:pPr indent="0" marL="0">
              <a:buNone/>
            </a:pPr>
            <a:r>
              <a:rPr lang="en-US" sz="800" dirty="0">
                <a:solidFill>
                  <a:srgbClr val="6B7280"/>
                </a:solidFill>
              </a:rPr>
              <a:t>Supresión de Agentividad</a:t>
            </a:r>
            <a:endParaRPr lang="en-US" sz="800" dirty="0"/>
          </a:p>
        </p:txBody>
      </p:sp>
      <p:sp>
        <p:nvSpPr>
          <p:cNvPr id="17" name="Text 15"/>
          <p:cNvSpPr/>
          <p:nvPr/>
        </p:nvSpPr>
        <p:spPr>
          <a:xfrm>
            <a:off x="694944" y="2331720"/>
            <a:ext cx="2871216" cy="182880"/>
          </a:xfrm>
          <a:prstGeom prst="rect">
            <a:avLst/>
          </a:prstGeom>
          <a:noFill/>
          <a:ln/>
        </p:spPr>
        <p:txBody>
          <a:bodyPr wrap="square" lIns="0" tIns="0" rIns="0" bIns="0" rtlCol="0" anchor="ctr"/>
          <a:lstStyle/>
          <a:p>
            <a:pPr algn="r" indent="0" marL="0">
              <a:buNone/>
            </a:pPr>
            <a:r>
              <a:rPr lang="en-US" sz="800" dirty="0">
                <a:solidFill>
                  <a:srgbClr val="6B7280"/>
                </a:solidFill>
              </a:rPr>
              <a:t>spaCy deps</a:t>
            </a:r>
            <a:endParaRPr lang="en-US" sz="800" dirty="0"/>
          </a:p>
        </p:txBody>
      </p:sp>
      <p:sp>
        <p:nvSpPr>
          <p:cNvPr id="18" name="Shape 16"/>
          <p:cNvSpPr/>
          <p:nvPr/>
        </p:nvSpPr>
        <p:spPr>
          <a:xfrm>
            <a:off x="256032" y="2761488"/>
            <a:ext cx="384048" cy="502920"/>
          </a:xfrm>
          <a:prstGeom prst="rect">
            <a:avLst/>
          </a:prstGeom>
          <a:solidFill>
            <a:srgbClr val="E2F0E8"/>
          </a:solidFill>
          <a:ln/>
        </p:spPr>
      </p:sp>
      <p:sp>
        <p:nvSpPr>
          <p:cNvPr id="19" name="Text 17"/>
          <p:cNvSpPr/>
          <p:nvPr/>
        </p:nvSpPr>
        <p:spPr>
          <a:xfrm>
            <a:off x="256032" y="2761488"/>
            <a:ext cx="384048" cy="502920"/>
          </a:xfrm>
          <a:prstGeom prst="rect">
            <a:avLst/>
          </a:prstGeom>
          <a:noFill/>
          <a:ln/>
        </p:spPr>
        <p:txBody>
          <a:bodyPr wrap="square" lIns="0" tIns="0" rIns="0" bIns="0" rtlCol="0" anchor="ctr"/>
          <a:lstStyle/>
          <a:p>
            <a:pPr algn="ctr" indent="0" marL="0">
              <a:buNone/>
            </a:pPr>
            <a:r>
              <a:rPr lang="en-US" sz="900" b="1" dirty="0">
                <a:solidFill>
                  <a:srgbClr val="217346"/>
                </a:solidFill>
              </a:rPr>
              <a:t>y₃</a:t>
            </a:r>
            <a:endParaRPr lang="en-US" sz="900" dirty="0"/>
          </a:p>
        </p:txBody>
      </p:sp>
      <p:sp>
        <p:nvSpPr>
          <p:cNvPr id="20" name="Text 18"/>
          <p:cNvSpPr/>
          <p:nvPr/>
        </p:nvSpPr>
        <p:spPr>
          <a:xfrm>
            <a:off x="694944" y="2779776"/>
            <a:ext cx="2871216" cy="246888"/>
          </a:xfrm>
          <a:prstGeom prst="rect">
            <a:avLst/>
          </a:prstGeom>
          <a:noFill/>
          <a:ln/>
        </p:spPr>
        <p:txBody>
          <a:bodyPr wrap="square" lIns="0" tIns="0" rIns="0" bIns="0" rtlCol="0" anchor="ctr"/>
          <a:lstStyle/>
          <a:p>
            <a:pPr indent="0" marL="0">
              <a:buNone/>
            </a:pPr>
            <a:r>
              <a:rPr lang="en-US" sz="1000" b="1" dirty="0">
                <a:solidFill>
                  <a:srgbClr val="1A1A2E"/>
                </a:solidFill>
              </a:rPr>
              <a:t>Civil Dist.</a:t>
            </a:r>
            <a:endParaRPr lang="en-US" sz="1000" dirty="0"/>
          </a:p>
        </p:txBody>
      </p:sp>
      <p:sp>
        <p:nvSpPr>
          <p:cNvPr id="21" name="Text 19"/>
          <p:cNvSpPr/>
          <p:nvPr/>
        </p:nvSpPr>
        <p:spPr>
          <a:xfrm>
            <a:off x="694944" y="3017520"/>
            <a:ext cx="2871216" cy="182880"/>
          </a:xfrm>
          <a:prstGeom prst="rect">
            <a:avLst/>
          </a:prstGeom>
          <a:noFill/>
          <a:ln/>
        </p:spPr>
        <p:txBody>
          <a:bodyPr wrap="square" lIns="0" tIns="0" rIns="0" bIns="0" rtlCol="0" anchor="ctr"/>
          <a:lstStyle/>
          <a:p>
            <a:pPr indent="0" marL="0">
              <a:buNone/>
            </a:pPr>
            <a:r>
              <a:rPr lang="en-US" sz="800" dirty="0">
                <a:solidFill>
                  <a:srgbClr val="6B7280"/>
                </a:solidFill>
              </a:rPr>
              <a:t>Distancia léxico civil</a:t>
            </a:r>
            <a:endParaRPr lang="en-US" sz="800" dirty="0"/>
          </a:p>
        </p:txBody>
      </p:sp>
      <p:sp>
        <p:nvSpPr>
          <p:cNvPr id="22" name="Text 20"/>
          <p:cNvSpPr/>
          <p:nvPr/>
        </p:nvSpPr>
        <p:spPr>
          <a:xfrm>
            <a:off x="694944" y="3017520"/>
            <a:ext cx="2871216" cy="182880"/>
          </a:xfrm>
          <a:prstGeom prst="rect">
            <a:avLst/>
          </a:prstGeom>
          <a:noFill/>
          <a:ln/>
        </p:spPr>
        <p:txBody>
          <a:bodyPr wrap="square" lIns="0" tIns="0" rIns="0" bIns="0" rtlCol="0" anchor="ctr"/>
          <a:lstStyle/>
          <a:p>
            <a:pPr algn="r" indent="0" marL="0">
              <a:buNone/>
            </a:pPr>
            <a:r>
              <a:rPr lang="en-US" sz="800" dirty="0">
                <a:solidFill>
                  <a:srgbClr val="6B7280"/>
                </a:solidFill>
              </a:rPr>
              <a:t>TF-IDF coseno</a:t>
            </a:r>
            <a:endParaRPr lang="en-US" sz="800" dirty="0"/>
          </a:p>
        </p:txBody>
      </p:sp>
      <p:sp>
        <p:nvSpPr>
          <p:cNvPr id="23" name="Shape 21"/>
          <p:cNvSpPr/>
          <p:nvPr/>
        </p:nvSpPr>
        <p:spPr>
          <a:xfrm>
            <a:off x="256032" y="3447288"/>
            <a:ext cx="384048" cy="502920"/>
          </a:xfrm>
          <a:prstGeom prst="rect">
            <a:avLst/>
          </a:prstGeom>
          <a:solidFill>
            <a:srgbClr val="E2F0E8"/>
          </a:solidFill>
          <a:ln/>
        </p:spPr>
      </p:sp>
      <p:sp>
        <p:nvSpPr>
          <p:cNvPr id="24" name="Text 22"/>
          <p:cNvSpPr/>
          <p:nvPr/>
        </p:nvSpPr>
        <p:spPr>
          <a:xfrm>
            <a:off x="256032" y="3447288"/>
            <a:ext cx="384048" cy="502920"/>
          </a:xfrm>
          <a:prstGeom prst="rect">
            <a:avLst/>
          </a:prstGeom>
          <a:noFill/>
          <a:ln/>
        </p:spPr>
        <p:txBody>
          <a:bodyPr wrap="square" lIns="0" tIns="0" rIns="0" bIns="0" rtlCol="0" anchor="ctr"/>
          <a:lstStyle/>
          <a:p>
            <a:pPr algn="ctr" indent="0" marL="0">
              <a:buNone/>
            </a:pPr>
            <a:r>
              <a:rPr lang="en-US" sz="900" b="1" dirty="0">
                <a:solidFill>
                  <a:srgbClr val="217346"/>
                </a:solidFill>
              </a:rPr>
              <a:t>y₄</a:t>
            </a:r>
            <a:endParaRPr lang="en-US" sz="900" dirty="0"/>
          </a:p>
        </p:txBody>
      </p:sp>
      <p:sp>
        <p:nvSpPr>
          <p:cNvPr id="25" name="Text 23"/>
          <p:cNvSpPr/>
          <p:nvPr/>
        </p:nvSpPr>
        <p:spPr>
          <a:xfrm>
            <a:off x="694944" y="3465576"/>
            <a:ext cx="2871216" cy="246888"/>
          </a:xfrm>
          <a:prstGeom prst="rect">
            <a:avLst/>
          </a:prstGeom>
          <a:noFill/>
          <a:ln/>
        </p:spPr>
        <p:txBody>
          <a:bodyPr wrap="square" lIns="0" tIns="0" rIns="0" bIns="0" rtlCol="0" anchor="ctr"/>
          <a:lstStyle/>
          <a:p>
            <a:pPr indent="0" marL="0">
              <a:buNone/>
            </a:pPr>
            <a:r>
              <a:rPr lang="en-US" sz="1000" b="1" dirty="0">
                <a:solidFill>
                  <a:srgbClr val="1A1A2E"/>
                </a:solidFill>
              </a:rPr>
              <a:t>NV Score</a:t>
            </a:r>
            <a:endParaRPr lang="en-US" sz="1000" dirty="0"/>
          </a:p>
        </p:txBody>
      </p:sp>
      <p:sp>
        <p:nvSpPr>
          <p:cNvPr id="26" name="Text 24"/>
          <p:cNvSpPr/>
          <p:nvPr/>
        </p:nvSpPr>
        <p:spPr>
          <a:xfrm>
            <a:off x="694944" y="3703320"/>
            <a:ext cx="2871216" cy="182880"/>
          </a:xfrm>
          <a:prstGeom prst="rect">
            <a:avLst/>
          </a:prstGeom>
          <a:noFill/>
          <a:ln/>
        </p:spPr>
        <p:txBody>
          <a:bodyPr wrap="square" lIns="0" tIns="0" rIns="0" bIns="0" rtlCol="0" anchor="ctr"/>
          <a:lstStyle/>
          <a:p>
            <a:pPr indent="0" marL="0">
              <a:buNone/>
            </a:pPr>
            <a:r>
              <a:rPr lang="en-US" sz="800" dirty="0">
                <a:solidFill>
                  <a:srgbClr val="6B7280"/>
                </a:solidFill>
              </a:rPr>
              <a:t>Negación de Victimización</a:t>
            </a:r>
            <a:endParaRPr lang="en-US" sz="800" dirty="0"/>
          </a:p>
        </p:txBody>
      </p:sp>
      <p:sp>
        <p:nvSpPr>
          <p:cNvPr id="27" name="Text 25"/>
          <p:cNvSpPr/>
          <p:nvPr/>
        </p:nvSpPr>
        <p:spPr>
          <a:xfrm>
            <a:off x="694944" y="3703320"/>
            <a:ext cx="2871216" cy="182880"/>
          </a:xfrm>
          <a:prstGeom prst="rect">
            <a:avLst/>
          </a:prstGeom>
          <a:noFill/>
          <a:ln/>
        </p:spPr>
        <p:txBody>
          <a:bodyPr wrap="square" lIns="0" tIns="0" rIns="0" bIns="0" rtlCol="0" anchor="ctr"/>
          <a:lstStyle/>
          <a:p>
            <a:pPr algn="r" indent="0" marL="0">
              <a:buNone/>
            </a:pPr>
            <a:r>
              <a:rPr lang="en-US" sz="800" dirty="0">
                <a:solidFill>
                  <a:srgbClr val="6B7280"/>
                </a:solidFill>
              </a:rPr>
              <a:t>CFH-BERT v2 IO</a:t>
            </a:r>
            <a:endParaRPr lang="en-US" sz="800" dirty="0"/>
          </a:p>
        </p:txBody>
      </p:sp>
      <p:sp>
        <p:nvSpPr>
          <p:cNvPr id="28" name="Shape 26"/>
          <p:cNvSpPr/>
          <p:nvPr/>
        </p:nvSpPr>
        <p:spPr>
          <a:xfrm>
            <a:off x="256032" y="4133088"/>
            <a:ext cx="384048" cy="502920"/>
          </a:xfrm>
          <a:prstGeom prst="rect">
            <a:avLst/>
          </a:prstGeom>
          <a:solidFill>
            <a:srgbClr val="E2F0E8"/>
          </a:solidFill>
          <a:ln/>
        </p:spPr>
      </p:sp>
      <p:sp>
        <p:nvSpPr>
          <p:cNvPr id="29" name="Text 27"/>
          <p:cNvSpPr/>
          <p:nvPr/>
        </p:nvSpPr>
        <p:spPr>
          <a:xfrm>
            <a:off x="256032" y="4133088"/>
            <a:ext cx="384048" cy="502920"/>
          </a:xfrm>
          <a:prstGeom prst="rect">
            <a:avLst/>
          </a:prstGeom>
          <a:noFill/>
          <a:ln/>
        </p:spPr>
        <p:txBody>
          <a:bodyPr wrap="square" lIns="0" tIns="0" rIns="0" bIns="0" rtlCol="0" anchor="ctr"/>
          <a:lstStyle/>
          <a:p>
            <a:pPr algn="ctr" indent="0" marL="0">
              <a:buNone/>
            </a:pPr>
            <a:r>
              <a:rPr lang="en-US" sz="900" b="1" dirty="0">
                <a:solidFill>
                  <a:srgbClr val="217346"/>
                </a:solidFill>
              </a:rPr>
              <a:t>y₅</a:t>
            </a:r>
            <a:endParaRPr lang="en-US" sz="900" dirty="0"/>
          </a:p>
        </p:txBody>
      </p:sp>
      <p:sp>
        <p:nvSpPr>
          <p:cNvPr id="30" name="Text 28"/>
          <p:cNvSpPr/>
          <p:nvPr/>
        </p:nvSpPr>
        <p:spPr>
          <a:xfrm>
            <a:off x="694944" y="4151376"/>
            <a:ext cx="2871216" cy="246888"/>
          </a:xfrm>
          <a:prstGeom prst="rect">
            <a:avLst/>
          </a:prstGeom>
          <a:noFill/>
          <a:ln/>
        </p:spPr>
        <p:txBody>
          <a:bodyPr wrap="square" lIns="0" tIns="0" rIns="0" bIns="0" rtlCol="0" anchor="ctr"/>
          <a:lstStyle/>
          <a:p>
            <a:pPr indent="0" marL="0">
              <a:buNone/>
            </a:pPr>
            <a:r>
              <a:rPr lang="en-US" sz="1000" b="1" dirty="0">
                <a:solidFill>
                  <a:srgbClr val="1A1A2E"/>
                </a:solidFill>
              </a:rPr>
              <a:t>Tipo</a:t>
            </a:r>
            <a:endParaRPr lang="en-US" sz="1000" dirty="0"/>
          </a:p>
        </p:txBody>
      </p:sp>
      <p:sp>
        <p:nvSpPr>
          <p:cNvPr id="31" name="Text 29"/>
          <p:cNvSpPr/>
          <p:nvPr/>
        </p:nvSpPr>
        <p:spPr>
          <a:xfrm>
            <a:off x="694944" y="4389120"/>
            <a:ext cx="2871216" cy="182880"/>
          </a:xfrm>
          <a:prstGeom prst="rect">
            <a:avLst/>
          </a:prstGeom>
          <a:noFill/>
          <a:ln/>
        </p:spPr>
        <p:txBody>
          <a:bodyPr wrap="square" lIns="0" tIns="0" rIns="0" bIns="0" rtlCol="0" anchor="ctr"/>
          <a:lstStyle/>
          <a:p>
            <a:pPr indent="0" marL="0">
              <a:buNone/>
            </a:pPr>
            <a:r>
              <a:rPr lang="en-US" sz="800" dirty="0">
                <a:solidFill>
                  <a:srgbClr val="6B7280"/>
                </a:solidFill>
              </a:rPr>
              <a:t>Binario A=0 / B=1</a:t>
            </a:r>
            <a:endParaRPr lang="en-US" sz="800" dirty="0"/>
          </a:p>
        </p:txBody>
      </p:sp>
      <p:sp>
        <p:nvSpPr>
          <p:cNvPr id="32" name="Text 30"/>
          <p:cNvSpPr/>
          <p:nvPr/>
        </p:nvSpPr>
        <p:spPr>
          <a:xfrm>
            <a:off x="694944" y="4389120"/>
            <a:ext cx="2871216" cy="182880"/>
          </a:xfrm>
          <a:prstGeom prst="rect">
            <a:avLst/>
          </a:prstGeom>
          <a:noFill/>
          <a:ln/>
        </p:spPr>
        <p:txBody>
          <a:bodyPr wrap="square" lIns="0" tIns="0" rIns="0" bIns="0" rtlCol="0" anchor="ctr"/>
          <a:lstStyle/>
          <a:p>
            <a:pPr algn="r" indent="0" marL="0">
              <a:buNone/>
            </a:pPr>
            <a:r>
              <a:rPr lang="en-US" sz="800" dirty="0">
                <a:solidFill>
                  <a:srgbClr val="6B7280"/>
                </a:solidFill>
              </a:rPr>
              <a:t>Metadata</a:t>
            </a:r>
            <a:endParaRPr lang="en-US" sz="800" dirty="0"/>
          </a:p>
        </p:txBody>
      </p:sp>
      <p:sp>
        <p:nvSpPr>
          <p:cNvPr id="33" name="Shape 31"/>
          <p:cNvSpPr/>
          <p:nvPr/>
        </p:nvSpPr>
        <p:spPr>
          <a:xfrm>
            <a:off x="256032" y="4818888"/>
            <a:ext cx="384048" cy="502920"/>
          </a:xfrm>
          <a:prstGeom prst="rect">
            <a:avLst/>
          </a:prstGeom>
          <a:solidFill>
            <a:srgbClr val="E2F0E8"/>
          </a:solidFill>
          <a:ln/>
        </p:spPr>
      </p:sp>
      <p:sp>
        <p:nvSpPr>
          <p:cNvPr id="34" name="Text 32"/>
          <p:cNvSpPr/>
          <p:nvPr/>
        </p:nvSpPr>
        <p:spPr>
          <a:xfrm>
            <a:off x="256032" y="4818888"/>
            <a:ext cx="384048" cy="502920"/>
          </a:xfrm>
          <a:prstGeom prst="rect">
            <a:avLst/>
          </a:prstGeom>
          <a:noFill/>
          <a:ln/>
        </p:spPr>
        <p:txBody>
          <a:bodyPr wrap="square" lIns="0" tIns="0" rIns="0" bIns="0" rtlCol="0" anchor="ctr"/>
          <a:lstStyle/>
          <a:p>
            <a:pPr algn="ctr" indent="0" marL="0">
              <a:buNone/>
            </a:pPr>
            <a:r>
              <a:rPr lang="en-US" sz="900" b="1" dirty="0">
                <a:solidFill>
                  <a:srgbClr val="217346"/>
                </a:solidFill>
              </a:rPr>
              <a:t>y₆</a:t>
            </a:r>
            <a:endParaRPr lang="en-US" sz="900" dirty="0"/>
          </a:p>
        </p:txBody>
      </p:sp>
      <p:sp>
        <p:nvSpPr>
          <p:cNvPr id="35" name="Text 33"/>
          <p:cNvSpPr/>
          <p:nvPr/>
        </p:nvSpPr>
        <p:spPr>
          <a:xfrm>
            <a:off x="694944" y="4837176"/>
            <a:ext cx="2871216" cy="246888"/>
          </a:xfrm>
          <a:prstGeom prst="rect">
            <a:avLst/>
          </a:prstGeom>
          <a:noFill/>
          <a:ln/>
        </p:spPr>
        <p:txBody>
          <a:bodyPr wrap="square" lIns="0" tIns="0" rIns="0" bIns="0" rtlCol="0" anchor="ctr"/>
          <a:lstStyle/>
          <a:p>
            <a:pPr indent="0" marL="0">
              <a:buNone/>
            </a:pPr>
            <a:r>
              <a:rPr lang="en-US" sz="1000" b="1" dirty="0">
                <a:solidFill>
                  <a:srgbClr val="1A1A2E"/>
                </a:solidFill>
              </a:rPr>
              <a:t>Período</a:t>
            </a:r>
            <a:endParaRPr lang="en-US" sz="1000" dirty="0"/>
          </a:p>
        </p:txBody>
      </p:sp>
      <p:sp>
        <p:nvSpPr>
          <p:cNvPr id="36" name="Text 34"/>
          <p:cNvSpPr/>
          <p:nvPr/>
        </p:nvSpPr>
        <p:spPr>
          <a:xfrm>
            <a:off x="694944" y="5074920"/>
            <a:ext cx="2871216" cy="182880"/>
          </a:xfrm>
          <a:prstGeom prst="rect">
            <a:avLst/>
          </a:prstGeom>
          <a:noFill/>
          <a:ln/>
        </p:spPr>
        <p:txBody>
          <a:bodyPr wrap="square" lIns="0" tIns="0" rIns="0" bIns="0" rtlCol="0" anchor="ctr"/>
          <a:lstStyle/>
          <a:p>
            <a:pPr indent="0" marL="0">
              <a:buNone/>
            </a:pPr>
            <a:r>
              <a:rPr lang="en-US" sz="800" dirty="0">
                <a:solidFill>
                  <a:srgbClr val="6B7280"/>
                </a:solidFill>
              </a:rPr>
              <a:t>Pre/post 2016</a:t>
            </a:r>
            <a:endParaRPr lang="en-US" sz="800" dirty="0"/>
          </a:p>
        </p:txBody>
      </p:sp>
      <p:sp>
        <p:nvSpPr>
          <p:cNvPr id="37" name="Text 35"/>
          <p:cNvSpPr/>
          <p:nvPr/>
        </p:nvSpPr>
        <p:spPr>
          <a:xfrm>
            <a:off x="694944" y="5074920"/>
            <a:ext cx="2871216" cy="182880"/>
          </a:xfrm>
          <a:prstGeom prst="rect">
            <a:avLst/>
          </a:prstGeom>
          <a:noFill/>
          <a:ln/>
        </p:spPr>
        <p:txBody>
          <a:bodyPr wrap="square" lIns="0" tIns="0" rIns="0" bIns="0" rtlCol="0" anchor="ctr"/>
          <a:lstStyle/>
          <a:p>
            <a:pPr algn="r" indent="0" marL="0">
              <a:buNone/>
            </a:pPr>
            <a:r>
              <a:rPr lang="en-US" sz="800" dirty="0">
                <a:solidFill>
                  <a:srgbClr val="6B7280"/>
                </a:solidFill>
              </a:rPr>
              <a:t>Fecha doc.</a:t>
            </a:r>
            <a:endParaRPr lang="en-US" sz="800" dirty="0"/>
          </a:p>
        </p:txBody>
      </p:sp>
      <p:sp>
        <p:nvSpPr>
          <p:cNvPr id="38" name="Shape 36"/>
          <p:cNvSpPr/>
          <p:nvPr/>
        </p:nvSpPr>
        <p:spPr>
          <a:xfrm>
            <a:off x="4160520" y="914400"/>
            <a:ext cx="3840480" cy="5486400"/>
          </a:xfrm>
          <a:prstGeom prst="rect">
            <a:avLst/>
          </a:prstGeom>
          <a:solidFill>
            <a:srgbClr val="EBF3FB"/>
          </a:solidFill>
          <a:ln/>
          <a:effectLst>
            <a:outerShdw sx="100000" sy="100000" kx="0" ky="0" algn="bl" rotWithShape="0" blurRad="76200" dist="25400" dir="8100000">
              <a:srgbClr val="000000">
                <a:alpha val="12000"/>
              </a:srgbClr>
            </a:outerShdw>
          </a:effectLst>
        </p:spPr>
      </p:sp>
      <p:sp>
        <p:nvSpPr>
          <p:cNvPr id="39" name="Shape 37"/>
          <p:cNvSpPr/>
          <p:nvPr/>
        </p:nvSpPr>
        <p:spPr>
          <a:xfrm>
            <a:off x="4160520" y="914400"/>
            <a:ext cx="3840480" cy="384048"/>
          </a:xfrm>
          <a:prstGeom prst="rect">
            <a:avLst/>
          </a:prstGeom>
          <a:solidFill>
            <a:srgbClr val="6B3FA0"/>
          </a:solidFill>
          <a:ln/>
        </p:spPr>
      </p:sp>
      <p:sp>
        <p:nvSpPr>
          <p:cNvPr id="40" name="Text 38"/>
          <p:cNvSpPr/>
          <p:nvPr/>
        </p:nvSpPr>
        <p:spPr>
          <a:xfrm>
            <a:off x="4206240" y="914400"/>
            <a:ext cx="3749040" cy="256032"/>
          </a:xfrm>
          <a:prstGeom prst="rect">
            <a:avLst/>
          </a:prstGeom>
          <a:noFill/>
          <a:ln/>
        </p:spPr>
        <p:txBody>
          <a:bodyPr wrap="square" lIns="0" tIns="0" rIns="0" bIns="0" rtlCol="0" anchor="ctr"/>
          <a:lstStyle/>
          <a:p>
            <a:pPr indent="0" marL="0">
              <a:buNone/>
            </a:pPr>
            <a:r>
              <a:rPr lang="en-US" sz="1100" b="1" dirty="0">
                <a:solidFill>
                  <a:srgbClr val="FFFFFF"/>
                </a:solidFill>
              </a:rPr>
              <a:t>CAPA 2 — SEMÁNTICA</a:t>
            </a:r>
            <a:endParaRPr lang="en-US" sz="1100" dirty="0"/>
          </a:p>
        </p:txBody>
      </p:sp>
      <p:sp>
        <p:nvSpPr>
          <p:cNvPr id="41" name="Text 39"/>
          <p:cNvSpPr/>
          <p:nvPr/>
        </p:nvSpPr>
        <p:spPr>
          <a:xfrm>
            <a:off x="4206240" y="1170432"/>
            <a:ext cx="3749040" cy="155448"/>
          </a:xfrm>
          <a:prstGeom prst="rect">
            <a:avLst/>
          </a:prstGeom>
          <a:noFill/>
          <a:ln/>
        </p:spPr>
        <p:txBody>
          <a:bodyPr wrap="square" lIns="0" tIns="0" rIns="0" bIns="0" rtlCol="0" anchor="ctr"/>
          <a:lstStyle/>
          <a:p>
            <a:pPr indent="0" marL="0">
              <a:buNone/>
            </a:pPr>
            <a:r>
              <a:rPr lang="en-US" sz="750" i="1" dirty="0">
                <a:solidFill>
                  <a:srgbClr val="FFFFFF"/>
                </a:solidFill>
              </a:rPr>
              <a:t>Fricker (IEI) · Habermas (SAV)</a:t>
            </a:r>
            <a:endParaRPr lang="en-US" sz="750" dirty="0"/>
          </a:p>
        </p:txBody>
      </p:sp>
      <p:sp>
        <p:nvSpPr>
          <p:cNvPr id="42" name="Shape 40"/>
          <p:cNvSpPr/>
          <p:nvPr/>
        </p:nvSpPr>
        <p:spPr>
          <a:xfrm>
            <a:off x="4233672" y="1389888"/>
            <a:ext cx="384048" cy="502920"/>
          </a:xfrm>
          <a:prstGeom prst="rect">
            <a:avLst/>
          </a:prstGeom>
          <a:solidFill>
            <a:srgbClr val="FCE4D6"/>
          </a:solidFill>
          <a:ln/>
        </p:spPr>
      </p:sp>
      <p:sp>
        <p:nvSpPr>
          <p:cNvPr id="43" name="Text 41"/>
          <p:cNvSpPr/>
          <p:nvPr/>
        </p:nvSpPr>
        <p:spPr>
          <a:xfrm>
            <a:off x="4233672" y="1389888"/>
            <a:ext cx="384048" cy="502920"/>
          </a:xfrm>
          <a:prstGeom prst="rect">
            <a:avLst/>
          </a:prstGeom>
          <a:noFill/>
          <a:ln/>
        </p:spPr>
        <p:txBody>
          <a:bodyPr wrap="square" lIns="0" tIns="0" rIns="0" bIns="0" rtlCol="0" anchor="ctr"/>
          <a:lstStyle/>
          <a:p>
            <a:pPr algn="ctr" indent="0" marL="0">
              <a:buNone/>
            </a:pPr>
            <a:r>
              <a:rPr lang="en-US" sz="900" b="1" dirty="0">
                <a:solidFill>
                  <a:srgbClr val="C00000"/>
                </a:solidFill>
              </a:rPr>
              <a:t>y₇</a:t>
            </a:r>
            <a:endParaRPr lang="en-US" sz="900" dirty="0"/>
          </a:p>
        </p:txBody>
      </p:sp>
      <p:sp>
        <p:nvSpPr>
          <p:cNvPr id="44" name="Text 42"/>
          <p:cNvSpPr/>
          <p:nvPr/>
        </p:nvSpPr>
        <p:spPr>
          <a:xfrm>
            <a:off x="4672584" y="1408176"/>
            <a:ext cx="3236976" cy="246888"/>
          </a:xfrm>
          <a:prstGeom prst="rect">
            <a:avLst/>
          </a:prstGeom>
          <a:noFill/>
          <a:ln/>
        </p:spPr>
        <p:txBody>
          <a:bodyPr wrap="square" lIns="0" tIns="0" rIns="0" bIns="0" rtlCol="0" anchor="ctr"/>
          <a:lstStyle/>
          <a:p>
            <a:pPr indent="0" marL="0">
              <a:buNone/>
            </a:pPr>
            <a:r>
              <a:rPr lang="en-US" sz="1000" b="1" dirty="0">
                <a:solidFill>
                  <a:srgbClr val="1A1A2E"/>
                </a:solidFill>
              </a:rPr>
              <a:t>Surprisal</a:t>
            </a:r>
            <a:endParaRPr lang="en-US" sz="1000" dirty="0"/>
          </a:p>
        </p:txBody>
      </p:sp>
      <p:sp>
        <p:nvSpPr>
          <p:cNvPr id="45" name="Text 43"/>
          <p:cNvSpPr/>
          <p:nvPr/>
        </p:nvSpPr>
        <p:spPr>
          <a:xfrm>
            <a:off x="4672584" y="1645920"/>
            <a:ext cx="3236976" cy="182880"/>
          </a:xfrm>
          <a:prstGeom prst="rect">
            <a:avLst/>
          </a:prstGeom>
          <a:noFill/>
          <a:ln/>
        </p:spPr>
        <p:txBody>
          <a:bodyPr wrap="square" lIns="0" tIns="0" rIns="0" bIns="0" rtlCol="0" anchor="ctr"/>
          <a:lstStyle/>
          <a:p>
            <a:pPr indent="0" marL="0">
              <a:buNone/>
            </a:pPr>
            <a:r>
              <a:rPr lang="en-US" sz="800" dirty="0">
                <a:solidFill>
                  <a:srgbClr val="6B7280"/>
                </a:solidFill>
              </a:rPr>
              <a:t>Infrecuencia léxica contextual</a:t>
            </a:r>
            <a:endParaRPr lang="en-US" sz="800" dirty="0"/>
          </a:p>
        </p:txBody>
      </p:sp>
      <p:sp>
        <p:nvSpPr>
          <p:cNvPr id="46" name="Text 44"/>
          <p:cNvSpPr/>
          <p:nvPr/>
        </p:nvSpPr>
        <p:spPr>
          <a:xfrm>
            <a:off x="4672584" y="1645920"/>
            <a:ext cx="3236976" cy="182880"/>
          </a:xfrm>
          <a:prstGeom prst="rect">
            <a:avLst/>
          </a:prstGeom>
          <a:noFill/>
          <a:ln/>
        </p:spPr>
        <p:txBody>
          <a:bodyPr wrap="square" lIns="0" tIns="0" rIns="0" bIns="0" rtlCol="0" anchor="ctr"/>
          <a:lstStyle/>
          <a:p>
            <a:pPr algn="r" indent="0" marL="0">
              <a:buNone/>
            </a:pPr>
            <a:r>
              <a:rPr lang="en-US" sz="800" dirty="0">
                <a:solidFill>
                  <a:srgbClr val="6B7280"/>
                </a:solidFill>
              </a:rPr>
              <a:t>BETO LM</a:t>
            </a:r>
            <a:endParaRPr lang="en-US" sz="800" dirty="0"/>
          </a:p>
        </p:txBody>
      </p:sp>
      <p:sp>
        <p:nvSpPr>
          <p:cNvPr id="47" name="Shape 45"/>
          <p:cNvSpPr/>
          <p:nvPr/>
        </p:nvSpPr>
        <p:spPr>
          <a:xfrm>
            <a:off x="4233672" y="2212848"/>
            <a:ext cx="384048" cy="502920"/>
          </a:xfrm>
          <a:prstGeom prst="rect">
            <a:avLst/>
          </a:prstGeom>
          <a:solidFill>
            <a:srgbClr val="E2F0E8"/>
          </a:solidFill>
          <a:ln/>
        </p:spPr>
      </p:sp>
      <p:sp>
        <p:nvSpPr>
          <p:cNvPr id="48" name="Text 46"/>
          <p:cNvSpPr/>
          <p:nvPr/>
        </p:nvSpPr>
        <p:spPr>
          <a:xfrm>
            <a:off x="4233672" y="2212848"/>
            <a:ext cx="384048" cy="502920"/>
          </a:xfrm>
          <a:prstGeom prst="rect">
            <a:avLst/>
          </a:prstGeom>
          <a:noFill/>
          <a:ln/>
        </p:spPr>
        <p:txBody>
          <a:bodyPr wrap="square" lIns="0" tIns="0" rIns="0" bIns="0" rtlCol="0" anchor="ctr"/>
          <a:lstStyle/>
          <a:p>
            <a:pPr algn="ctr" indent="0" marL="0">
              <a:buNone/>
            </a:pPr>
            <a:r>
              <a:rPr lang="en-US" sz="900" b="1" dirty="0">
                <a:solidFill>
                  <a:srgbClr val="217346"/>
                </a:solidFill>
              </a:rPr>
              <a:t>y₈</a:t>
            </a:r>
            <a:endParaRPr lang="en-US" sz="900" dirty="0"/>
          </a:p>
        </p:txBody>
      </p:sp>
      <p:sp>
        <p:nvSpPr>
          <p:cNvPr id="49" name="Text 47"/>
          <p:cNvSpPr/>
          <p:nvPr/>
        </p:nvSpPr>
        <p:spPr>
          <a:xfrm>
            <a:off x="4672584" y="2231136"/>
            <a:ext cx="3236976" cy="246888"/>
          </a:xfrm>
          <a:prstGeom prst="rect">
            <a:avLst/>
          </a:prstGeom>
          <a:noFill/>
          <a:ln/>
        </p:spPr>
        <p:txBody>
          <a:bodyPr wrap="square" lIns="0" tIns="0" rIns="0" bIns="0" rtlCol="0" anchor="ctr"/>
          <a:lstStyle/>
          <a:p>
            <a:pPr indent="0" marL="0">
              <a:buNone/>
            </a:pPr>
            <a:r>
              <a:rPr lang="en-US" sz="1000" b="1" dirty="0">
                <a:solidFill>
                  <a:srgbClr val="1A1A2E"/>
                </a:solidFill>
              </a:rPr>
              <a:t>Dist. MAFAPO</a:t>
            </a:r>
            <a:endParaRPr lang="en-US" sz="1000" dirty="0"/>
          </a:p>
        </p:txBody>
      </p:sp>
      <p:sp>
        <p:nvSpPr>
          <p:cNvPr id="50" name="Text 48"/>
          <p:cNvSpPr/>
          <p:nvPr/>
        </p:nvSpPr>
        <p:spPr>
          <a:xfrm>
            <a:off x="4672584" y="2468880"/>
            <a:ext cx="3236976" cy="182880"/>
          </a:xfrm>
          <a:prstGeom prst="rect">
            <a:avLst/>
          </a:prstGeom>
          <a:noFill/>
          <a:ln/>
        </p:spPr>
        <p:txBody>
          <a:bodyPr wrap="square" lIns="0" tIns="0" rIns="0" bIns="0" rtlCol="0" anchor="ctr"/>
          <a:lstStyle/>
          <a:p>
            <a:pPr indent="0" marL="0">
              <a:buNone/>
            </a:pPr>
            <a:r>
              <a:rPr lang="en-US" sz="800" dirty="0">
                <a:solidFill>
                  <a:srgbClr val="6B7280"/>
                </a:solidFill>
              </a:rPr>
              <a:t>Brecha semántica víctimas</a:t>
            </a:r>
            <a:endParaRPr lang="en-US" sz="800" dirty="0"/>
          </a:p>
        </p:txBody>
      </p:sp>
      <p:sp>
        <p:nvSpPr>
          <p:cNvPr id="51" name="Text 49"/>
          <p:cNvSpPr/>
          <p:nvPr/>
        </p:nvSpPr>
        <p:spPr>
          <a:xfrm>
            <a:off x="4672584" y="2468880"/>
            <a:ext cx="3236976" cy="182880"/>
          </a:xfrm>
          <a:prstGeom prst="rect">
            <a:avLst/>
          </a:prstGeom>
          <a:noFill/>
          <a:ln/>
        </p:spPr>
        <p:txBody>
          <a:bodyPr wrap="square" lIns="0" tIns="0" rIns="0" bIns="0" rtlCol="0" anchor="ctr"/>
          <a:lstStyle/>
          <a:p>
            <a:pPr algn="r" indent="0" marL="0">
              <a:buNone/>
            </a:pPr>
            <a:r>
              <a:rPr lang="en-US" sz="800" dirty="0">
                <a:solidFill>
                  <a:srgbClr val="6B7280"/>
                </a:solidFill>
              </a:rPr>
              <a:t>ConfliBERT-ES</a:t>
            </a:r>
            <a:endParaRPr lang="en-US" sz="800" dirty="0"/>
          </a:p>
        </p:txBody>
      </p:sp>
      <p:sp>
        <p:nvSpPr>
          <p:cNvPr id="52" name="Shape 50"/>
          <p:cNvSpPr/>
          <p:nvPr/>
        </p:nvSpPr>
        <p:spPr>
          <a:xfrm>
            <a:off x="4233672" y="3035808"/>
            <a:ext cx="384048" cy="502920"/>
          </a:xfrm>
          <a:prstGeom prst="rect">
            <a:avLst/>
          </a:prstGeom>
          <a:solidFill>
            <a:srgbClr val="E2F0E8"/>
          </a:solidFill>
          <a:ln/>
        </p:spPr>
      </p:sp>
      <p:sp>
        <p:nvSpPr>
          <p:cNvPr id="53" name="Text 51"/>
          <p:cNvSpPr/>
          <p:nvPr/>
        </p:nvSpPr>
        <p:spPr>
          <a:xfrm>
            <a:off x="4233672" y="3035808"/>
            <a:ext cx="384048" cy="502920"/>
          </a:xfrm>
          <a:prstGeom prst="rect">
            <a:avLst/>
          </a:prstGeom>
          <a:noFill/>
          <a:ln/>
        </p:spPr>
        <p:txBody>
          <a:bodyPr wrap="square" lIns="0" tIns="0" rIns="0" bIns="0" rtlCol="0" anchor="ctr"/>
          <a:lstStyle/>
          <a:p>
            <a:pPr algn="ctr" indent="0" marL="0">
              <a:buNone/>
            </a:pPr>
            <a:r>
              <a:rPr lang="en-US" sz="900" b="1" dirty="0">
                <a:solidFill>
                  <a:srgbClr val="217346"/>
                </a:solidFill>
              </a:rPr>
              <a:t>y₉</a:t>
            </a:r>
            <a:endParaRPr lang="en-US" sz="900" dirty="0"/>
          </a:p>
        </p:txBody>
      </p:sp>
      <p:sp>
        <p:nvSpPr>
          <p:cNvPr id="54" name="Text 52"/>
          <p:cNvSpPr/>
          <p:nvPr/>
        </p:nvSpPr>
        <p:spPr>
          <a:xfrm>
            <a:off x="4672584" y="3054096"/>
            <a:ext cx="3236976" cy="246888"/>
          </a:xfrm>
          <a:prstGeom prst="rect">
            <a:avLst/>
          </a:prstGeom>
          <a:noFill/>
          <a:ln/>
        </p:spPr>
        <p:txBody>
          <a:bodyPr wrap="square" lIns="0" tIns="0" rIns="0" bIns="0" rtlCol="0" anchor="ctr"/>
          <a:lstStyle/>
          <a:p>
            <a:pPr indent="0" marL="0">
              <a:buNone/>
            </a:pPr>
            <a:r>
              <a:rPr lang="en-US" sz="1000" b="1" dirty="0">
                <a:solidFill>
                  <a:srgbClr val="1A1A2E"/>
                </a:solidFill>
              </a:rPr>
              <a:t>Dist. CIDH</a:t>
            </a:r>
            <a:endParaRPr lang="en-US" sz="1000" dirty="0"/>
          </a:p>
        </p:txBody>
      </p:sp>
      <p:sp>
        <p:nvSpPr>
          <p:cNvPr id="55" name="Text 53"/>
          <p:cNvSpPr/>
          <p:nvPr/>
        </p:nvSpPr>
        <p:spPr>
          <a:xfrm>
            <a:off x="4672584" y="3291840"/>
            <a:ext cx="3236976" cy="182880"/>
          </a:xfrm>
          <a:prstGeom prst="rect">
            <a:avLst/>
          </a:prstGeom>
          <a:noFill/>
          <a:ln/>
        </p:spPr>
        <p:txBody>
          <a:bodyPr wrap="square" lIns="0" tIns="0" rIns="0" bIns="0" rtlCol="0" anchor="ctr"/>
          <a:lstStyle/>
          <a:p>
            <a:pPr indent="0" marL="0">
              <a:buNone/>
            </a:pPr>
            <a:r>
              <a:rPr lang="en-US" sz="800" dirty="0">
                <a:solidFill>
                  <a:srgbClr val="6B7280"/>
                </a:solidFill>
              </a:rPr>
              <a:t>Brecha semántica DDHH</a:t>
            </a:r>
            <a:endParaRPr lang="en-US" sz="800" dirty="0"/>
          </a:p>
        </p:txBody>
      </p:sp>
      <p:sp>
        <p:nvSpPr>
          <p:cNvPr id="56" name="Text 54"/>
          <p:cNvSpPr/>
          <p:nvPr/>
        </p:nvSpPr>
        <p:spPr>
          <a:xfrm>
            <a:off x="4672584" y="3291840"/>
            <a:ext cx="3236976" cy="182880"/>
          </a:xfrm>
          <a:prstGeom prst="rect">
            <a:avLst/>
          </a:prstGeom>
          <a:noFill/>
          <a:ln/>
        </p:spPr>
        <p:txBody>
          <a:bodyPr wrap="square" lIns="0" tIns="0" rIns="0" bIns="0" rtlCol="0" anchor="ctr"/>
          <a:lstStyle/>
          <a:p>
            <a:pPr algn="r" indent="0" marL="0">
              <a:buNone/>
            </a:pPr>
            <a:r>
              <a:rPr lang="en-US" sz="800" dirty="0">
                <a:solidFill>
                  <a:srgbClr val="6B7280"/>
                </a:solidFill>
              </a:rPr>
              <a:t>ConfliBERT-ES</a:t>
            </a:r>
            <a:endParaRPr lang="en-US" sz="800" dirty="0"/>
          </a:p>
        </p:txBody>
      </p:sp>
      <p:sp>
        <p:nvSpPr>
          <p:cNvPr id="57" name="Shape 55"/>
          <p:cNvSpPr/>
          <p:nvPr/>
        </p:nvSpPr>
        <p:spPr>
          <a:xfrm>
            <a:off x="4233672" y="3858768"/>
            <a:ext cx="384048" cy="502920"/>
          </a:xfrm>
          <a:prstGeom prst="rect">
            <a:avLst/>
          </a:prstGeom>
          <a:solidFill>
            <a:srgbClr val="E2F0E8"/>
          </a:solidFill>
          <a:ln/>
        </p:spPr>
      </p:sp>
      <p:sp>
        <p:nvSpPr>
          <p:cNvPr id="58" name="Text 56"/>
          <p:cNvSpPr/>
          <p:nvPr/>
        </p:nvSpPr>
        <p:spPr>
          <a:xfrm>
            <a:off x="4233672" y="3858768"/>
            <a:ext cx="384048" cy="502920"/>
          </a:xfrm>
          <a:prstGeom prst="rect">
            <a:avLst/>
          </a:prstGeom>
          <a:noFill/>
          <a:ln/>
        </p:spPr>
        <p:txBody>
          <a:bodyPr wrap="square" lIns="0" tIns="0" rIns="0" bIns="0" rtlCol="0" anchor="ctr"/>
          <a:lstStyle/>
          <a:p>
            <a:pPr algn="ctr" indent="0" marL="0">
              <a:buNone/>
            </a:pPr>
            <a:r>
              <a:rPr lang="en-US" sz="900" b="1" dirty="0">
                <a:solidFill>
                  <a:srgbClr val="217346"/>
                </a:solidFill>
              </a:rPr>
              <a:t>y₁₀</a:t>
            </a:r>
            <a:endParaRPr lang="en-US" sz="900" dirty="0"/>
          </a:p>
        </p:txBody>
      </p:sp>
      <p:sp>
        <p:nvSpPr>
          <p:cNvPr id="59" name="Text 57"/>
          <p:cNvSpPr/>
          <p:nvPr/>
        </p:nvSpPr>
        <p:spPr>
          <a:xfrm>
            <a:off x="4672584" y="3877056"/>
            <a:ext cx="3236976" cy="246888"/>
          </a:xfrm>
          <a:prstGeom prst="rect">
            <a:avLst/>
          </a:prstGeom>
          <a:noFill/>
          <a:ln/>
        </p:spPr>
        <p:txBody>
          <a:bodyPr wrap="square" lIns="0" tIns="0" rIns="0" bIns="0" rtlCol="0" anchor="ctr"/>
          <a:lstStyle/>
          <a:p>
            <a:pPr indent="0" marL="0">
              <a:buNone/>
            </a:pPr>
            <a:r>
              <a:rPr lang="en-US" sz="1000" b="1" dirty="0">
                <a:solidFill>
                  <a:srgbClr val="1A1A2E"/>
                </a:solidFill>
              </a:rPr>
              <a:t>REP Score</a:t>
            </a:r>
            <a:endParaRPr lang="en-US" sz="1000" dirty="0"/>
          </a:p>
        </p:txBody>
      </p:sp>
      <p:sp>
        <p:nvSpPr>
          <p:cNvPr id="60" name="Text 58"/>
          <p:cNvSpPr/>
          <p:nvPr/>
        </p:nvSpPr>
        <p:spPr>
          <a:xfrm>
            <a:off x="4672584" y="4114800"/>
            <a:ext cx="3236976" cy="182880"/>
          </a:xfrm>
          <a:prstGeom prst="rect">
            <a:avLst/>
          </a:prstGeom>
          <a:noFill/>
          <a:ln/>
        </p:spPr>
        <p:txBody>
          <a:bodyPr wrap="square" lIns="0" tIns="0" rIns="0" bIns="0" rtlCol="0" anchor="ctr"/>
          <a:lstStyle/>
          <a:p>
            <a:pPr indent="0" marL="0">
              <a:buNone/>
            </a:pPr>
            <a:r>
              <a:rPr lang="en-US" sz="800" dirty="0">
                <a:solidFill>
                  <a:srgbClr val="6B7280"/>
                </a:solidFill>
              </a:rPr>
              <a:t>Ruptura Epistémica Positiva</a:t>
            </a:r>
            <a:endParaRPr lang="en-US" sz="800" dirty="0"/>
          </a:p>
        </p:txBody>
      </p:sp>
      <p:sp>
        <p:nvSpPr>
          <p:cNvPr id="61" name="Text 59"/>
          <p:cNvSpPr/>
          <p:nvPr/>
        </p:nvSpPr>
        <p:spPr>
          <a:xfrm>
            <a:off x="4672584" y="4114800"/>
            <a:ext cx="3236976" cy="182880"/>
          </a:xfrm>
          <a:prstGeom prst="rect">
            <a:avLst/>
          </a:prstGeom>
          <a:noFill/>
          <a:ln/>
        </p:spPr>
        <p:txBody>
          <a:bodyPr wrap="square" lIns="0" tIns="0" rIns="0" bIns="0" rtlCol="0" anchor="ctr"/>
          <a:lstStyle/>
          <a:p>
            <a:pPr algn="r" indent="0" marL="0">
              <a:buNone/>
            </a:pPr>
            <a:r>
              <a:rPr lang="en-US" sz="800" dirty="0">
                <a:solidFill>
                  <a:srgbClr val="6B7280"/>
                </a:solidFill>
              </a:rPr>
              <a:t>CFH-BERT v2</a:t>
            </a:r>
            <a:endParaRPr lang="en-US" sz="800" dirty="0"/>
          </a:p>
        </p:txBody>
      </p:sp>
      <p:sp>
        <p:nvSpPr>
          <p:cNvPr id="62" name="Shape 60"/>
          <p:cNvSpPr/>
          <p:nvPr/>
        </p:nvSpPr>
        <p:spPr>
          <a:xfrm>
            <a:off x="4233672" y="4681728"/>
            <a:ext cx="384048" cy="502920"/>
          </a:xfrm>
          <a:prstGeom prst="rect">
            <a:avLst/>
          </a:prstGeom>
          <a:solidFill>
            <a:srgbClr val="FCE4D6"/>
          </a:solidFill>
          <a:ln/>
        </p:spPr>
      </p:sp>
      <p:sp>
        <p:nvSpPr>
          <p:cNvPr id="63" name="Text 61"/>
          <p:cNvSpPr/>
          <p:nvPr/>
        </p:nvSpPr>
        <p:spPr>
          <a:xfrm>
            <a:off x="4233672" y="4681728"/>
            <a:ext cx="384048" cy="502920"/>
          </a:xfrm>
          <a:prstGeom prst="rect">
            <a:avLst/>
          </a:prstGeom>
          <a:noFill/>
          <a:ln/>
        </p:spPr>
        <p:txBody>
          <a:bodyPr wrap="square" lIns="0" tIns="0" rIns="0" bIns="0" rtlCol="0" anchor="ctr"/>
          <a:lstStyle/>
          <a:p>
            <a:pPr algn="ctr" indent="0" marL="0">
              <a:buNone/>
            </a:pPr>
            <a:r>
              <a:rPr lang="en-US" sz="900" b="1" dirty="0">
                <a:solidFill>
                  <a:srgbClr val="C00000"/>
                </a:solidFill>
              </a:rPr>
              <a:t>y₁₁</a:t>
            </a:r>
            <a:endParaRPr lang="en-US" sz="900" dirty="0"/>
          </a:p>
        </p:txBody>
      </p:sp>
      <p:sp>
        <p:nvSpPr>
          <p:cNvPr id="64" name="Text 62"/>
          <p:cNvSpPr/>
          <p:nvPr/>
        </p:nvSpPr>
        <p:spPr>
          <a:xfrm>
            <a:off x="4672584" y="4700016"/>
            <a:ext cx="3236976" cy="246888"/>
          </a:xfrm>
          <a:prstGeom prst="rect">
            <a:avLst/>
          </a:prstGeom>
          <a:noFill/>
          <a:ln/>
        </p:spPr>
        <p:txBody>
          <a:bodyPr wrap="square" lIns="0" tIns="0" rIns="0" bIns="0" rtlCol="0" anchor="ctr"/>
          <a:lstStyle/>
          <a:p>
            <a:pPr indent="0" marL="0">
              <a:buNone/>
            </a:pPr>
            <a:r>
              <a:rPr lang="en-US" sz="1000" b="1" dirty="0">
                <a:solidFill>
                  <a:srgbClr val="1A1A2E"/>
                </a:solidFill>
              </a:rPr>
              <a:t>Conv. Rest.</a:t>
            </a:r>
            <a:endParaRPr lang="en-US" sz="1000" dirty="0"/>
          </a:p>
        </p:txBody>
      </p:sp>
      <p:sp>
        <p:nvSpPr>
          <p:cNvPr id="65" name="Text 63"/>
          <p:cNvSpPr/>
          <p:nvPr/>
        </p:nvSpPr>
        <p:spPr>
          <a:xfrm>
            <a:off x="4672584" y="4937760"/>
            <a:ext cx="3236976" cy="182880"/>
          </a:xfrm>
          <a:prstGeom prst="rect">
            <a:avLst/>
          </a:prstGeom>
          <a:noFill/>
          <a:ln/>
        </p:spPr>
        <p:txBody>
          <a:bodyPr wrap="square" lIns="0" tIns="0" rIns="0" bIns="0" rtlCol="0" anchor="ctr"/>
          <a:lstStyle/>
          <a:p>
            <a:pPr indent="0" marL="0">
              <a:buNone/>
            </a:pPr>
            <a:r>
              <a:rPr lang="en-US" sz="800" dirty="0">
                <a:solidFill>
                  <a:srgbClr val="6B7280"/>
                </a:solidFill>
              </a:rPr>
              <a:t>Convergencia restaurativa</a:t>
            </a:r>
            <a:endParaRPr lang="en-US" sz="800" dirty="0"/>
          </a:p>
        </p:txBody>
      </p:sp>
      <p:sp>
        <p:nvSpPr>
          <p:cNvPr id="66" name="Text 64"/>
          <p:cNvSpPr/>
          <p:nvPr/>
        </p:nvSpPr>
        <p:spPr>
          <a:xfrm>
            <a:off x="4672584" y="4937760"/>
            <a:ext cx="3236976" cy="182880"/>
          </a:xfrm>
          <a:prstGeom prst="rect">
            <a:avLst/>
          </a:prstGeom>
          <a:noFill/>
          <a:ln/>
        </p:spPr>
        <p:txBody>
          <a:bodyPr wrap="square" lIns="0" tIns="0" rIns="0" bIns="0" rtlCol="0" anchor="ctr"/>
          <a:lstStyle/>
          <a:p>
            <a:pPr algn="r" indent="0" marL="0">
              <a:buNone/>
            </a:pPr>
            <a:r>
              <a:rPr lang="en-US" sz="800" dirty="0">
                <a:solidFill>
                  <a:srgbClr val="6B7280"/>
                </a:solidFill>
              </a:rPr>
              <a:t>CFH-BERT v3</a:t>
            </a:r>
            <a:endParaRPr lang="en-US" sz="800" dirty="0"/>
          </a:p>
        </p:txBody>
      </p:sp>
      <p:sp>
        <p:nvSpPr>
          <p:cNvPr id="67" name="Shape 65"/>
          <p:cNvSpPr/>
          <p:nvPr/>
        </p:nvSpPr>
        <p:spPr>
          <a:xfrm>
            <a:off x="8503920" y="914400"/>
            <a:ext cx="3474720" cy="5486400"/>
          </a:xfrm>
          <a:prstGeom prst="rect">
            <a:avLst/>
          </a:prstGeom>
          <a:solidFill>
            <a:srgbClr val="EBF3FB"/>
          </a:solidFill>
          <a:ln/>
          <a:effectLst>
            <a:outerShdw sx="100000" sy="100000" kx="0" ky="0" algn="bl" rotWithShape="0" blurRad="76200" dist="25400" dir="8100000">
              <a:srgbClr val="000000">
                <a:alpha val="12000"/>
              </a:srgbClr>
            </a:outerShdw>
          </a:effectLst>
        </p:spPr>
      </p:sp>
      <p:sp>
        <p:nvSpPr>
          <p:cNvPr id="68" name="Shape 66"/>
          <p:cNvSpPr/>
          <p:nvPr/>
        </p:nvSpPr>
        <p:spPr>
          <a:xfrm>
            <a:off x="8503920" y="914400"/>
            <a:ext cx="3474720" cy="384048"/>
          </a:xfrm>
          <a:prstGeom prst="rect">
            <a:avLst/>
          </a:prstGeom>
          <a:solidFill>
            <a:srgbClr val="B5450B"/>
          </a:solidFill>
          <a:ln/>
        </p:spPr>
      </p:sp>
      <p:sp>
        <p:nvSpPr>
          <p:cNvPr id="69" name="Text 67"/>
          <p:cNvSpPr/>
          <p:nvPr/>
        </p:nvSpPr>
        <p:spPr>
          <a:xfrm>
            <a:off x="8549640" y="914400"/>
            <a:ext cx="3383280" cy="256032"/>
          </a:xfrm>
          <a:prstGeom prst="rect">
            <a:avLst/>
          </a:prstGeom>
          <a:noFill/>
          <a:ln/>
        </p:spPr>
        <p:txBody>
          <a:bodyPr wrap="square" lIns="0" tIns="0" rIns="0" bIns="0" rtlCol="0" anchor="ctr"/>
          <a:lstStyle/>
          <a:p>
            <a:pPr indent="0" marL="0">
              <a:buNone/>
            </a:pPr>
            <a:r>
              <a:rPr lang="en-US" sz="1100" b="1" dirty="0">
                <a:solidFill>
                  <a:srgbClr val="FFFFFF"/>
                </a:solidFill>
              </a:rPr>
              <a:t>CAPA 3 — MULTIMODAL</a:t>
            </a:r>
            <a:endParaRPr lang="en-US" sz="1100" dirty="0"/>
          </a:p>
        </p:txBody>
      </p:sp>
      <p:sp>
        <p:nvSpPr>
          <p:cNvPr id="70" name="Text 68"/>
          <p:cNvSpPr/>
          <p:nvPr/>
        </p:nvSpPr>
        <p:spPr>
          <a:xfrm>
            <a:off x="8549640" y="1170432"/>
            <a:ext cx="3383280" cy="155448"/>
          </a:xfrm>
          <a:prstGeom prst="rect">
            <a:avLst/>
          </a:prstGeom>
          <a:noFill/>
          <a:ln/>
        </p:spPr>
        <p:txBody>
          <a:bodyPr wrap="square" lIns="0" tIns="0" rIns="0" bIns="0" rtlCol="0" anchor="ctr"/>
          <a:lstStyle/>
          <a:p>
            <a:pPr indent="0" marL="0">
              <a:buNone/>
            </a:pPr>
            <a:r>
              <a:rPr lang="en-US" sz="750" i="1" dirty="0">
                <a:solidFill>
                  <a:srgbClr val="FFFFFF"/>
                </a:solidFill>
              </a:rPr>
              <a:t>Fraser (PP) · Habermas (SAV)</a:t>
            </a:r>
            <a:endParaRPr lang="en-US" sz="750" dirty="0"/>
          </a:p>
        </p:txBody>
      </p:sp>
      <p:sp>
        <p:nvSpPr>
          <p:cNvPr id="71" name="Shape 69"/>
          <p:cNvSpPr/>
          <p:nvPr/>
        </p:nvSpPr>
        <p:spPr>
          <a:xfrm>
            <a:off x="8577072" y="1389888"/>
            <a:ext cx="384048" cy="502920"/>
          </a:xfrm>
          <a:prstGeom prst="rect">
            <a:avLst/>
          </a:prstGeom>
          <a:solidFill>
            <a:srgbClr val="E2F0E8"/>
          </a:solidFill>
          <a:ln/>
        </p:spPr>
      </p:sp>
      <p:sp>
        <p:nvSpPr>
          <p:cNvPr id="72" name="Text 70"/>
          <p:cNvSpPr/>
          <p:nvPr/>
        </p:nvSpPr>
        <p:spPr>
          <a:xfrm>
            <a:off x="8577072" y="1389888"/>
            <a:ext cx="384048" cy="502920"/>
          </a:xfrm>
          <a:prstGeom prst="rect">
            <a:avLst/>
          </a:prstGeom>
          <a:noFill/>
          <a:ln/>
        </p:spPr>
        <p:txBody>
          <a:bodyPr wrap="square" lIns="0" tIns="0" rIns="0" bIns="0" rtlCol="0" anchor="ctr"/>
          <a:lstStyle/>
          <a:p>
            <a:pPr algn="ctr" indent="0" marL="0">
              <a:buNone/>
            </a:pPr>
            <a:r>
              <a:rPr lang="en-US" sz="900" b="1" dirty="0">
                <a:solidFill>
                  <a:srgbClr val="217346"/>
                </a:solidFill>
              </a:rPr>
              <a:t>y₁₀</a:t>
            </a:r>
            <a:endParaRPr lang="en-US" sz="900" dirty="0"/>
          </a:p>
        </p:txBody>
      </p:sp>
      <p:sp>
        <p:nvSpPr>
          <p:cNvPr id="73" name="Text 71"/>
          <p:cNvSpPr/>
          <p:nvPr/>
        </p:nvSpPr>
        <p:spPr>
          <a:xfrm>
            <a:off x="9015984" y="1408176"/>
            <a:ext cx="2871216" cy="246888"/>
          </a:xfrm>
          <a:prstGeom prst="rect">
            <a:avLst/>
          </a:prstGeom>
          <a:noFill/>
          <a:ln/>
        </p:spPr>
        <p:txBody>
          <a:bodyPr wrap="square" lIns="0" tIns="0" rIns="0" bIns="0" rtlCol="0" anchor="ctr"/>
          <a:lstStyle/>
          <a:p>
            <a:pPr indent="0" marL="0">
              <a:buNone/>
            </a:pPr>
            <a:r>
              <a:rPr lang="en-US" sz="1000" b="1" dirty="0">
                <a:solidFill>
                  <a:srgbClr val="1A1A2E"/>
                </a:solidFill>
              </a:rPr>
              <a:t>REP Score</a:t>
            </a:r>
            <a:endParaRPr lang="en-US" sz="1000" dirty="0"/>
          </a:p>
        </p:txBody>
      </p:sp>
      <p:sp>
        <p:nvSpPr>
          <p:cNvPr id="74" name="Text 72"/>
          <p:cNvSpPr/>
          <p:nvPr/>
        </p:nvSpPr>
        <p:spPr>
          <a:xfrm>
            <a:off x="9015984" y="1645920"/>
            <a:ext cx="2871216" cy="182880"/>
          </a:xfrm>
          <a:prstGeom prst="rect">
            <a:avLst/>
          </a:prstGeom>
          <a:noFill/>
          <a:ln/>
        </p:spPr>
        <p:txBody>
          <a:bodyPr wrap="square" lIns="0" tIns="0" rIns="0" bIns="0" rtlCol="0" anchor="ctr"/>
          <a:lstStyle/>
          <a:p>
            <a:pPr indent="0" marL="0">
              <a:buNone/>
            </a:pPr>
            <a:r>
              <a:rPr lang="en-US" sz="800" dirty="0">
                <a:solidFill>
                  <a:srgbClr val="6B7280"/>
                </a:solidFill>
              </a:rPr>
              <a:t>Canal verbal reparador</a:t>
            </a:r>
            <a:endParaRPr lang="en-US" sz="800" dirty="0"/>
          </a:p>
        </p:txBody>
      </p:sp>
      <p:sp>
        <p:nvSpPr>
          <p:cNvPr id="75" name="Shape 73"/>
          <p:cNvSpPr/>
          <p:nvPr/>
        </p:nvSpPr>
        <p:spPr>
          <a:xfrm>
            <a:off x="8577072" y="2761488"/>
            <a:ext cx="384048" cy="502920"/>
          </a:xfrm>
          <a:prstGeom prst="rect">
            <a:avLst/>
          </a:prstGeom>
          <a:solidFill>
            <a:srgbClr val="FFF9E6"/>
          </a:solidFill>
          <a:ln/>
        </p:spPr>
      </p:sp>
      <p:sp>
        <p:nvSpPr>
          <p:cNvPr id="76" name="Text 74"/>
          <p:cNvSpPr/>
          <p:nvPr/>
        </p:nvSpPr>
        <p:spPr>
          <a:xfrm>
            <a:off x="8577072" y="2761488"/>
            <a:ext cx="384048" cy="502920"/>
          </a:xfrm>
          <a:prstGeom prst="rect">
            <a:avLst/>
          </a:prstGeom>
          <a:noFill/>
          <a:ln/>
        </p:spPr>
        <p:txBody>
          <a:bodyPr wrap="square" lIns="0" tIns="0" rIns="0" bIns="0" rtlCol="0" anchor="ctr"/>
          <a:lstStyle/>
          <a:p>
            <a:pPr algn="ctr" indent="0" marL="0">
              <a:buNone/>
            </a:pPr>
            <a:r>
              <a:rPr lang="en-US" sz="900" b="1" dirty="0">
                <a:solidFill>
                  <a:srgbClr val="C9A227"/>
                </a:solidFill>
              </a:rPr>
              <a:t>y₁₂</a:t>
            </a:r>
            <a:endParaRPr lang="en-US" sz="900" dirty="0"/>
          </a:p>
        </p:txBody>
      </p:sp>
      <p:sp>
        <p:nvSpPr>
          <p:cNvPr id="77" name="Text 75"/>
          <p:cNvSpPr/>
          <p:nvPr/>
        </p:nvSpPr>
        <p:spPr>
          <a:xfrm>
            <a:off x="9015984" y="2779776"/>
            <a:ext cx="2871216" cy="246888"/>
          </a:xfrm>
          <a:prstGeom prst="rect">
            <a:avLst/>
          </a:prstGeom>
          <a:noFill/>
          <a:ln/>
        </p:spPr>
        <p:txBody>
          <a:bodyPr wrap="square" lIns="0" tIns="0" rIns="0" bIns="0" rtlCol="0" anchor="ctr"/>
          <a:lstStyle/>
          <a:p>
            <a:pPr indent="0" marL="0">
              <a:buNone/>
            </a:pPr>
            <a:r>
              <a:rPr lang="en-US" sz="1000" b="1" dirty="0">
                <a:solidFill>
                  <a:srgbClr val="1A1A2E"/>
                </a:solidFill>
              </a:rPr>
              <a:t>ICM Acúst.</a:t>
            </a:r>
            <a:endParaRPr lang="en-US" sz="1000" dirty="0"/>
          </a:p>
        </p:txBody>
      </p:sp>
      <p:sp>
        <p:nvSpPr>
          <p:cNvPr id="78" name="Text 76"/>
          <p:cNvSpPr/>
          <p:nvPr/>
        </p:nvSpPr>
        <p:spPr>
          <a:xfrm>
            <a:off x="9015984" y="3017520"/>
            <a:ext cx="2871216" cy="182880"/>
          </a:xfrm>
          <a:prstGeom prst="rect">
            <a:avLst/>
          </a:prstGeom>
          <a:noFill/>
          <a:ln/>
        </p:spPr>
        <p:txBody>
          <a:bodyPr wrap="square" lIns="0" tIns="0" rIns="0" bIns="0" rtlCol="0" anchor="ctr"/>
          <a:lstStyle/>
          <a:p>
            <a:pPr indent="0" marL="0">
              <a:buNone/>
            </a:pPr>
            <a:r>
              <a:rPr lang="en-US" sz="800" dirty="0">
                <a:solidFill>
                  <a:srgbClr val="6B7280"/>
                </a:solidFill>
              </a:rPr>
              <a:t>Congruencia tri-canal</a:t>
            </a:r>
            <a:endParaRPr lang="en-US" sz="800" dirty="0"/>
          </a:p>
        </p:txBody>
      </p:sp>
      <p:sp>
        <p:nvSpPr>
          <p:cNvPr id="79" name="Shape 77"/>
          <p:cNvSpPr/>
          <p:nvPr/>
        </p:nvSpPr>
        <p:spPr>
          <a:xfrm>
            <a:off x="8577072" y="4133088"/>
            <a:ext cx="384048" cy="502920"/>
          </a:xfrm>
          <a:prstGeom prst="rect">
            <a:avLst/>
          </a:prstGeom>
          <a:solidFill>
            <a:srgbClr val="FCE4D6"/>
          </a:solidFill>
          <a:ln/>
        </p:spPr>
      </p:sp>
      <p:sp>
        <p:nvSpPr>
          <p:cNvPr id="80" name="Text 78"/>
          <p:cNvSpPr/>
          <p:nvPr/>
        </p:nvSpPr>
        <p:spPr>
          <a:xfrm>
            <a:off x="8577072" y="4133088"/>
            <a:ext cx="384048" cy="502920"/>
          </a:xfrm>
          <a:prstGeom prst="rect">
            <a:avLst/>
          </a:prstGeom>
          <a:noFill/>
          <a:ln/>
        </p:spPr>
        <p:txBody>
          <a:bodyPr wrap="square" lIns="0" tIns="0" rIns="0" bIns="0" rtlCol="0" anchor="ctr"/>
          <a:lstStyle/>
          <a:p>
            <a:pPr algn="ctr" indent="0" marL="0">
              <a:buNone/>
            </a:pPr>
            <a:r>
              <a:rPr lang="en-US" sz="900" b="1" dirty="0">
                <a:solidFill>
                  <a:srgbClr val="C00000"/>
                </a:solidFill>
              </a:rPr>
              <a:t>y₁₃</a:t>
            </a:r>
            <a:endParaRPr lang="en-US" sz="900" dirty="0"/>
          </a:p>
        </p:txBody>
      </p:sp>
      <p:sp>
        <p:nvSpPr>
          <p:cNvPr id="81" name="Text 79"/>
          <p:cNvSpPr/>
          <p:nvPr/>
        </p:nvSpPr>
        <p:spPr>
          <a:xfrm>
            <a:off x="9015984" y="4151376"/>
            <a:ext cx="2871216" cy="246888"/>
          </a:xfrm>
          <a:prstGeom prst="rect">
            <a:avLst/>
          </a:prstGeom>
          <a:noFill/>
          <a:ln/>
        </p:spPr>
        <p:txBody>
          <a:bodyPr wrap="square" lIns="0" tIns="0" rIns="0" bIns="0" rtlCol="0" anchor="ctr"/>
          <a:lstStyle/>
          <a:p>
            <a:pPr indent="0" marL="0">
              <a:buNone/>
            </a:pPr>
            <a:r>
              <a:rPr lang="en-US" sz="1000" b="1" dirty="0">
                <a:solidFill>
                  <a:srgbClr val="1A1A2E"/>
                </a:solidFill>
              </a:rPr>
              <a:t>DIS diario</a:t>
            </a:r>
            <a:endParaRPr lang="en-US" sz="1000" dirty="0"/>
          </a:p>
        </p:txBody>
      </p:sp>
      <p:sp>
        <p:nvSpPr>
          <p:cNvPr id="82" name="Text 80"/>
          <p:cNvSpPr/>
          <p:nvPr/>
        </p:nvSpPr>
        <p:spPr>
          <a:xfrm>
            <a:off x="9015984" y="4389120"/>
            <a:ext cx="2871216" cy="182880"/>
          </a:xfrm>
          <a:prstGeom prst="rect">
            <a:avLst/>
          </a:prstGeom>
          <a:noFill/>
          <a:ln/>
        </p:spPr>
        <p:txBody>
          <a:bodyPr wrap="square" lIns="0" tIns="0" rIns="0" bIns="0" rtlCol="0" anchor="ctr"/>
          <a:lstStyle/>
          <a:p>
            <a:pPr indent="0" marL="0">
              <a:buNone/>
            </a:pPr>
            <a:r>
              <a:rPr lang="en-US" sz="800" dirty="0">
                <a:solidFill>
                  <a:srgbClr val="6B7280"/>
                </a:solidFill>
              </a:rPr>
              <a:t>Variación temporal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2E75B6"/>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Capa 1 — Indicadores Textuales y₁–y₄ | Marco: Habermas (SAV) · Galtung (VC)</a:t>
            </a:r>
            <a:endParaRPr lang="en-US" sz="1700" dirty="0"/>
          </a:p>
        </p:txBody>
      </p:sp>
      <p:sp>
        <p:nvSpPr>
          <p:cNvPr id="4" name="Shape 2"/>
          <p:cNvSpPr/>
          <p:nvPr/>
        </p:nvSpPr>
        <p:spPr>
          <a:xfrm>
            <a:off x="182880" y="91440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182880" y="914400"/>
            <a:ext cx="457200" cy="2697480"/>
          </a:xfrm>
          <a:prstGeom prst="rect">
            <a:avLst/>
          </a:prstGeom>
          <a:solidFill>
            <a:srgbClr val="C00000"/>
          </a:solidFill>
          <a:ln/>
        </p:spPr>
      </p:sp>
      <p:sp>
        <p:nvSpPr>
          <p:cNvPr id="6" name="Text 4"/>
          <p:cNvSpPr/>
          <p:nvPr/>
        </p:nvSpPr>
        <p:spPr>
          <a:xfrm>
            <a:off x="182880" y="1005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y₁</a:t>
            </a:r>
            <a:endParaRPr lang="en-US" sz="1200" dirty="0"/>
          </a:p>
        </p:txBody>
      </p:sp>
      <p:sp>
        <p:nvSpPr>
          <p:cNvPr id="7" name="Text 5"/>
          <p:cNvSpPr/>
          <p:nvPr/>
        </p:nvSpPr>
        <p:spPr>
          <a:xfrm>
            <a:off x="685800" y="960120"/>
            <a:ext cx="5212080" cy="320040"/>
          </a:xfrm>
          <a:prstGeom prst="rect">
            <a:avLst/>
          </a:prstGeom>
          <a:noFill/>
          <a:ln/>
        </p:spPr>
        <p:txBody>
          <a:bodyPr wrap="square" lIns="0" tIns="0" rIns="0" bIns="0" rtlCol="0" anchor="ctr"/>
          <a:lstStyle/>
          <a:p>
            <a:pPr indent="0" marL="0">
              <a:buNone/>
            </a:pPr>
            <a:r>
              <a:rPr lang="en-US" sz="1100" b="1" dirty="0">
                <a:solidFill>
                  <a:srgbClr val="1F4E79"/>
                </a:solidFill>
              </a:rPr>
              <a:t>EBI — Eufemismo Bélico-Institucional</a:t>
            </a:r>
            <a:endParaRPr lang="en-US" sz="1100" dirty="0"/>
          </a:p>
        </p:txBody>
      </p:sp>
      <p:sp>
        <p:nvSpPr>
          <p:cNvPr id="8" name="Shape 6"/>
          <p:cNvSpPr/>
          <p:nvPr/>
        </p:nvSpPr>
        <p:spPr>
          <a:xfrm>
            <a:off x="685800" y="1298448"/>
            <a:ext cx="5212080" cy="438912"/>
          </a:xfrm>
          <a:prstGeom prst="rect">
            <a:avLst/>
          </a:prstGeom>
          <a:solidFill>
            <a:srgbClr val="FFF4EE"/>
          </a:solidFill>
          <a:ln/>
        </p:spPr>
      </p:sp>
      <p:sp>
        <p:nvSpPr>
          <p:cNvPr id="9" name="Text 7"/>
          <p:cNvSpPr/>
          <p:nvPr/>
        </p:nvSpPr>
        <p:spPr>
          <a:xfrm>
            <a:off x="731520" y="1307592"/>
            <a:ext cx="5166360" cy="429768"/>
          </a:xfrm>
          <a:prstGeom prst="rect">
            <a:avLst/>
          </a:prstGeom>
          <a:noFill/>
          <a:ln/>
        </p:spPr>
        <p:txBody>
          <a:bodyPr wrap="square" lIns="0" tIns="0" rIns="0" bIns="0" rtlCol="0" anchor="ctr"/>
          <a:lstStyle/>
          <a:p>
            <a:pPr indent="0" marL="0">
              <a:buNone/>
            </a:pPr>
            <a:r>
              <a:rPr lang="en-US" sz="850" dirty="0">
                <a:solidFill>
                  <a:srgbClr val="B5450B"/>
                </a:solidFill>
              </a:rPr>
              <a:t>MARCO: Galtung (1990): violencia cultural. El léxico militar ('baja operacional', 'resultado') legitima la violencia directa del Estado presentándola como ejercicio legítimo de la fuerza.</a:t>
            </a:r>
            <a:endParaRPr lang="en-US" sz="850" dirty="0"/>
          </a:p>
        </p:txBody>
      </p:sp>
      <p:sp>
        <p:nvSpPr>
          <p:cNvPr id="10" name="Shape 8"/>
          <p:cNvSpPr/>
          <p:nvPr/>
        </p:nvSpPr>
        <p:spPr>
          <a:xfrm>
            <a:off x="685800" y="1755648"/>
            <a:ext cx="5212080" cy="457200"/>
          </a:xfrm>
          <a:prstGeom prst="rect">
            <a:avLst/>
          </a:prstGeom>
          <a:solidFill>
            <a:srgbClr val="F0F4FF"/>
          </a:solidFill>
          <a:ln/>
        </p:spPr>
      </p:sp>
      <p:sp>
        <p:nvSpPr>
          <p:cNvPr id="11" name="Text 9"/>
          <p:cNvSpPr/>
          <p:nvPr/>
        </p:nvSpPr>
        <p:spPr>
          <a:xfrm>
            <a:off x="731520" y="1764792"/>
            <a:ext cx="5166360" cy="448056"/>
          </a:xfrm>
          <a:prstGeom prst="rect">
            <a:avLst/>
          </a:prstGeom>
          <a:noFill/>
          <a:ln/>
        </p:spPr>
        <p:txBody>
          <a:bodyPr wrap="square" lIns="0" tIns="0" rIns="0" bIns="0" rtlCol="0" anchor="ctr"/>
          <a:lstStyle/>
          <a:p>
            <a:pPr indent="0" marL="0">
              <a:buNone/>
            </a:pPr>
            <a:r>
              <a:rPr lang="en-US" sz="850" dirty="0">
                <a:solidFill>
                  <a:srgbClr val="4B0082"/>
                </a:solidFill>
                <a:latin typeface="Consolas" pitchFamily="34" charset="0"/>
                <a:ea typeface="Consolas" pitchFamily="34" charset="-122"/>
                <a:cs typeface="Consolas" pitchFamily="34" charset="-120"/>
              </a:rPr>
              <a:t>FÓRMULA: EBI(d) = |{t ∈ d : t ∈ L_EBI}| / |tokens(d)|   → normalizado [0,1]</a:t>
            </a:r>
            <a:endParaRPr lang="en-US" sz="850" dirty="0"/>
          </a:p>
        </p:txBody>
      </p:sp>
      <p:sp>
        <p:nvSpPr>
          <p:cNvPr id="12" name="Text 10"/>
          <p:cNvSpPr/>
          <p:nvPr/>
        </p:nvSpPr>
        <p:spPr>
          <a:xfrm>
            <a:off x="685800" y="2249424"/>
            <a:ext cx="5212080" cy="457200"/>
          </a:xfrm>
          <a:prstGeom prst="rect">
            <a:avLst/>
          </a:prstGeom>
          <a:noFill/>
          <a:ln/>
        </p:spPr>
        <p:txBody>
          <a:bodyPr wrap="square" lIns="0" tIns="0" rIns="0" bIns="0" rtlCol="0" anchor="ctr"/>
          <a:lstStyle/>
          <a:p>
            <a:pPr indent="0" marL="0">
              <a:buNone/>
            </a:pPr>
            <a:r>
              <a:rPr lang="en-US" sz="850" dirty="0">
                <a:solidFill>
                  <a:srgbClr val="6B7280"/>
                </a:solidFill>
              </a:rPr>
              <a:t>MÉTODO: CFH-BERT v2 IO sobre taxonomía EBI/SA/NV/REP. Weighted loss w_EBI=1.8. Detecta secuencias, no tokens aislados.</a:t>
            </a:r>
            <a:endParaRPr lang="en-US" sz="850" dirty="0"/>
          </a:p>
        </p:txBody>
      </p:sp>
      <p:sp>
        <p:nvSpPr>
          <p:cNvPr id="13" name="Shape 11"/>
          <p:cNvSpPr/>
          <p:nvPr/>
        </p:nvSpPr>
        <p:spPr>
          <a:xfrm>
            <a:off x="685800" y="2724912"/>
            <a:ext cx="5212080" cy="502920"/>
          </a:xfrm>
          <a:prstGeom prst="rect">
            <a:avLst/>
          </a:prstGeom>
          <a:solidFill>
            <a:srgbClr val="FCE4D6"/>
          </a:solidFill>
          <a:ln/>
        </p:spPr>
      </p:sp>
      <p:sp>
        <p:nvSpPr>
          <p:cNvPr id="14" name="Text 12"/>
          <p:cNvSpPr/>
          <p:nvPr/>
        </p:nvSpPr>
        <p:spPr>
          <a:xfrm>
            <a:off x="731520" y="2743200"/>
            <a:ext cx="5166360" cy="484632"/>
          </a:xfrm>
          <a:prstGeom prst="rect">
            <a:avLst/>
          </a:prstGeom>
          <a:noFill/>
          <a:ln/>
        </p:spPr>
        <p:txBody>
          <a:bodyPr wrap="square" lIns="0" tIns="0" rIns="0" bIns="0" rtlCol="0" anchor="ctr"/>
          <a:lstStyle/>
          <a:p>
            <a:pPr indent="0" marL="0">
              <a:buNone/>
            </a:pPr>
            <a:r>
              <a:rPr lang="en-US" sz="850" dirty="0">
                <a:solidFill>
                  <a:srgbClr val="C00000"/>
                </a:solidFill>
              </a:rPr>
              <a:t>RESULTADO: PENDIENTE — κ&gt;0.80 → CFH-BERT v3. F1_macro v2=0.58 (n=100).</a:t>
            </a:r>
            <a:endParaRPr lang="en-US" sz="850" dirty="0"/>
          </a:p>
        </p:txBody>
      </p:sp>
      <p:sp>
        <p:nvSpPr>
          <p:cNvPr id="15" name="Shape 13"/>
          <p:cNvSpPr/>
          <p:nvPr/>
        </p:nvSpPr>
        <p:spPr>
          <a:xfrm>
            <a:off x="6172200" y="91440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6172200" y="914400"/>
            <a:ext cx="457200" cy="2697480"/>
          </a:xfrm>
          <a:prstGeom prst="rect">
            <a:avLst/>
          </a:prstGeom>
          <a:solidFill>
            <a:srgbClr val="2E75B6"/>
          </a:solidFill>
          <a:ln/>
        </p:spPr>
      </p:sp>
      <p:sp>
        <p:nvSpPr>
          <p:cNvPr id="17" name="Text 15"/>
          <p:cNvSpPr/>
          <p:nvPr/>
        </p:nvSpPr>
        <p:spPr>
          <a:xfrm>
            <a:off x="6172200" y="1005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y₂</a:t>
            </a:r>
            <a:endParaRPr lang="en-US" sz="1200" dirty="0"/>
          </a:p>
        </p:txBody>
      </p:sp>
      <p:sp>
        <p:nvSpPr>
          <p:cNvPr id="18" name="Text 16"/>
          <p:cNvSpPr/>
          <p:nvPr/>
        </p:nvSpPr>
        <p:spPr>
          <a:xfrm>
            <a:off x="6675120" y="960120"/>
            <a:ext cx="5212080" cy="320040"/>
          </a:xfrm>
          <a:prstGeom prst="rect">
            <a:avLst/>
          </a:prstGeom>
          <a:noFill/>
          <a:ln/>
        </p:spPr>
        <p:txBody>
          <a:bodyPr wrap="square" lIns="0" tIns="0" rIns="0" bIns="0" rtlCol="0" anchor="ctr"/>
          <a:lstStyle/>
          <a:p>
            <a:pPr indent="0" marL="0">
              <a:buNone/>
            </a:pPr>
            <a:r>
              <a:rPr lang="en-US" sz="1100" b="1" dirty="0">
                <a:solidFill>
                  <a:srgbClr val="1F4E79"/>
                </a:solidFill>
              </a:rPr>
              <a:t>SA — Supresión de Agentividad</a:t>
            </a:r>
            <a:endParaRPr lang="en-US" sz="1100" dirty="0"/>
          </a:p>
        </p:txBody>
      </p:sp>
      <p:sp>
        <p:nvSpPr>
          <p:cNvPr id="19" name="Shape 17"/>
          <p:cNvSpPr/>
          <p:nvPr/>
        </p:nvSpPr>
        <p:spPr>
          <a:xfrm>
            <a:off x="6675120" y="1298448"/>
            <a:ext cx="5212080" cy="438912"/>
          </a:xfrm>
          <a:prstGeom prst="rect">
            <a:avLst/>
          </a:prstGeom>
          <a:solidFill>
            <a:srgbClr val="EBF5FF"/>
          </a:solidFill>
          <a:ln/>
        </p:spPr>
      </p:sp>
      <p:sp>
        <p:nvSpPr>
          <p:cNvPr id="20" name="Text 18"/>
          <p:cNvSpPr/>
          <p:nvPr/>
        </p:nvSpPr>
        <p:spPr>
          <a:xfrm>
            <a:off x="6720840" y="1307592"/>
            <a:ext cx="5166360" cy="429768"/>
          </a:xfrm>
          <a:prstGeom prst="rect">
            <a:avLst/>
          </a:prstGeom>
          <a:noFill/>
          <a:ln/>
        </p:spPr>
        <p:txBody>
          <a:bodyPr wrap="square" lIns="0" tIns="0" rIns="0" bIns="0" rtlCol="0" anchor="ctr"/>
          <a:lstStyle/>
          <a:p>
            <a:pPr indent="0" marL="0">
              <a:buNone/>
            </a:pPr>
            <a:r>
              <a:rPr lang="en-US" sz="850" dirty="0">
                <a:solidFill>
                  <a:srgbClr val="2E75B6"/>
                </a:solidFill>
              </a:rPr>
              <a:t>MARCO: Habermas (1981): violación de la pretensión de sinceridad expresiva. La pasiva sin agente y el 'se' impersonal ocultan al perpetrador, distorsionando la acción comunicativa al borrar la responsabilidad.</a:t>
            </a:r>
            <a:endParaRPr lang="en-US" sz="850" dirty="0"/>
          </a:p>
        </p:txBody>
      </p:sp>
      <p:sp>
        <p:nvSpPr>
          <p:cNvPr id="21" name="Shape 19"/>
          <p:cNvSpPr/>
          <p:nvPr/>
        </p:nvSpPr>
        <p:spPr>
          <a:xfrm>
            <a:off x="6675120" y="1755648"/>
            <a:ext cx="5212080" cy="457200"/>
          </a:xfrm>
          <a:prstGeom prst="rect">
            <a:avLst/>
          </a:prstGeom>
          <a:solidFill>
            <a:srgbClr val="F0F4FF"/>
          </a:solidFill>
          <a:ln/>
        </p:spPr>
      </p:sp>
      <p:sp>
        <p:nvSpPr>
          <p:cNvPr id="22" name="Text 20"/>
          <p:cNvSpPr/>
          <p:nvPr/>
        </p:nvSpPr>
        <p:spPr>
          <a:xfrm>
            <a:off x="6720840" y="1764792"/>
            <a:ext cx="5166360" cy="448056"/>
          </a:xfrm>
          <a:prstGeom prst="rect">
            <a:avLst/>
          </a:prstGeom>
          <a:noFill/>
          <a:ln/>
        </p:spPr>
        <p:txBody>
          <a:bodyPr wrap="square" lIns="0" tIns="0" rIns="0" bIns="0" rtlCol="0" anchor="ctr"/>
          <a:lstStyle/>
          <a:p>
            <a:pPr indent="0" marL="0">
              <a:buNone/>
            </a:pPr>
            <a:r>
              <a:rPr lang="en-US" sz="850" dirty="0">
                <a:solidFill>
                  <a:srgbClr val="4B0082"/>
                </a:solidFill>
                <a:latin typeface="Consolas" pitchFamily="34" charset="0"/>
                <a:ea typeface="Consolas" pitchFamily="34" charset="-122"/>
                <a:cs typeface="Consolas" pitchFamily="34" charset="-120"/>
              </a:rPr>
              <a:t>FÓRMULA: SA(d) = (n_pasiva_sin_agente + n_se_impersonal + n_nominalización) / n_verbos   → [0,1]</a:t>
            </a:r>
            <a:endParaRPr lang="en-US" sz="850" dirty="0"/>
          </a:p>
        </p:txBody>
      </p:sp>
      <p:sp>
        <p:nvSpPr>
          <p:cNvPr id="23" name="Text 21"/>
          <p:cNvSpPr/>
          <p:nvPr/>
        </p:nvSpPr>
        <p:spPr>
          <a:xfrm>
            <a:off x="6675120" y="2249424"/>
            <a:ext cx="5212080" cy="457200"/>
          </a:xfrm>
          <a:prstGeom prst="rect">
            <a:avLst/>
          </a:prstGeom>
          <a:noFill/>
          <a:ln/>
        </p:spPr>
        <p:txBody>
          <a:bodyPr wrap="square" lIns="0" tIns="0" rIns="0" bIns="0" rtlCol="0" anchor="ctr"/>
          <a:lstStyle/>
          <a:p>
            <a:pPr indent="0" marL="0">
              <a:buNone/>
            </a:pPr>
            <a:r>
              <a:rPr lang="en-US" sz="850" dirty="0">
                <a:solidFill>
                  <a:srgbClr val="6B7280"/>
                </a:solidFill>
              </a:rPr>
              <a:t>MÉTODO: spaCy es_core_news_lg: árbol de dependencias (dep='nsubjpass','auxpass'), regex para 'se+verbo'. 847 patrones. SAExtractor.</a:t>
            </a:r>
            <a:endParaRPr lang="en-US" sz="850" dirty="0"/>
          </a:p>
        </p:txBody>
      </p:sp>
      <p:sp>
        <p:nvSpPr>
          <p:cNvPr id="24" name="Shape 22"/>
          <p:cNvSpPr/>
          <p:nvPr/>
        </p:nvSpPr>
        <p:spPr>
          <a:xfrm>
            <a:off x="6675120" y="2724912"/>
            <a:ext cx="5212080" cy="502920"/>
          </a:xfrm>
          <a:prstGeom prst="rect">
            <a:avLst/>
          </a:prstGeom>
          <a:solidFill>
            <a:srgbClr val="E2F0E8"/>
          </a:solidFill>
          <a:ln/>
        </p:spPr>
      </p:sp>
      <p:sp>
        <p:nvSpPr>
          <p:cNvPr id="25" name="Text 23"/>
          <p:cNvSpPr/>
          <p:nvPr/>
        </p:nvSpPr>
        <p:spPr>
          <a:xfrm>
            <a:off x="6720840" y="2743200"/>
            <a:ext cx="5166360" cy="484632"/>
          </a:xfrm>
          <a:prstGeom prst="rect">
            <a:avLst/>
          </a:prstGeom>
          <a:noFill/>
          <a:ln/>
        </p:spPr>
        <p:txBody>
          <a:bodyPr wrap="square" lIns="0" tIns="0" rIns="0" bIns="0" rtlCol="0" anchor="ctr"/>
          <a:lstStyle/>
          <a:p>
            <a:pPr indent="0" marL="0">
              <a:buNone/>
            </a:pPr>
            <a:r>
              <a:rPr lang="en-US" sz="850" dirty="0">
                <a:solidFill>
                  <a:srgbClr val="217346"/>
                </a:solidFill>
              </a:rPr>
              <a:t>RESULTADO: A=0.735 vs B=0.802 · p=0.127 n.s. HALLAZGO: SA transversal al lenguaje jurídico — viola Habermas en ambos sistemas. Costa Caribe: 0.781.</a:t>
            </a:r>
            <a:endParaRPr lang="en-US" sz="850" dirty="0"/>
          </a:p>
        </p:txBody>
      </p:sp>
      <p:sp>
        <p:nvSpPr>
          <p:cNvPr id="26" name="Shape 24"/>
          <p:cNvSpPr/>
          <p:nvPr/>
        </p:nvSpPr>
        <p:spPr>
          <a:xfrm>
            <a:off x="182880" y="379476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7" name="Shape 25"/>
          <p:cNvSpPr/>
          <p:nvPr/>
        </p:nvSpPr>
        <p:spPr>
          <a:xfrm>
            <a:off x="182880" y="3794760"/>
            <a:ext cx="457200" cy="2697480"/>
          </a:xfrm>
          <a:prstGeom prst="rect">
            <a:avLst/>
          </a:prstGeom>
          <a:solidFill>
            <a:srgbClr val="2E75B6"/>
          </a:solidFill>
          <a:ln/>
        </p:spPr>
      </p:sp>
      <p:sp>
        <p:nvSpPr>
          <p:cNvPr id="28" name="Text 26"/>
          <p:cNvSpPr/>
          <p:nvPr/>
        </p:nvSpPr>
        <p:spPr>
          <a:xfrm>
            <a:off x="18288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y₃</a:t>
            </a:r>
            <a:endParaRPr lang="en-US" sz="1200" dirty="0"/>
          </a:p>
        </p:txBody>
      </p:sp>
      <p:sp>
        <p:nvSpPr>
          <p:cNvPr id="29" name="Text 27"/>
          <p:cNvSpPr/>
          <p:nvPr/>
        </p:nvSpPr>
        <p:spPr>
          <a:xfrm>
            <a:off x="685800" y="3840480"/>
            <a:ext cx="5212080" cy="320040"/>
          </a:xfrm>
          <a:prstGeom prst="rect">
            <a:avLst/>
          </a:prstGeom>
          <a:noFill/>
          <a:ln/>
        </p:spPr>
        <p:txBody>
          <a:bodyPr wrap="square" lIns="0" tIns="0" rIns="0" bIns="0" rtlCol="0" anchor="ctr"/>
          <a:lstStyle/>
          <a:p>
            <a:pPr indent="0" marL="0">
              <a:buNone/>
            </a:pPr>
            <a:r>
              <a:rPr lang="en-US" sz="1100" b="1" dirty="0">
                <a:solidFill>
                  <a:srgbClr val="1F4E79"/>
                </a:solidFill>
              </a:rPr>
              <a:t>Civil Dist. — Distancia Léxico Civil</a:t>
            </a:r>
            <a:endParaRPr lang="en-US" sz="1100" dirty="0"/>
          </a:p>
        </p:txBody>
      </p:sp>
      <p:sp>
        <p:nvSpPr>
          <p:cNvPr id="30" name="Shape 28"/>
          <p:cNvSpPr/>
          <p:nvPr/>
        </p:nvSpPr>
        <p:spPr>
          <a:xfrm>
            <a:off x="685800" y="4178808"/>
            <a:ext cx="5212080" cy="438912"/>
          </a:xfrm>
          <a:prstGeom prst="rect">
            <a:avLst/>
          </a:prstGeom>
          <a:solidFill>
            <a:srgbClr val="EBF5FF"/>
          </a:solidFill>
          <a:ln/>
        </p:spPr>
      </p:sp>
      <p:sp>
        <p:nvSpPr>
          <p:cNvPr id="31" name="Text 29"/>
          <p:cNvSpPr/>
          <p:nvPr/>
        </p:nvSpPr>
        <p:spPr>
          <a:xfrm>
            <a:off x="731520" y="4187952"/>
            <a:ext cx="5166360" cy="429768"/>
          </a:xfrm>
          <a:prstGeom prst="rect">
            <a:avLst/>
          </a:prstGeom>
          <a:noFill/>
          <a:ln/>
        </p:spPr>
        <p:txBody>
          <a:bodyPr wrap="square" lIns="0" tIns="0" rIns="0" bIns="0" rtlCol="0" anchor="ctr"/>
          <a:lstStyle/>
          <a:p>
            <a:pPr indent="0" marL="0">
              <a:buNone/>
            </a:pPr>
            <a:r>
              <a:rPr lang="en-US" sz="850" dirty="0">
                <a:solidFill>
                  <a:srgbClr val="2E75B6"/>
                </a:solidFill>
              </a:rPr>
              <a:t>MARCO: Fraser (2008): paridad participativa requiere que el discurso institucional reconozca a los ciudadanos como interlocutores. La distancia al léxico civil mide el alejamiento del discurso de los derechos.</a:t>
            </a:r>
            <a:endParaRPr lang="en-US" sz="850" dirty="0"/>
          </a:p>
        </p:txBody>
      </p:sp>
      <p:sp>
        <p:nvSpPr>
          <p:cNvPr id="32" name="Shape 30"/>
          <p:cNvSpPr/>
          <p:nvPr/>
        </p:nvSpPr>
        <p:spPr>
          <a:xfrm>
            <a:off x="685800" y="4636008"/>
            <a:ext cx="5212080" cy="457200"/>
          </a:xfrm>
          <a:prstGeom prst="rect">
            <a:avLst/>
          </a:prstGeom>
          <a:solidFill>
            <a:srgbClr val="F0F4FF"/>
          </a:solidFill>
          <a:ln/>
        </p:spPr>
      </p:sp>
      <p:sp>
        <p:nvSpPr>
          <p:cNvPr id="33" name="Text 31"/>
          <p:cNvSpPr/>
          <p:nvPr/>
        </p:nvSpPr>
        <p:spPr>
          <a:xfrm>
            <a:off x="731520" y="4645152"/>
            <a:ext cx="5166360" cy="448056"/>
          </a:xfrm>
          <a:prstGeom prst="rect">
            <a:avLst/>
          </a:prstGeom>
          <a:noFill/>
          <a:ln/>
        </p:spPr>
        <p:txBody>
          <a:bodyPr wrap="square" lIns="0" tIns="0" rIns="0" bIns="0" rtlCol="0" anchor="ctr"/>
          <a:lstStyle/>
          <a:p>
            <a:pPr indent="0" marL="0">
              <a:buNone/>
            </a:pPr>
            <a:r>
              <a:rPr lang="en-US" sz="850" dirty="0">
                <a:solidFill>
                  <a:srgbClr val="4B0082"/>
                </a:solidFill>
                <a:latin typeface="Consolas" pitchFamily="34" charset="0"/>
                <a:ea typeface="Consolas" pitchFamily="34" charset="-122"/>
                <a:cs typeface="Consolas" pitchFamily="34" charset="-120"/>
              </a:rPr>
              <a:t>FÓRMULA: y₃(d) = 1 − cos(v_TFIDF(d), c_civil)   c_civil = centroide lexicón 1,247 términos constitucionales</a:t>
            </a:r>
            <a:endParaRPr lang="en-US" sz="850" dirty="0"/>
          </a:p>
        </p:txBody>
      </p:sp>
      <p:sp>
        <p:nvSpPr>
          <p:cNvPr id="34" name="Text 32"/>
          <p:cNvSpPr/>
          <p:nvPr/>
        </p:nvSpPr>
        <p:spPr>
          <a:xfrm>
            <a:off x="685800" y="5129784"/>
            <a:ext cx="5212080" cy="457200"/>
          </a:xfrm>
          <a:prstGeom prst="rect">
            <a:avLst/>
          </a:prstGeom>
          <a:noFill/>
          <a:ln/>
        </p:spPr>
        <p:txBody>
          <a:bodyPr wrap="square" lIns="0" tIns="0" rIns="0" bIns="0" rtlCol="0" anchor="ctr"/>
          <a:lstStyle/>
          <a:p>
            <a:pPr indent="0" marL="0">
              <a:buNone/>
            </a:pPr>
            <a:r>
              <a:rPr lang="en-US" sz="850" dirty="0">
                <a:solidFill>
                  <a:srgbClr val="6B7280"/>
                </a:solidFill>
              </a:rPr>
              <a:t>MÉTODO: TF-IDF (min_df=2, max_features=50K) + coseno. Lexicón curado: Const. 1991 + instrumentos CIDH. CivilLexiconExtractor.</a:t>
            </a:r>
            <a:endParaRPr lang="en-US" sz="850" dirty="0"/>
          </a:p>
        </p:txBody>
      </p:sp>
      <p:sp>
        <p:nvSpPr>
          <p:cNvPr id="35" name="Shape 33"/>
          <p:cNvSpPr/>
          <p:nvPr/>
        </p:nvSpPr>
        <p:spPr>
          <a:xfrm>
            <a:off x="685800" y="5605272"/>
            <a:ext cx="5212080" cy="502920"/>
          </a:xfrm>
          <a:prstGeom prst="rect">
            <a:avLst/>
          </a:prstGeom>
          <a:solidFill>
            <a:srgbClr val="E2F0E8"/>
          </a:solidFill>
          <a:ln/>
        </p:spPr>
      </p:sp>
      <p:sp>
        <p:nvSpPr>
          <p:cNvPr id="36" name="Text 34"/>
          <p:cNvSpPr/>
          <p:nvPr/>
        </p:nvSpPr>
        <p:spPr>
          <a:xfrm>
            <a:off x="731520" y="5623560"/>
            <a:ext cx="5166360" cy="484632"/>
          </a:xfrm>
          <a:prstGeom prst="rect">
            <a:avLst/>
          </a:prstGeom>
          <a:noFill/>
          <a:ln/>
        </p:spPr>
        <p:txBody>
          <a:bodyPr wrap="square" lIns="0" tIns="0" rIns="0" bIns="0" rtlCol="0" anchor="ctr"/>
          <a:lstStyle/>
          <a:p>
            <a:pPr indent="0" marL="0">
              <a:buNone/>
            </a:pPr>
            <a:r>
              <a:rPr lang="en-US" sz="850" dirty="0">
                <a:solidFill>
                  <a:srgbClr val="217346"/>
                </a:solidFill>
              </a:rPr>
              <a:t>RESULTADO: A=0.847 vs B=0.731 · p&lt;0.001*** · Δ=0.116. Corpus ordinario más alejado del léxico de derechos — apoya H₁.</a:t>
            </a:r>
            <a:endParaRPr lang="en-US" sz="850" dirty="0"/>
          </a:p>
        </p:txBody>
      </p:sp>
      <p:sp>
        <p:nvSpPr>
          <p:cNvPr id="37" name="Shape 35"/>
          <p:cNvSpPr/>
          <p:nvPr/>
        </p:nvSpPr>
        <p:spPr>
          <a:xfrm>
            <a:off x="6172200" y="379476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8" name="Shape 36"/>
          <p:cNvSpPr/>
          <p:nvPr/>
        </p:nvSpPr>
        <p:spPr>
          <a:xfrm>
            <a:off x="6172200" y="3794760"/>
            <a:ext cx="457200" cy="2697480"/>
          </a:xfrm>
          <a:prstGeom prst="rect">
            <a:avLst/>
          </a:prstGeom>
          <a:solidFill>
            <a:srgbClr val="B5450B"/>
          </a:solidFill>
          <a:ln/>
        </p:spPr>
      </p:sp>
      <p:sp>
        <p:nvSpPr>
          <p:cNvPr id="39" name="Text 37"/>
          <p:cNvSpPr/>
          <p:nvPr/>
        </p:nvSpPr>
        <p:spPr>
          <a:xfrm>
            <a:off x="617220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y₄</a:t>
            </a:r>
            <a:endParaRPr lang="en-US" sz="1200" dirty="0"/>
          </a:p>
        </p:txBody>
      </p:sp>
      <p:sp>
        <p:nvSpPr>
          <p:cNvPr id="40" name="Text 38"/>
          <p:cNvSpPr/>
          <p:nvPr/>
        </p:nvSpPr>
        <p:spPr>
          <a:xfrm>
            <a:off x="6675120" y="3840480"/>
            <a:ext cx="5212080" cy="320040"/>
          </a:xfrm>
          <a:prstGeom prst="rect">
            <a:avLst/>
          </a:prstGeom>
          <a:noFill/>
          <a:ln/>
        </p:spPr>
        <p:txBody>
          <a:bodyPr wrap="square" lIns="0" tIns="0" rIns="0" bIns="0" rtlCol="0" anchor="ctr"/>
          <a:lstStyle/>
          <a:p>
            <a:pPr indent="0" marL="0">
              <a:buNone/>
            </a:pPr>
            <a:r>
              <a:rPr lang="en-US" sz="1100" b="1" dirty="0">
                <a:solidFill>
                  <a:srgbClr val="1F4E79"/>
                </a:solidFill>
              </a:rPr>
              <a:t>NV — Negación de Victimización</a:t>
            </a:r>
            <a:endParaRPr lang="en-US" sz="1100" dirty="0"/>
          </a:p>
        </p:txBody>
      </p:sp>
      <p:sp>
        <p:nvSpPr>
          <p:cNvPr id="41" name="Shape 39"/>
          <p:cNvSpPr/>
          <p:nvPr/>
        </p:nvSpPr>
        <p:spPr>
          <a:xfrm>
            <a:off x="6675120" y="4178808"/>
            <a:ext cx="5212080" cy="438912"/>
          </a:xfrm>
          <a:prstGeom prst="rect">
            <a:avLst/>
          </a:prstGeom>
          <a:solidFill>
            <a:srgbClr val="EBF5FF"/>
          </a:solidFill>
          <a:ln/>
        </p:spPr>
      </p:sp>
      <p:sp>
        <p:nvSpPr>
          <p:cNvPr id="42" name="Text 40"/>
          <p:cNvSpPr/>
          <p:nvPr/>
        </p:nvSpPr>
        <p:spPr>
          <a:xfrm>
            <a:off x="6720840" y="4187952"/>
            <a:ext cx="5166360" cy="429768"/>
          </a:xfrm>
          <a:prstGeom prst="rect">
            <a:avLst/>
          </a:prstGeom>
          <a:noFill/>
          <a:ln/>
        </p:spPr>
        <p:txBody>
          <a:bodyPr wrap="square" lIns="0" tIns="0" rIns="0" bIns="0" rtlCol="0" anchor="ctr"/>
          <a:lstStyle/>
          <a:p>
            <a:pPr indent="0" marL="0">
              <a:buNone/>
            </a:pPr>
            <a:r>
              <a:rPr lang="en-US" sz="850" dirty="0">
                <a:solidFill>
                  <a:srgbClr val="B5450B"/>
                </a:solidFill>
              </a:rPr>
              <a:t>MARCO: Fricker (2007): credibility discount — la víctima pierde credibilidad por razón de identidad. Galtung (1990): recategorizar civiles como combatientes es violencia cultural que legitima la directa. Doble anclaje teórico.</a:t>
            </a:r>
            <a:endParaRPr lang="en-US" sz="850" dirty="0"/>
          </a:p>
        </p:txBody>
      </p:sp>
      <p:sp>
        <p:nvSpPr>
          <p:cNvPr id="43" name="Shape 41"/>
          <p:cNvSpPr/>
          <p:nvPr/>
        </p:nvSpPr>
        <p:spPr>
          <a:xfrm>
            <a:off x="6675120" y="4636008"/>
            <a:ext cx="5212080" cy="457200"/>
          </a:xfrm>
          <a:prstGeom prst="rect">
            <a:avLst/>
          </a:prstGeom>
          <a:solidFill>
            <a:srgbClr val="F0F4FF"/>
          </a:solidFill>
          <a:ln/>
        </p:spPr>
      </p:sp>
      <p:sp>
        <p:nvSpPr>
          <p:cNvPr id="44" name="Text 42"/>
          <p:cNvSpPr/>
          <p:nvPr/>
        </p:nvSpPr>
        <p:spPr>
          <a:xfrm>
            <a:off x="6720840" y="4645152"/>
            <a:ext cx="5166360" cy="448056"/>
          </a:xfrm>
          <a:prstGeom prst="rect">
            <a:avLst/>
          </a:prstGeom>
          <a:noFill/>
          <a:ln/>
        </p:spPr>
        <p:txBody>
          <a:bodyPr wrap="square" lIns="0" tIns="0" rIns="0" bIns="0" rtlCol="0" anchor="ctr"/>
          <a:lstStyle/>
          <a:p>
            <a:pPr indent="0" marL="0">
              <a:buNone/>
            </a:pPr>
            <a:r>
              <a:rPr lang="en-US" sz="850" dirty="0">
                <a:solidFill>
                  <a:srgbClr val="4B0082"/>
                </a:solidFill>
                <a:latin typeface="Consolas" pitchFamily="34" charset="0"/>
                <a:ea typeface="Consolas" pitchFamily="34" charset="-122"/>
                <a:cs typeface="Consolas" pitchFamily="34" charset="-120"/>
              </a:rPr>
              <a:t>FÓRMULA: NV(d) = CFH-BERT(d)[NV_logit] → sigmoid. Subtipos: n_recategorización + n_descalificación + n_deshumanización + n_cuestionamiento</a:t>
            </a:r>
            <a:endParaRPr lang="en-US" sz="850" dirty="0"/>
          </a:p>
        </p:txBody>
      </p:sp>
      <p:sp>
        <p:nvSpPr>
          <p:cNvPr id="45" name="Text 43"/>
          <p:cNvSpPr/>
          <p:nvPr/>
        </p:nvSpPr>
        <p:spPr>
          <a:xfrm>
            <a:off x="6675120" y="5129784"/>
            <a:ext cx="5212080" cy="457200"/>
          </a:xfrm>
          <a:prstGeom prst="rect">
            <a:avLst/>
          </a:prstGeom>
          <a:noFill/>
          <a:ln/>
        </p:spPr>
        <p:txBody>
          <a:bodyPr wrap="square" lIns="0" tIns="0" rIns="0" bIns="0" rtlCol="0" anchor="ctr"/>
          <a:lstStyle/>
          <a:p>
            <a:pPr indent="0" marL="0">
              <a:buNone/>
            </a:pPr>
            <a:r>
              <a:rPr lang="en-US" sz="850" dirty="0">
                <a:solidFill>
                  <a:srgbClr val="6B7280"/>
                </a:solidFill>
              </a:rPr>
              <a:t>MÉTODO: CFH-BERT v2 multiclass IO. Weighted loss w_NV=3.5 (mayor desbalance). F1_NV_v2=0.61.</a:t>
            </a:r>
            <a:endParaRPr lang="en-US" sz="850" dirty="0"/>
          </a:p>
        </p:txBody>
      </p:sp>
      <p:sp>
        <p:nvSpPr>
          <p:cNvPr id="46" name="Shape 44"/>
          <p:cNvSpPr/>
          <p:nvPr/>
        </p:nvSpPr>
        <p:spPr>
          <a:xfrm>
            <a:off x="6675120" y="5605272"/>
            <a:ext cx="5212080" cy="502920"/>
          </a:xfrm>
          <a:prstGeom prst="rect">
            <a:avLst/>
          </a:prstGeom>
          <a:solidFill>
            <a:srgbClr val="E2F0E8"/>
          </a:solidFill>
          <a:ln/>
        </p:spPr>
      </p:sp>
      <p:sp>
        <p:nvSpPr>
          <p:cNvPr id="47" name="Text 45"/>
          <p:cNvSpPr/>
          <p:nvPr/>
        </p:nvSpPr>
        <p:spPr>
          <a:xfrm>
            <a:off x="6720840" y="5623560"/>
            <a:ext cx="5166360" cy="484632"/>
          </a:xfrm>
          <a:prstGeom prst="rect">
            <a:avLst/>
          </a:prstGeom>
          <a:noFill/>
          <a:ln/>
        </p:spPr>
        <p:txBody>
          <a:bodyPr wrap="square" lIns="0" tIns="0" rIns="0" bIns="0" rtlCol="0" anchor="ctr"/>
          <a:lstStyle/>
          <a:p>
            <a:pPr indent="0" marL="0">
              <a:buNone/>
            </a:pPr>
            <a:r>
              <a:rPr lang="en-US" sz="850" dirty="0">
                <a:solidFill>
                  <a:srgbClr val="217346"/>
                </a:solidFill>
              </a:rPr>
              <a:t>RESULTADO: A=0.412 vs B=0.289 · p&lt;0.001*** · Δ=0.123. Costa Caribe y₄=0.385 (2° más alto corpus C).</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6B3FA0"/>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Capa 2 — Indicadores Semánticos y₇–y₁₁ | Marco: Fricker (IEI) · Fraser (Reconocimiento)</a:t>
            </a:r>
            <a:endParaRPr lang="en-US" sz="1700" dirty="0"/>
          </a:p>
        </p:txBody>
      </p:sp>
      <p:sp>
        <p:nvSpPr>
          <p:cNvPr id="4" name="Shape 2"/>
          <p:cNvSpPr/>
          <p:nvPr/>
        </p:nvSpPr>
        <p:spPr>
          <a:xfrm>
            <a:off x="182880" y="91440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182880" y="914400"/>
            <a:ext cx="457200" cy="2697480"/>
          </a:xfrm>
          <a:prstGeom prst="rect">
            <a:avLst/>
          </a:prstGeom>
          <a:solidFill>
            <a:srgbClr val="C00000"/>
          </a:solidFill>
          <a:ln/>
        </p:spPr>
      </p:sp>
      <p:sp>
        <p:nvSpPr>
          <p:cNvPr id="6" name="Text 4"/>
          <p:cNvSpPr/>
          <p:nvPr/>
        </p:nvSpPr>
        <p:spPr>
          <a:xfrm>
            <a:off x="182880" y="1005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y₇</a:t>
            </a:r>
            <a:endParaRPr lang="en-US" sz="1200" dirty="0"/>
          </a:p>
        </p:txBody>
      </p:sp>
      <p:sp>
        <p:nvSpPr>
          <p:cNvPr id="7" name="Text 5"/>
          <p:cNvSpPr/>
          <p:nvPr/>
        </p:nvSpPr>
        <p:spPr>
          <a:xfrm>
            <a:off x="685800" y="960120"/>
            <a:ext cx="5212080" cy="320040"/>
          </a:xfrm>
          <a:prstGeom prst="rect">
            <a:avLst/>
          </a:prstGeom>
          <a:noFill/>
          <a:ln/>
        </p:spPr>
        <p:txBody>
          <a:bodyPr wrap="square" lIns="0" tIns="0" rIns="0" bIns="0" rtlCol="0" anchor="ctr"/>
          <a:lstStyle/>
          <a:p>
            <a:pPr indent="0" marL="0">
              <a:buNone/>
            </a:pPr>
            <a:r>
              <a:rPr lang="en-US" sz="1100" b="1" dirty="0">
                <a:solidFill>
                  <a:srgbClr val="1F4E79"/>
                </a:solidFill>
              </a:rPr>
              <a:t>Surprisal — Infrecuencia Léxica Contextual</a:t>
            </a:r>
            <a:endParaRPr lang="en-US" sz="1100" dirty="0"/>
          </a:p>
        </p:txBody>
      </p:sp>
      <p:sp>
        <p:nvSpPr>
          <p:cNvPr id="8" name="Shape 6"/>
          <p:cNvSpPr/>
          <p:nvPr/>
        </p:nvSpPr>
        <p:spPr>
          <a:xfrm>
            <a:off x="685800" y="1298448"/>
            <a:ext cx="5212080" cy="438912"/>
          </a:xfrm>
          <a:prstGeom prst="rect">
            <a:avLst/>
          </a:prstGeom>
          <a:solidFill>
            <a:srgbClr val="FFF4EE"/>
          </a:solidFill>
          <a:ln/>
        </p:spPr>
      </p:sp>
      <p:sp>
        <p:nvSpPr>
          <p:cNvPr id="9" name="Text 7"/>
          <p:cNvSpPr/>
          <p:nvPr/>
        </p:nvSpPr>
        <p:spPr>
          <a:xfrm>
            <a:off x="731520" y="1307592"/>
            <a:ext cx="5166360" cy="429768"/>
          </a:xfrm>
          <a:prstGeom prst="rect">
            <a:avLst/>
          </a:prstGeom>
          <a:noFill/>
          <a:ln/>
        </p:spPr>
        <p:txBody>
          <a:bodyPr wrap="square" lIns="0" tIns="0" rIns="0" bIns="0" rtlCol="0" anchor="ctr"/>
          <a:lstStyle/>
          <a:p>
            <a:pPr indent="0" marL="0">
              <a:buNone/>
            </a:pPr>
            <a:r>
              <a:rPr lang="en-US" sz="850" dirty="0">
                <a:solidFill>
                  <a:srgbClr val="6B3FA0"/>
                </a:solidFill>
              </a:rPr>
              <a:t>MARCO: Habermas (1981): violación de la pretensión de verdad proposicional. El vocabulario eufemístico ('resultado operacional') tiene surprisal alto en un contexto de DDHH — señal de distorsión comunicativa.</a:t>
            </a:r>
            <a:endParaRPr lang="en-US" sz="850" dirty="0"/>
          </a:p>
        </p:txBody>
      </p:sp>
      <p:sp>
        <p:nvSpPr>
          <p:cNvPr id="10" name="Shape 8"/>
          <p:cNvSpPr/>
          <p:nvPr/>
        </p:nvSpPr>
        <p:spPr>
          <a:xfrm>
            <a:off x="685800" y="1755648"/>
            <a:ext cx="5212080" cy="457200"/>
          </a:xfrm>
          <a:prstGeom prst="rect">
            <a:avLst/>
          </a:prstGeom>
          <a:solidFill>
            <a:srgbClr val="F0F4FF"/>
          </a:solidFill>
          <a:ln/>
        </p:spPr>
      </p:sp>
      <p:sp>
        <p:nvSpPr>
          <p:cNvPr id="11" name="Text 9"/>
          <p:cNvSpPr/>
          <p:nvPr/>
        </p:nvSpPr>
        <p:spPr>
          <a:xfrm>
            <a:off x="731520" y="1764792"/>
            <a:ext cx="5166360" cy="448056"/>
          </a:xfrm>
          <a:prstGeom prst="rect">
            <a:avLst/>
          </a:prstGeom>
          <a:noFill/>
          <a:ln/>
        </p:spPr>
        <p:txBody>
          <a:bodyPr wrap="square" lIns="0" tIns="0" rIns="0" bIns="0" rtlCol="0" anchor="ctr"/>
          <a:lstStyle/>
          <a:p>
            <a:pPr indent="0" marL="0">
              <a:buNone/>
            </a:pPr>
            <a:r>
              <a:rPr lang="en-US" sz="850" dirty="0">
                <a:solidFill>
                  <a:srgbClr val="4B0082"/>
                </a:solidFill>
                <a:latin typeface="Consolas" pitchFamily="34" charset="0"/>
                <a:ea typeface="Consolas" pitchFamily="34" charset="-122"/>
                <a:cs typeface="Consolas" pitchFamily="34" charset="-120"/>
              </a:rPr>
              <a:t>FÓRMULA: y₇(t) = −log₂ P(t | contexto)   P estimado por BETO encoder bidireccional sobre corpus CFH</a:t>
            </a:r>
            <a:endParaRPr lang="en-US" sz="850" dirty="0"/>
          </a:p>
        </p:txBody>
      </p:sp>
      <p:sp>
        <p:nvSpPr>
          <p:cNvPr id="12" name="Text 10"/>
          <p:cNvSpPr/>
          <p:nvPr/>
        </p:nvSpPr>
        <p:spPr>
          <a:xfrm>
            <a:off x="685800" y="2249424"/>
            <a:ext cx="5212080" cy="457200"/>
          </a:xfrm>
          <a:prstGeom prst="rect">
            <a:avLst/>
          </a:prstGeom>
          <a:noFill/>
          <a:ln/>
        </p:spPr>
        <p:txBody>
          <a:bodyPr wrap="square" lIns="0" tIns="0" rIns="0" bIns="0" rtlCol="0" anchor="ctr"/>
          <a:lstStyle/>
          <a:p>
            <a:pPr indent="0" marL="0">
              <a:buNone/>
            </a:pPr>
            <a:r>
              <a:rPr lang="en-US" sz="850" dirty="0">
                <a:solidFill>
                  <a:srgbClr val="6B7280"/>
                </a:solidFill>
              </a:rPr>
              <a:t>MÉTODO: BETO (Cañete et al. 2020) — encoder puro. P(t|ctx_izq AND ctx_der). No sustituible por decoder generativo.</a:t>
            </a:r>
            <a:endParaRPr lang="en-US" sz="850" dirty="0"/>
          </a:p>
        </p:txBody>
      </p:sp>
      <p:sp>
        <p:nvSpPr>
          <p:cNvPr id="13" name="Shape 11"/>
          <p:cNvSpPr/>
          <p:nvPr/>
        </p:nvSpPr>
        <p:spPr>
          <a:xfrm>
            <a:off x="685800" y="2724912"/>
            <a:ext cx="5212080" cy="502920"/>
          </a:xfrm>
          <a:prstGeom prst="rect">
            <a:avLst/>
          </a:prstGeom>
          <a:solidFill>
            <a:srgbClr val="FCE4D6"/>
          </a:solidFill>
          <a:ln/>
        </p:spPr>
      </p:sp>
      <p:sp>
        <p:nvSpPr>
          <p:cNvPr id="14" name="Text 12"/>
          <p:cNvSpPr/>
          <p:nvPr/>
        </p:nvSpPr>
        <p:spPr>
          <a:xfrm>
            <a:off x="731520" y="2743200"/>
            <a:ext cx="5166360" cy="484632"/>
          </a:xfrm>
          <a:prstGeom prst="rect">
            <a:avLst/>
          </a:prstGeom>
          <a:noFill/>
          <a:ln/>
        </p:spPr>
        <p:txBody>
          <a:bodyPr wrap="square" lIns="0" tIns="0" rIns="0" bIns="0" rtlCol="0" anchor="ctr"/>
          <a:lstStyle/>
          <a:p>
            <a:pPr indent="0" marL="0">
              <a:buNone/>
            </a:pPr>
            <a:r>
              <a:rPr lang="en-US" sz="850" dirty="0">
                <a:solidFill>
                  <a:srgbClr val="C00000"/>
                </a:solidFill>
              </a:rPr>
              <a:t>RESULTADO: PENDIENTE — requiere CFH-BERT v3. Solo encoder bidireccional produce log-P auditables para análisis forense.</a:t>
            </a:r>
            <a:endParaRPr lang="en-US" sz="850" dirty="0"/>
          </a:p>
        </p:txBody>
      </p:sp>
      <p:sp>
        <p:nvSpPr>
          <p:cNvPr id="15" name="Shape 13"/>
          <p:cNvSpPr/>
          <p:nvPr/>
        </p:nvSpPr>
        <p:spPr>
          <a:xfrm>
            <a:off x="6172200" y="91440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6172200" y="914400"/>
            <a:ext cx="457200" cy="2697480"/>
          </a:xfrm>
          <a:prstGeom prst="rect">
            <a:avLst/>
          </a:prstGeom>
          <a:solidFill>
            <a:srgbClr val="6B3FA0"/>
          </a:solidFill>
          <a:ln/>
        </p:spPr>
      </p:sp>
      <p:sp>
        <p:nvSpPr>
          <p:cNvPr id="17" name="Text 15"/>
          <p:cNvSpPr/>
          <p:nvPr/>
        </p:nvSpPr>
        <p:spPr>
          <a:xfrm>
            <a:off x="6172200" y="1005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y₈</a:t>
            </a:r>
            <a:endParaRPr lang="en-US" sz="1200" dirty="0"/>
          </a:p>
        </p:txBody>
      </p:sp>
      <p:sp>
        <p:nvSpPr>
          <p:cNvPr id="18" name="Text 16"/>
          <p:cNvSpPr/>
          <p:nvPr/>
        </p:nvSpPr>
        <p:spPr>
          <a:xfrm>
            <a:off x="6675120" y="960120"/>
            <a:ext cx="5212080" cy="320040"/>
          </a:xfrm>
          <a:prstGeom prst="rect">
            <a:avLst/>
          </a:prstGeom>
          <a:noFill/>
          <a:ln/>
        </p:spPr>
        <p:txBody>
          <a:bodyPr wrap="square" lIns="0" tIns="0" rIns="0" bIns="0" rtlCol="0" anchor="ctr"/>
          <a:lstStyle/>
          <a:p>
            <a:pPr indent="0" marL="0">
              <a:buNone/>
            </a:pPr>
            <a:r>
              <a:rPr lang="en-US" sz="1100" b="1" dirty="0">
                <a:solidFill>
                  <a:srgbClr val="1F4E79"/>
                </a:solidFill>
              </a:rPr>
              <a:t>Dist. MAFAPO — Brecha Semántica con Víctimas</a:t>
            </a:r>
            <a:endParaRPr lang="en-US" sz="1100" dirty="0"/>
          </a:p>
        </p:txBody>
      </p:sp>
      <p:sp>
        <p:nvSpPr>
          <p:cNvPr id="19" name="Shape 17"/>
          <p:cNvSpPr/>
          <p:nvPr/>
        </p:nvSpPr>
        <p:spPr>
          <a:xfrm>
            <a:off x="6675120" y="1298448"/>
            <a:ext cx="5212080" cy="438912"/>
          </a:xfrm>
          <a:prstGeom prst="rect">
            <a:avLst/>
          </a:prstGeom>
          <a:solidFill>
            <a:srgbClr val="F5EEFF"/>
          </a:solidFill>
          <a:ln/>
        </p:spPr>
      </p:sp>
      <p:sp>
        <p:nvSpPr>
          <p:cNvPr id="20" name="Text 18"/>
          <p:cNvSpPr/>
          <p:nvPr/>
        </p:nvSpPr>
        <p:spPr>
          <a:xfrm>
            <a:off x="6720840" y="1307592"/>
            <a:ext cx="5166360" cy="429768"/>
          </a:xfrm>
          <a:prstGeom prst="rect">
            <a:avLst/>
          </a:prstGeom>
          <a:noFill/>
          <a:ln/>
        </p:spPr>
        <p:txBody>
          <a:bodyPr wrap="square" lIns="0" tIns="0" rIns="0" bIns="0" rtlCol="0" anchor="ctr"/>
          <a:lstStyle/>
          <a:p>
            <a:pPr indent="0" marL="0">
              <a:buNone/>
            </a:pPr>
            <a:r>
              <a:rPr lang="en-US" sz="850" dirty="0">
                <a:solidFill>
                  <a:srgbClr val="6B3FA0"/>
                </a:solidFill>
              </a:rPr>
              <a:t>MARCO: Fricker (2007): hermeneutical gap — la brecha entre los recursos hermenéuticos de la víctima y los del marco institucional. La distancia al léxico de MAFAPO mide esa brecha computacionalmente.</a:t>
            </a:r>
            <a:endParaRPr lang="en-US" sz="850" dirty="0"/>
          </a:p>
        </p:txBody>
      </p:sp>
      <p:sp>
        <p:nvSpPr>
          <p:cNvPr id="21" name="Shape 19"/>
          <p:cNvSpPr/>
          <p:nvPr/>
        </p:nvSpPr>
        <p:spPr>
          <a:xfrm>
            <a:off x="6675120" y="1755648"/>
            <a:ext cx="5212080" cy="457200"/>
          </a:xfrm>
          <a:prstGeom prst="rect">
            <a:avLst/>
          </a:prstGeom>
          <a:solidFill>
            <a:srgbClr val="F0F4FF"/>
          </a:solidFill>
          <a:ln/>
        </p:spPr>
      </p:sp>
      <p:sp>
        <p:nvSpPr>
          <p:cNvPr id="22" name="Text 20"/>
          <p:cNvSpPr/>
          <p:nvPr/>
        </p:nvSpPr>
        <p:spPr>
          <a:xfrm>
            <a:off x="6720840" y="1764792"/>
            <a:ext cx="5166360" cy="448056"/>
          </a:xfrm>
          <a:prstGeom prst="rect">
            <a:avLst/>
          </a:prstGeom>
          <a:noFill/>
          <a:ln/>
        </p:spPr>
        <p:txBody>
          <a:bodyPr wrap="square" lIns="0" tIns="0" rIns="0" bIns="0" rtlCol="0" anchor="ctr"/>
          <a:lstStyle/>
          <a:p>
            <a:pPr indent="0" marL="0">
              <a:buNone/>
            </a:pPr>
            <a:r>
              <a:rPr lang="en-US" sz="850" dirty="0">
                <a:solidFill>
                  <a:srgbClr val="4B0082"/>
                </a:solidFill>
                <a:latin typeface="Consolas" pitchFamily="34" charset="0"/>
                <a:ea typeface="Consolas" pitchFamily="34" charset="-122"/>
                <a:cs typeface="Consolas" pitchFamily="34" charset="-120"/>
              </a:rPr>
              <a:t>FÓRMULA: y₈(d) = 1 − cos(emb_CBS(d), c_MAFAPO)   c_MAFAPO = mean(emb_CBS(t₁…t₂₅ MAFAPO))</a:t>
            </a:r>
            <a:endParaRPr lang="en-US" sz="850" dirty="0"/>
          </a:p>
        </p:txBody>
      </p:sp>
      <p:sp>
        <p:nvSpPr>
          <p:cNvPr id="23" name="Text 21"/>
          <p:cNvSpPr/>
          <p:nvPr/>
        </p:nvSpPr>
        <p:spPr>
          <a:xfrm>
            <a:off x="6675120" y="2249424"/>
            <a:ext cx="5212080" cy="457200"/>
          </a:xfrm>
          <a:prstGeom prst="rect">
            <a:avLst/>
          </a:prstGeom>
          <a:noFill/>
          <a:ln/>
        </p:spPr>
        <p:txBody>
          <a:bodyPr wrap="square" lIns="0" tIns="0" rIns="0" bIns="0" rtlCol="0" anchor="ctr"/>
          <a:lstStyle/>
          <a:p>
            <a:pPr indent="0" marL="0">
              <a:buNone/>
            </a:pPr>
            <a:r>
              <a:rPr lang="en-US" sz="850" dirty="0">
                <a:solidFill>
                  <a:srgbClr val="6B7280"/>
                </a:solidFill>
              </a:rPr>
              <a:t>MÉTODO: ConfliBERT-Spanish-Beto-Cased-v1 (Yang 2023). Centroide: 25 textos reales informe MAFAPO 2021. Norma=14.862.</a:t>
            </a:r>
            <a:endParaRPr lang="en-US" sz="850" dirty="0"/>
          </a:p>
        </p:txBody>
      </p:sp>
      <p:sp>
        <p:nvSpPr>
          <p:cNvPr id="24" name="Shape 22"/>
          <p:cNvSpPr/>
          <p:nvPr/>
        </p:nvSpPr>
        <p:spPr>
          <a:xfrm>
            <a:off x="6675120" y="2724912"/>
            <a:ext cx="5212080" cy="502920"/>
          </a:xfrm>
          <a:prstGeom prst="rect">
            <a:avLst/>
          </a:prstGeom>
          <a:solidFill>
            <a:srgbClr val="E2F0E8"/>
          </a:solidFill>
          <a:ln/>
        </p:spPr>
      </p:sp>
      <p:sp>
        <p:nvSpPr>
          <p:cNvPr id="25" name="Text 23"/>
          <p:cNvSpPr/>
          <p:nvPr/>
        </p:nvSpPr>
        <p:spPr>
          <a:xfrm>
            <a:off x="6720840" y="2743200"/>
            <a:ext cx="5166360" cy="484632"/>
          </a:xfrm>
          <a:prstGeom prst="rect">
            <a:avLst/>
          </a:prstGeom>
          <a:noFill/>
          <a:ln/>
        </p:spPr>
        <p:txBody>
          <a:bodyPr wrap="square" lIns="0" tIns="0" rIns="0" bIns="0" rtlCol="0" anchor="ctr"/>
          <a:lstStyle/>
          <a:p>
            <a:pPr indent="0" marL="0">
              <a:buNone/>
            </a:pPr>
            <a:r>
              <a:rPr lang="en-US" sz="850" dirty="0">
                <a:solidFill>
                  <a:srgbClr val="217346"/>
                </a:solidFill>
              </a:rPr>
              <a:t>RESULTADO: A=0.287 vs B=0.213 · p&lt;0.001*** · Δ=0.074. Catatumbo y₈=0.207 (máx). Huila=0.186 (mín).</a:t>
            </a:r>
            <a:endParaRPr lang="en-US" sz="850" dirty="0"/>
          </a:p>
        </p:txBody>
      </p:sp>
      <p:sp>
        <p:nvSpPr>
          <p:cNvPr id="26" name="Shape 24"/>
          <p:cNvSpPr/>
          <p:nvPr/>
        </p:nvSpPr>
        <p:spPr>
          <a:xfrm>
            <a:off x="182880" y="379476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7" name="Shape 25"/>
          <p:cNvSpPr/>
          <p:nvPr/>
        </p:nvSpPr>
        <p:spPr>
          <a:xfrm>
            <a:off x="182880" y="3794760"/>
            <a:ext cx="457200" cy="2697480"/>
          </a:xfrm>
          <a:prstGeom prst="rect">
            <a:avLst/>
          </a:prstGeom>
          <a:solidFill>
            <a:srgbClr val="6B3FA0"/>
          </a:solidFill>
          <a:ln/>
        </p:spPr>
      </p:sp>
      <p:sp>
        <p:nvSpPr>
          <p:cNvPr id="28" name="Text 26"/>
          <p:cNvSpPr/>
          <p:nvPr/>
        </p:nvSpPr>
        <p:spPr>
          <a:xfrm>
            <a:off x="18288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y₉</a:t>
            </a:r>
            <a:endParaRPr lang="en-US" sz="1200" dirty="0"/>
          </a:p>
        </p:txBody>
      </p:sp>
      <p:sp>
        <p:nvSpPr>
          <p:cNvPr id="29" name="Text 27"/>
          <p:cNvSpPr/>
          <p:nvPr/>
        </p:nvSpPr>
        <p:spPr>
          <a:xfrm>
            <a:off x="685800" y="3840480"/>
            <a:ext cx="5212080" cy="320040"/>
          </a:xfrm>
          <a:prstGeom prst="rect">
            <a:avLst/>
          </a:prstGeom>
          <a:noFill/>
          <a:ln/>
        </p:spPr>
        <p:txBody>
          <a:bodyPr wrap="square" lIns="0" tIns="0" rIns="0" bIns="0" rtlCol="0" anchor="ctr"/>
          <a:lstStyle/>
          <a:p>
            <a:pPr indent="0" marL="0">
              <a:buNone/>
            </a:pPr>
            <a:r>
              <a:rPr lang="en-US" sz="1100" b="1" dirty="0">
                <a:solidFill>
                  <a:srgbClr val="1F4E79"/>
                </a:solidFill>
              </a:rPr>
              <a:t>Dist. CIDH — Brecha con Estándares DDHH</a:t>
            </a:r>
            <a:endParaRPr lang="en-US" sz="1100" dirty="0"/>
          </a:p>
        </p:txBody>
      </p:sp>
      <p:sp>
        <p:nvSpPr>
          <p:cNvPr id="30" name="Shape 28"/>
          <p:cNvSpPr/>
          <p:nvPr/>
        </p:nvSpPr>
        <p:spPr>
          <a:xfrm>
            <a:off x="685800" y="4178808"/>
            <a:ext cx="5212080" cy="438912"/>
          </a:xfrm>
          <a:prstGeom prst="rect">
            <a:avLst/>
          </a:prstGeom>
          <a:solidFill>
            <a:srgbClr val="F5EEFF"/>
          </a:solidFill>
          <a:ln/>
        </p:spPr>
      </p:sp>
      <p:sp>
        <p:nvSpPr>
          <p:cNvPr id="31" name="Text 29"/>
          <p:cNvSpPr/>
          <p:nvPr/>
        </p:nvSpPr>
        <p:spPr>
          <a:xfrm>
            <a:off x="731520" y="4187952"/>
            <a:ext cx="5166360" cy="429768"/>
          </a:xfrm>
          <a:prstGeom prst="rect">
            <a:avLst/>
          </a:prstGeom>
          <a:noFill/>
          <a:ln/>
        </p:spPr>
        <p:txBody>
          <a:bodyPr wrap="square" lIns="0" tIns="0" rIns="0" bIns="0" rtlCol="0" anchor="ctr"/>
          <a:lstStyle/>
          <a:p>
            <a:pPr indent="0" marL="0">
              <a:buNone/>
            </a:pPr>
            <a:r>
              <a:rPr lang="en-US" sz="850" dirty="0">
                <a:solidFill>
                  <a:srgbClr val="6B3FA0"/>
                </a:solidFill>
              </a:rPr>
              <a:t>MARCO: Fraser (2008): el reconocimiento requiere marcos normativos compartidos. La distancia al léxico CIDH mide la exclusión del marco normativo internacional — injusticia epistémica institucional.</a:t>
            </a:r>
            <a:endParaRPr lang="en-US" sz="850" dirty="0"/>
          </a:p>
        </p:txBody>
      </p:sp>
      <p:sp>
        <p:nvSpPr>
          <p:cNvPr id="32" name="Shape 30"/>
          <p:cNvSpPr/>
          <p:nvPr/>
        </p:nvSpPr>
        <p:spPr>
          <a:xfrm>
            <a:off x="685800" y="4636008"/>
            <a:ext cx="5212080" cy="457200"/>
          </a:xfrm>
          <a:prstGeom prst="rect">
            <a:avLst/>
          </a:prstGeom>
          <a:solidFill>
            <a:srgbClr val="F0F4FF"/>
          </a:solidFill>
          <a:ln/>
        </p:spPr>
      </p:sp>
      <p:sp>
        <p:nvSpPr>
          <p:cNvPr id="33" name="Text 31"/>
          <p:cNvSpPr/>
          <p:nvPr/>
        </p:nvSpPr>
        <p:spPr>
          <a:xfrm>
            <a:off x="731520" y="4645152"/>
            <a:ext cx="5166360" cy="448056"/>
          </a:xfrm>
          <a:prstGeom prst="rect">
            <a:avLst/>
          </a:prstGeom>
          <a:noFill/>
          <a:ln/>
        </p:spPr>
        <p:txBody>
          <a:bodyPr wrap="square" lIns="0" tIns="0" rIns="0" bIns="0" rtlCol="0" anchor="ctr"/>
          <a:lstStyle/>
          <a:p>
            <a:pPr indent="0" marL="0">
              <a:buNone/>
            </a:pPr>
            <a:r>
              <a:rPr lang="en-US" sz="850" dirty="0">
                <a:solidFill>
                  <a:srgbClr val="4B0082"/>
                </a:solidFill>
                <a:latin typeface="Consolas" pitchFamily="34" charset="0"/>
                <a:ea typeface="Consolas" pitchFamily="34" charset="-122"/>
                <a:cs typeface="Consolas" pitchFamily="34" charset="-120"/>
              </a:rPr>
              <a:t>FÓRMULA: y₉(d) = 1 − cos(emb_CBS(d), c_CIDH)   c_CIDH = mean(emb_CBS(t₁…t₂₅ Villamizar Durán))</a:t>
            </a:r>
            <a:endParaRPr lang="en-US" sz="850" dirty="0"/>
          </a:p>
        </p:txBody>
      </p:sp>
      <p:sp>
        <p:nvSpPr>
          <p:cNvPr id="34" name="Text 32"/>
          <p:cNvSpPr/>
          <p:nvPr/>
        </p:nvSpPr>
        <p:spPr>
          <a:xfrm>
            <a:off x="685800" y="5129784"/>
            <a:ext cx="5212080" cy="457200"/>
          </a:xfrm>
          <a:prstGeom prst="rect">
            <a:avLst/>
          </a:prstGeom>
          <a:noFill/>
          <a:ln/>
        </p:spPr>
        <p:txBody>
          <a:bodyPr wrap="square" lIns="0" tIns="0" rIns="0" bIns="0" rtlCol="0" anchor="ctr"/>
          <a:lstStyle/>
          <a:p>
            <a:pPr indent="0" marL="0">
              <a:buNone/>
            </a:pPr>
            <a:r>
              <a:rPr lang="en-US" sz="850" dirty="0">
                <a:solidFill>
                  <a:srgbClr val="6B7280"/>
                </a:solidFill>
              </a:rPr>
              <a:t>MÉTODO: Centroide CIDH: 25 textos Corte IDH (Villamizar Durán vs. Colombia, 2018). ConfliBERT-Spanish. Norma=15.188.</a:t>
            </a:r>
            <a:endParaRPr lang="en-US" sz="850" dirty="0"/>
          </a:p>
        </p:txBody>
      </p:sp>
      <p:sp>
        <p:nvSpPr>
          <p:cNvPr id="35" name="Shape 33"/>
          <p:cNvSpPr/>
          <p:nvPr/>
        </p:nvSpPr>
        <p:spPr>
          <a:xfrm>
            <a:off x="685800" y="5605272"/>
            <a:ext cx="5212080" cy="502920"/>
          </a:xfrm>
          <a:prstGeom prst="rect">
            <a:avLst/>
          </a:prstGeom>
          <a:solidFill>
            <a:srgbClr val="E2F0E8"/>
          </a:solidFill>
          <a:ln/>
        </p:spPr>
      </p:sp>
      <p:sp>
        <p:nvSpPr>
          <p:cNvPr id="36" name="Text 34"/>
          <p:cNvSpPr/>
          <p:nvPr/>
        </p:nvSpPr>
        <p:spPr>
          <a:xfrm>
            <a:off x="731520" y="5623560"/>
            <a:ext cx="5166360" cy="484632"/>
          </a:xfrm>
          <a:prstGeom prst="rect">
            <a:avLst/>
          </a:prstGeom>
          <a:noFill/>
          <a:ln/>
        </p:spPr>
        <p:txBody>
          <a:bodyPr wrap="square" lIns="0" tIns="0" rIns="0" bIns="0" rtlCol="0" anchor="ctr"/>
          <a:lstStyle/>
          <a:p>
            <a:pPr indent="0" marL="0">
              <a:buNone/>
            </a:pPr>
            <a:r>
              <a:rPr lang="en-US" sz="850" dirty="0">
                <a:solidFill>
                  <a:srgbClr val="217346"/>
                </a:solidFill>
              </a:rPr>
              <a:t>RESULTADO: A=0.342 vs B=0.268 · p&lt;0.001*** · Δ=0.074. Fuentes futuras: HumSet (OCHA) + OHCHR Index para domain adaptation.</a:t>
            </a:r>
            <a:endParaRPr lang="en-US" sz="850" dirty="0"/>
          </a:p>
        </p:txBody>
      </p:sp>
      <p:sp>
        <p:nvSpPr>
          <p:cNvPr id="37" name="Shape 35"/>
          <p:cNvSpPr/>
          <p:nvPr/>
        </p:nvSpPr>
        <p:spPr>
          <a:xfrm>
            <a:off x="6172200" y="3794760"/>
            <a:ext cx="5806440" cy="2697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8" name="Shape 36"/>
          <p:cNvSpPr/>
          <p:nvPr/>
        </p:nvSpPr>
        <p:spPr>
          <a:xfrm>
            <a:off x="6172200" y="3794760"/>
            <a:ext cx="457200" cy="2697480"/>
          </a:xfrm>
          <a:prstGeom prst="rect">
            <a:avLst/>
          </a:prstGeom>
          <a:solidFill>
            <a:srgbClr val="217346"/>
          </a:solidFill>
          <a:ln/>
        </p:spPr>
      </p:sp>
      <p:sp>
        <p:nvSpPr>
          <p:cNvPr id="39" name="Text 37"/>
          <p:cNvSpPr/>
          <p:nvPr/>
        </p:nvSpPr>
        <p:spPr>
          <a:xfrm>
            <a:off x="617220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y₁₀</a:t>
            </a:r>
            <a:endParaRPr lang="en-US" sz="1200" dirty="0"/>
          </a:p>
        </p:txBody>
      </p:sp>
      <p:sp>
        <p:nvSpPr>
          <p:cNvPr id="40" name="Text 38"/>
          <p:cNvSpPr/>
          <p:nvPr/>
        </p:nvSpPr>
        <p:spPr>
          <a:xfrm>
            <a:off x="6675120" y="3840480"/>
            <a:ext cx="5212080" cy="320040"/>
          </a:xfrm>
          <a:prstGeom prst="rect">
            <a:avLst/>
          </a:prstGeom>
          <a:noFill/>
          <a:ln/>
        </p:spPr>
        <p:txBody>
          <a:bodyPr wrap="square" lIns="0" tIns="0" rIns="0" bIns="0" rtlCol="0" anchor="ctr"/>
          <a:lstStyle/>
          <a:p>
            <a:pPr indent="0" marL="0">
              <a:buNone/>
            </a:pPr>
            <a:r>
              <a:rPr lang="en-US" sz="1100" b="1" dirty="0">
                <a:solidFill>
                  <a:srgbClr val="1F4E79"/>
                </a:solidFill>
              </a:rPr>
              <a:t>REP — Ruptura Epistémica Positiva</a:t>
            </a:r>
            <a:endParaRPr lang="en-US" sz="1100" dirty="0"/>
          </a:p>
        </p:txBody>
      </p:sp>
      <p:sp>
        <p:nvSpPr>
          <p:cNvPr id="41" name="Shape 39"/>
          <p:cNvSpPr/>
          <p:nvPr/>
        </p:nvSpPr>
        <p:spPr>
          <a:xfrm>
            <a:off x="6675120" y="4178808"/>
            <a:ext cx="5212080" cy="438912"/>
          </a:xfrm>
          <a:prstGeom prst="rect">
            <a:avLst/>
          </a:prstGeom>
          <a:solidFill>
            <a:srgbClr val="F5EEFF"/>
          </a:solidFill>
          <a:ln/>
        </p:spPr>
      </p:sp>
      <p:sp>
        <p:nvSpPr>
          <p:cNvPr id="42" name="Text 40"/>
          <p:cNvSpPr/>
          <p:nvPr/>
        </p:nvSpPr>
        <p:spPr>
          <a:xfrm>
            <a:off x="6720840" y="4187952"/>
            <a:ext cx="5166360" cy="429768"/>
          </a:xfrm>
          <a:prstGeom prst="rect">
            <a:avLst/>
          </a:prstGeom>
          <a:noFill/>
          <a:ln/>
        </p:spPr>
        <p:txBody>
          <a:bodyPr wrap="square" lIns="0" tIns="0" rIns="0" bIns="0" rtlCol="0" anchor="ctr"/>
          <a:lstStyle/>
          <a:p>
            <a:pPr indent="0" marL="0">
              <a:buNone/>
            </a:pPr>
            <a:r>
              <a:rPr lang="en-US" sz="850" dirty="0">
                <a:solidFill>
                  <a:srgbClr val="217346"/>
                </a:solidFill>
              </a:rPr>
              <a:t>MARCO: Fraser (2008): reconocimiento epistémico como dimensión de la justicia. REP mide la expansión de recursos hermenéuticos (Fricker) y el reconocimiento de la víctima como interlocutora válida (Fraser). Doble anclaje.</a:t>
            </a:r>
            <a:endParaRPr lang="en-US" sz="850" dirty="0"/>
          </a:p>
        </p:txBody>
      </p:sp>
      <p:sp>
        <p:nvSpPr>
          <p:cNvPr id="43" name="Shape 41"/>
          <p:cNvSpPr/>
          <p:nvPr/>
        </p:nvSpPr>
        <p:spPr>
          <a:xfrm>
            <a:off x="6675120" y="4636008"/>
            <a:ext cx="5212080" cy="457200"/>
          </a:xfrm>
          <a:prstGeom prst="rect">
            <a:avLst/>
          </a:prstGeom>
          <a:solidFill>
            <a:srgbClr val="F0F4FF"/>
          </a:solidFill>
          <a:ln/>
        </p:spPr>
      </p:sp>
      <p:sp>
        <p:nvSpPr>
          <p:cNvPr id="44" name="Text 42"/>
          <p:cNvSpPr/>
          <p:nvPr/>
        </p:nvSpPr>
        <p:spPr>
          <a:xfrm>
            <a:off x="6720840" y="4645152"/>
            <a:ext cx="5166360" cy="448056"/>
          </a:xfrm>
          <a:prstGeom prst="rect">
            <a:avLst/>
          </a:prstGeom>
          <a:noFill/>
          <a:ln/>
        </p:spPr>
        <p:txBody>
          <a:bodyPr wrap="square" lIns="0" tIns="0" rIns="0" bIns="0" rtlCol="0" anchor="ctr"/>
          <a:lstStyle/>
          <a:p>
            <a:pPr indent="0" marL="0">
              <a:buNone/>
            </a:pPr>
            <a:r>
              <a:rPr lang="en-US" sz="850" dirty="0">
                <a:solidFill>
                  <a:srgbClr val="4B0082"/>
                </a:solidFill>
                <a:latin typeface="Consolas" pitchFamily="34" charset="0"/>
                <a:ea typeface="Consolas" pitchFamily="34" charset="-122"/>
                <a:cs typeface="Consolas" pitchFamily="34" charset="-120"/>
              </a:rPr>
              <a:t>FÓRMULA: REP(d) = CFH-BERT(d)[REP_logit] → sigmoid. Subtipos: n_reconocimiento + n_reparación + n_restitución</a:t>
            </a:r>
            <a:endParaRPr lang="en-US" sz="850" dirty="0"/>
          </a:p>
        </p:txBody>
      </p:sp>
      <p:sp>
        <p:nvSpPr>
          <p:cNvPr id="45" name="Text 43"/>
          <p:cNvSpPr/>
          <p:nvPr/>
        </p:nvSpPr>
        <p:spPr>
          <a:xfrm>
            <a:off x="6675120" y="5129784"/>
            <a:ext cx="5212080" cy="457200"/>
          </a:xfrm>
          <a:prstGeom prst="rect">
            <a:avLst/>
          </a:prstGeom>
          <a:noFill/>
          <a:ln/>
        </p:spPr>
        <p:txBody>
          <a:bodyPr wrap="square" lIns="0" tIns="0" rIns="0" bIns="0" rtlCol="0" anchor="ctr"/>
          <a:lstStyle/>
          <a:p>
            <a:pPr indent="0" marL="0">
              <a:buNone/>
            </a:pPr>
            <a:r>
              <a:rPr lang="en-US" sz="850" dirty="0">
                <a:solidFill>
                  <a:srgbClr val="6B7280"/>
                </a:solidFill>
              </a:rPr>
              <a:t>MÉTODO: CFH-BERT v2 multiclass IO. Mismo extractor que y₁₀ en DIS. Aplicado también a nivel de segmento para ICM verbal.</a:t>
            </a:r>
            <a:endParaRPr lang="en-US" sz="850" dirty="0"/>
          </a:p>
        </p:txBody>
      </p:sp>
      <p:sp>
        <p:nvSpPr>
          <p:cNvPr id="46" name="Shape 44"/>
          <p:cNvSpPr/>
          <p:nvPr/>
        </p:nvSpPr>
        <p:spPr>
          <a:xfrm>
            <a:off x="6675120" y="5605272"/>
            <a:ext cx="5212080" cy="502920"/>
          </a:xfrm>
          <a:prstGeom prst="rect">
            <a:avLst/>
          </a:prstGeom>
          <a:solidFill>
            <a:srgbClr val="E2F0E8"/>
          </a:solidFill>
          <a:ln/>
        </p:spPr>
      </p:sp>
      <p:sp>
        <p:nvSpPr>
          <p:cNvPr id="47" name="Text 45"/>
          <p:cNvSpPr/>
          <p:nvPr/>
        </p:nvSpPr>
        <p:spPr>
          <a:xfrm>
            <a:off x="6720840" y="5623560"/>
            <a:ext cx="5166360" cy="484632"/>
          </a:xfrm>
          <a:prstGeom prst="rect">
            <a:avLst/>
          </a:prstGeom>
          <a:noFill/>
          <a:ln/>
        </p:spPr>
        <p:txBody>
          <a:bodyPr wrap="square" lIns="0" tIns="0" rIns="0" bIns="0" rtlCol="0" anchor="ctr"/>
          <a:lstStyle/>
          <a:p>
            <a:pPr indent="0" marL="0">
              <a:buNone/>
            </a:pPr>
            <a:r>
              <a:rPr lang="en-US" sz="850" dirty="0">
                <a:solidFill>
                  <a:srgbClr val="217346"/>
                </a:solidFill>
              </a:rPr>
              <a:t>RESULTADO: A=0.086 vs B=0.153 · p&lt;0.001*** · Δ=+0.067 → evidencia más robusta de H₃. Costa Caribe=0.132.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1F4E79"/>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DIS Score — Índice de Injusticia Discursiva (η₁) | Marco: Habermas + Galtung</a:t>
            </a:r>
            <a:endParaRPr lang="en-US" sz="1700" dirty="0"/>
          </a:p>
        </p:txBody>
      </p:sp>
      <p:sp>
        <p:nvSpPr>
          <p:cNvPr id="4" name="Shape 2"/>
          <p:cNvSpPr/>
          <p:nvPr/>
        </p:nvSpPr>
        <p:spPr>
          <a:xfrm>
            <a:off x="457200" y="914400"/>
            <a:ext cx="11247120" cy="1325880"/>
          </a:xfrm>
          <a:prstGeom prst="rect">
            <a:avLst/>
          </a:prstGeom>
          <a:solidFill>
            <a:srgbClr val="F0F4FF"/>
          </a:solidFill>
          <a:ln/>
          <a:effectLst>
            <a:outerShdw sx="100000" sy="100000" kx="0" ky="0" algn="bl" rotWithShape="0" blurRad="76200" dist="25400" dir="8100000">
              <a:srgbClr val="000000">
                <a:alpha val="12000"/>
              </a:srgbClr>
            </a:outerShdw>
          </a:effectLst>
        </p:spPr>
      </p:sp>
      <p:sp>
        <p:nvSpPr>
          <p:cNvPr id="5" name="Text 3"/>
          <p:cNvSpPr/>
          <p:nvPr/>
        </p:nvSpPr>
        <p:spPr>
          <a:xfrm>
            <a:off x="640080" y="960120"/>
            <a:ext cx="10972800" cy="548640"/>
          </a:xfrm>
          <a:prstGeom prst="rect">
            <a:avLst/>
          </a:prstGeom>
          <a:noFill/>
          <a:ln/>
        </p:spPr>
        <p:txBody>
          <a:bodyPr wrap="square" lIns="0" tIns="0" rIns="0" bIns="0" rtlCol="0" anchor="ctr"/>
          <a:lstStyle/>
          <a:p>
            <a:pPr algn="ctr" indent="0" marL="0">
              <a:buNone/>
            </a:pPr>
            <a:r>
              <a:rPr lang="en-US" sz="1800" b="1" dirty="0">
                <a:solidFill>
                  <a:srgbClr val="4B0082"/>
                </a:solidFill>
                <a:latin typeface="Consolas" pitchFamily="34" charset="0"/>
                <a:ea typeface="Consolas" pitchFamily="34" charset="-122"/>
                <a:cs typeface="Consolas" pitchFamily="34" charset="-120"/>
              </a:rPr>
              <a:t>η₁ = DIS(d) = 0.35 × y₂_norm + 0.35 × y₄_norm + 0.30 × (1 − y₁₀_norm)</a:t>
            </a:r>
            <a:endParaRPr lang="en-US" sz="1800" dirty="0"/>
          </a:p>
        </p:txBody>
      </p:sp>
      <p:sp>
        <p:nvSpPr>
          <p:cNvPr id="6" name="Text 4"/>
          <p:cNvSpPr/>
          <p:nvPr/>
        </p:nvSpPr>
        <p:spPr>
          <a:xfrm>
            <a:off x="640080" y="1536192"/>
            <a:ext cx="10972800" cy="256032"/>
          </a:xfrm>
          <a:prstGeom prst="rect">
            <a:avLst/>
          </a:prstGeom>
          <a:noFill/>
          <a:ln/>
        </p:spPr>
        <p:txBody>
          <a:bodyPr wrap="square" lIns="0" tIns="0" rIns="0" bIns="0" rtlCol="0" anchor="ctr"/>
          <a:lstStyle/>
          <a:p>
            <a:pPr algn="ctr" indent="0" marL="0">
              <a:buNone/>
            </a:pPr>
            <a:r>
              <a:rPr lang="en-US" sz="1000" dirty="0">
                <a:solidFill>
                  <a:srgbClr val="6B7280"/>
                </a:solidFill>
              </a:rPr>
              <a:t>Normalización min-max DENTRO del Corpus C · [0,1]: 0 = ninguna injusticia discursiva · 1 = máxima</a:t>
            </a:r>
            <a:endParaRPr lang="en-US" sz="1000" dirty="0"/>
          </a:p>
        </p:txBody>
      </p:sp>
      <p:sp>
        <p:nvSpPr>
          <p:cNvPr id="7" name="Shape 5"/>
          <p:cNvSpPr/>
          <p:nvPr/>
        </p:nvSpPr>
        <p:spPr>
          <a:xfrm>
            <a:off x="457200" y="2331720"/>
            <a:ext cx="11247120" cy="621792"/>
          </a:xfrm>
          <a:prstGeom prst="rect">
            <a:avLst/>
          </a:prstGeom>
          <a:solidFill>
            <a:srgbClr val="EBF5FF"/>
          </a:solidFill>
          <a:ln/>
          <a:effectLst>
            <a:outerShdw sx="100000" sy="100000" kx="0" ky="0" algn="bl" rotWithShape="0" blurRad="76200" dist="25400" dir="8100000">
              <a:srgbClr val="000000">
                <a:alpha val="12000"/>
              </a:srgbClr>
            </a:outerShdw>
          </a:effectLst>
        </p:spPr>
      </p:sp>
      <p:sp>
        <p:nvSpPr>
          <p:cNvPr id="8" name="Text 6"/>
          <p:cNvSpPr/>
          <p:nvPr/>
        </p:nvSpPr>
        <p:spPr>
          <a:xfrm>
            <a:off x="548640" y="2359152"/>
            <a:ext cx="11064240" cy="566928"/>
          </a:xfrm>
          <a:prstGeom prst="rect">
            <a:avLst/>
          </a:prstGeom>
          <a:noFill/>
          <a:ln/>
        </p:spPr>
        <p:txBody>
          <a:bodyPr wrap="square" lIns="0" tIns="0" rIns="0" bIns="0" rtlCol="0" anchor="ctr"/>
          <a:lstStyle/>
          <a:p>
            <a:pPr indent="0" marL="0">
              <a:buNone/>
            </a:pPr>
            <a:r>
              <a:rPr lang="en-US" sz="950" b="1" dirty="0">
                <a:solidFill>
                  <a:srgbClr val="4A90D9"/>
                </a:solidFill>
              </a:rPr>
              <a:t>HABERMAS: </a:t>
            </a:r>
            <a:pPr indent="0" marL="0">
              <a:buNone/>
            </a:pPr>
            <a:r>
              <a:rPr lang="en-US" sz="950" dirty="0">
                <a:solidFill>
                  <a:srgbClr val="1A1A2E"/>
                </a:solidFill>
              </a:rPr>
              <a:t>El DIS mide las violaciones a las pretensiones de validez del discurso judicial. SA viola la sinceridad (el hablante borra su agencia). NV viola la corrección normativa (niega la victimización). La ausencia de REP viola la rectitud comunicativa. Un DIS alto indica un acto de habla que falla las tres pretensiones habermasianas. </a:t>
            </a:r>
            <a:pPr indent="0" marL="0">
              <a:buNone/>
            </a:pPr>
            <a:r>
              <a:rPr lang="en-US" sz="950" b="1" dirty="0">
                <a:solidFill>
                  <a:srgbClr val="B5450B"/>
                </a:solidFill>
              </a:rPr>
              <a:t>GALTUNG: </a:t>
            </a:r>
            <a:pPr indent="0" marL="0">
              <a:buNone/>
            </a:pPr>
            <a:r>
              <a:rPr lang="en-US" sz="950" dirty="0">
                <a:solidFill>
                  <a:srgbClr val="1A1A2E"/>
                </a:solidFill>
              </a:rPr>
              <a:t>El léxico EBI (en y₁, que compone ξ₁) es violencia cultural lexicalizada — el lenguaje que hace parecer natural el asesinato de civiles como operación del Estado.</a:t>
            </a:r>
            <a:endParaRPr lang="en-US" sz="950" dirty="0"/>
          </a:p>
        </p:txBody>
      </p:sp>
      <p:sp>
        <p:nvSpPr>
          <p:cNvPr id="9" name="Shape 7"/>
          <p:cNvSpPr/>
          <p:nvPr/>
        </p:nvSpPr>
        <p:spPr>
          <a:xfrm>
            <a:off x="457200" y="3063240"/>
            <a:ext cx="1124712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457200" y="3063240"/>
            <a:ext cx="1005840" cy="1051560"/>
          </a:xfrm>
          <a:prstGeom prst="rect">
            <a:avLst/>
          </a:prstGeom>
          <a:solidFill>
            <a:srgbClr val="4A90D9"/>
          </a:solidFill>
          <a:ln/>
        </p:spPr>
      </p:sp>
      <p:sp>
        <p:nvSpPr>
          <p:cNvPr id="11" name="Text 9"/>
          <p:cNvSpPr/>
          <p:nvPr/>
        </p:nvSpPr>
        <p:spPr>
          <a:xfrm>
            <a:off x="457200" y="3063240"/>
            <a:ext cx="1005840" cy="1051560"/>
          </a:xfrm>
          <a:prstGeom prst="rect">
            <a:avLst/>
          </a:prstGeom>
          <a:noFill/>
          <a:ln/>
        </p:spPr>
        <p:txBody>
          <a:bodyPr wrap="square" lIns="0" tIns="0" rIns="0" bIns="0" rtlCol="0" anchor="ctr"/>
          <a:lstStyle/>
          <a:p>
            <a:pPr algn="ctr" indent="0" marL="0">
              <a:buNone/>
            </a:pPr>
            <a:r>
              <a:rPr lang="en-US" sz="2200" b="1" dirty="0">
                <a:solidFill>
                  <a:srgbClr val="FFFFFF"/>
                </a:solidFill>
              </a:rPr>
              <a:t>w=0.35</a:t>
            </a:r>
            <a:endParaRPr lang="en-US" sz="2200" dirty="0"/>
          </a:p>
        </p:txBody>
      </p:sp>
      <p:sp>
        <p:nvSpPr>
          <p:cNvPr id="12" name="Text 10"/>
          <p:cNvSpPr/>
          <p:nvPr/>
        </p:nvSpPr>
        <p:spPr>
          <a:xfrm>
            <a:off x="1572768" y="3127248"/>
            <a:ext cx="9966960" cy="292608"/>
          </a:xfrm>
          <a:prstGeom prst="rect">
            <a:avLst/>
          </a:prstGeom>
          <a:noFill/>
          <a:ln/>
        </p:spPr>
        <p:txBody>
          <a:bodyPr wrap="square" lIns="0" tIns="0" rIns="0" bIns="0" rtlCol="0" anchor="ctr"/>
          <a:lstStyle/>
          <a:p>
            <a:pPr indent="0" marL="0">
              <a:buNone/>
            </a:pPr>
            <a:r>
              <a:rPr lang="en-US" sz="1300" b="1" dirty="0">
                <a:solidFill>
                  <a:srgbClr val="1F4E79"/>
                </a:solidFill>
              </a:rPr>
              <a:t>y₂ — SA Score</a:t>
            </a:r>
            <a:endParaRPr lang="en-US" sz="1300" dirty="0"/>
          </a:p>
        </p:txBody>
      </p:sp>
      <p:sp>
        <p:nvSpPr>
          <p:cNvPr id="13" name="Text 11"/>
          <p:cNvSpPr/>
          <p:nvPr/>
        </p:nvSpPr>
        <p:spPr>
          <a:xfrm>
            <a:off x="1572768" y="3447288"/>
            <a:ext cx="9966960" cy="594360"/>
          </a:xfrm>
          <a:prstGeom prst="rect">
            <a:avLst/>
          </a:prstGeom>
          <a:noFill/>
          <a:ln/>
        </p:spPr>
        <p:txBody>
          <a:bodyPr wrap="square" lIns="0" tIns="0" rIns="0" bIns="0" rtlCol="0" anchor="ctr"/>
          <a:lstStyle/>
          <a:p>
            <a:pPr indent="0" marL="0">
              <a:buNone/>
            </a:pPr>
            <a:r>
              <a:rPr lang="en-US" sz="950" dirty="0">
                <a:solidFill>
                  <a:srgbClr val="1A1A2E"/>
                </a:solidFill>
              </a:rPr>
              <a:t>JUSTIFICACIÓN TEÓRICA: Habermas: violación de la sinceridad expresiva. La gramática suprime al perpetrador, distorsionando la acción comunicativa al hacer invisible la responsabilidad ante el sistema judicial. Peso igualado con NV porque ambos operan directamente sobre la injusticia testimonial (Fricker) desde el canal gramatical.</a:t>
            </a:r>
            <a:endParaRPr lang="en-US" sz="950" dirty="0"/>
          </a:p>
        </p:txBody>
      </p:sp>
      <p:sp>
        <p:nvSpPr>
          <p:cNvPr id="14" name="Shape 12"/>
          <p:cNvSpPr/>
          <p:nvPr/>
        </p:nvSpPr>
        <p:spPr>
          <a:xfrm>
            <a:off x="457200" y="4233672"/>
            <a:ext cx="1124712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457200" y="4233672"/>
            <a:ext cx="1005840" cy="1051560"/>
          </a:xfrm>
          <a:prstGeom prst="rect">
            <a:avLst/>
          </a:prstGeom>
          <a:solidFill>
            <a:srgbClr val="B5450B"/>
          </a:solidFill>
          <a:ln/>
        </p:spPr>
      </p:sp>
      <p:sp>
        <p:nvSpPr>
          <p:cNvPr id="16" name="Text 14"/>
          <p:cNvSpPr/>
          <p:nvPr/>
        </p:nvSpPr>
        <p:spPr>
          <a:xfrm>
            <a:off x="457200" y="4233672"/>
            <a:ext cx="1005840" cy="1051560"/>
          </a:xfrm>
          <a:prstGeom prst="rect">
            <a:avLst/>
          </a:prstGeom>
          <a:noFill/>
          <a:ln/>
        </p:spPr>
        <p:txBody>
          <a:bodyPr wrap="square" lIns="0" tIns="0" rIns="0" bIns="0" rtlCol="0" anchor="ctr"/>
          <a:lstStyle/>
          <a:p>
            <a:pPr algn="ctr" indent="0" marL="0">
              <a:buNone/>
            </a:pPr>
            <a:r>
              <a:rPr lang="en-US" sz="2200" b="1" dirty="0">
                <a:solidFill>
                  <a:srgbClr val="FFFFFF"/>
                </a:solidFill>
              </a:rPr>
              <a:t>w=0.35</a:t>
            </a:r>
            <a:endParaRPr lang="en-US" sz="2200" dirty="0"/>
          </a:p>
        </p:txBody>
      </p:sp>
      <p:sp>
        <p:nvSpPr>
          <p:cNvPr id="17" name="Text 15"/>
          <p:cNvSpPr/>
          <p:nvPr/>
        </p:nvSpPr>
        <p:spPr>
          <a:xfrm>
            <a:off x="1572768" y="4297680"/>
            <a:ext cx="9966960" cy="292608"/>
          </a:xfrm>
          <a:prstGeom prst="rect">
            <a:avLst/>
          </a:prstGeom>
          <a:noFill/>
          <a:ln/>
        </p:spPr>
        <p:txBody>
          <a:bodyPr wrap="square" lIns="0" tIns="0" rIns="0" bIns="0" rtlCol="0" anchor="ctr"/>
          <a:lstStyle/>
          <a:p>
            <a:pPr indent="0" marL="0">
              <a:buNone/>
            </a:pPr>
            <a:r>
              <a:rPr lang="en-US" sz="1300" b="1" dirty="0">
                <a:solidFill>
                  <a:srgbClr val="1F4E79"/>
                </a:solidFill>
              </a:rPr>
              <a:t>y₄ — NV Score</a:t>
            </a:r>
            <a:endParaRPr lang="en-US" sz="1300" dirty="0"/>
          </a:p>
        </p:txBody>
      </p:sp>
      <p:sp>
        <p:nvSpPr>
          <p:cNvPr id="18" name="Text 16"/>
          <p:cNvSpPr/>
          <p:nvPr/>
        </p:nvSpPr>
        <p:spPr>
          <a:xfrm>
            <a:off x="1572768" y="4617720"/>
            <a:ext cx="9966960" cy="594360"/>
          </a:xfrm>
          <a:prstGeom prst="rect">
            <a:avLst/>
          </a:prstGeom>
          <a:noFill/>
          <a:ln/>
        </p:spPr>
        <p:txBody>
          <a:bodyPr wrap="square" lIns="0" tIns="0" rIns="0" bIns="0" rtlCol="0" anchor="ctr"/>
          <a:lstStyle/>
          <a:p>
            <a:pPr indent="0" marL="0">
              <a:buNone/>
            </a:pPr>
            <a:r>
              <a:rPr lang="en-US" sz="950" dirty="0">
                <a:solidFill>
                  <a:srgbClr val="1A1A2E"/>
                </a:solidFill>
              </a:rPr>
              <a:t>JUSTIFICACIÓN TEÓRICA: Fricker+Galtung: el credibility discount (Fricker) se materializa en la atribución de identidad combatiente (Galtung: violencia cultural). Negar la victimización es simultáneamente negar el testimonio y legitimar la violencia. El doble anclaje teórico justifica el peso máximo.</a:t>
            </a:r>
            <a:endParaRPr lang="en-US" sz="950" dirty="0"/>
          </a:p>
        </p:txBody>
      </p:sp>
      <p:sp>
        <p:nvSpPr>
          <p:cNvPr id="19" name="Shape 17"/>
          <p:cNvSpPr/>
          <p:nvPr/>
        </p:nvSpPr>
        <p:spPr>
          <a:xfrm>
            <a:off x="457200" y="5404104"/>
            <a:ext cx="1124712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457200" y="5404104"/>
            <a:ext cx="1005840" cy="1051560"/>
          </a:xfrm>
          <a:prstGeom prst="rect">
            <a:avLst/>
          </a:prstGeom>
          <a:solidFill>
            <a:srgbClr val="217346"/>
          </a:solidFill>
          <a:ln/>
        </p:spPr>
      </p:sp>
      <p:sp>
        <p:nvSpPr>
          <p:cNvPr id="21" name="Text 19"/>
          <p:cNvSpPr/>
          <p:nvPr/>
        </p:nvSpPr>
        <p:spPr>
          <a:xfrm>
            <a:off x="457200" y="5404104"/>
            <a:ext cx="1005840" cy="1051560"/>
          </a:xfrm>
          <a:prstGeom prst="rect">
            <a:avLst/>
          </a:prstGeom>
          <a:noFill/>
          <a:ln/>
        </p:spPr>
        <p:txBody>
          <a:bodyPr wrap="square" lIns="0" tIns="0" rIns="0" bIns="0" rtlCol="0" anchor="ctr"/>
          <a:lstStyle/>
          <a:p>
            <a:pPr algn="ctr" indent="0" marL="0">
              <a:buNone/>
            </a:pPr>
            <a:r>
              <a:rPr lang="en-US" sz="2200" b="1" dirty="0">
                <a:solidFill>
                  <a:srgbClr val="FFFFFF"/>
                </a:solidFill>
              </a:rPr>
              <a:t>w=0.30</a:t>
            </a:r>
            <a:endParaRPr lang="en-US" sz="2200" dirty="0"/>
          </a:p>
        </p:txBody>
      </p:sp>
      <p:sp>
        <p:nvSpPr>
          <p:cNvPr id="22" name="Text 20"/>
          <p:cNvSpPr/>
          <p:nvPr/>
        </p:nvSpPr>
        <p:spPr>
          <a:xfrm>
            <a:off x="1572768" y="5468112"/>
            <a:ext cx="9966960" cy="292608"/>
          </a:xfrm>
          <a:prstGeom prst="rect">
            <a:avLst/>
          </a:prstGeom>
          <a:noFill/>
          <a:ln/>
        </p:spPr>
        <p:txBody>
          <a:bodyPr wrap="square" lIns="0" tIns="0" rIns="0" bIns="0" rtlCol="0" anchor="ctr"/>
          <a:lstStyle/>
          <a:p>
            <a:pPr indent="0" marL="0">
              <a:buNone/>
            </a:pPr>
            <a:r>
              <a:rPr lang="en-US" sz="1300" b="1" dirty="0">
                <a:solidFill>
                  <a:srgbClr val="1F4E79"/>
                </a:solidFill>
              </a:rPr>
              <a:t>1 − y₁₀ (REP)</a:t>
            </a:r>
            <a:endParaRPr lang="en-US" sz="1300" dirty="0"/>
          </a:p>
        </p:txBody>
      </p:sp>
      <p:sp>
        <p:nvSpPr>
          <p:cNvPr id="23" name="Text 21"/>
          <p:cNvSpPr/>
          <p:nvPr/>
        </p:nvSpPr>
        <p:spPr>
          <a:xfrm>
            <a:off x="1572768" y="5788152"/>
            <a:ext cx="9966960" cy="594360"/>
          </a:xfrm>
          <a:prstGeom prst="rect">
            <a:avLst/>
          </a:prstGeom>
          <a:noFill/>
          <a:ln/>
        </p:spPr>
        <p:txBody>
          <a:bodyPr wrap="square" lIns="0" tIns="0" rIns="0" bIns="0" rtlCol="0" anchor="ctr"/>
          <a:lstStyle/>
          <a:p>
            <a:pPr indent="0" marL="0">
              <a:buNone/>
            </a:pPr>
            <a:r>
              <a:rPr lang="en-US" sz="950" dirty="0">
                <a:solidFill>
                  <a:srgbClr val="1A1A2E"/>
                </a:solidFill>
              </a:rPr>
              <a:t>JUSTIFICACIÓN TEÓRICA: Fraser: la ausencia de reconocimiento epistémico (REP bajo) mantiene bloqueada la paridad participativa. No es solo lo que el documento hace activamente — también es lo que no hace. Peso ligeramente menor porque opera desde el polo positivo ausente, no desde la violencia activa.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6B3FA0"/>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IEI Score — Índice de Injusticia Epistémica (η₂) | Marco: Fricker + Fraser</a:t>
            </a:r>
            <a:endParaRPr lang="en-US" sz="1700" dirty="0"/>
          </a:p>
        </p:txBody>
      </p:sp>
      <p:sp>
        <p:nvSpPr>
          <p:cNvPr id="4" name="Shape 2"/>
          <p:cNvSpPr/>
          <p:nvPr/>
        </p:nvSpPr>
        <p:spPr>
          <a:xfrm>
            <a:off x="457200" y="914400"/>
            <a:ext cx="11247120" cy="1417320"/>
          </a:xfrm>
          <a:prstGeom prst="rect">
            <a:avLst/>
          </a:prstGeom>
          <a:solidFill>
            <a:srgbClr val="F8F0FF"/>
          </a:solidFill>
          <a:ln/>
          <a:effectLst>
            <a:outerShdw sx="100000" sy="100000" kx="0" ky="0" algn="bl" rotWithShape="0" blurRad="76200" dist="25400" dir="8100000">
              <a:srgbClr val="000000">
                <a:alpha val="12000"/>
              </a:srgbClr>
            </a:outerShdw>
          </a:effectLst>
        </p:spPr>
      </p:sp>
      <p:sp>
        <p:nvSpPr>
          <p:cNvPr id="5" name="Text 3"/>
          <p:cNvSpPr/>
          <p:nvPr/>
        </p:nvSpPr>
        <p:spPr>
          <a:xfrm>
            <a:off x="640080" y="960120"/>
            <a:ext cx="10972800" cy="548640"/>
          </a:xfrm>
          <a:prstGeom prst="rect">
            <a:avLst/>
          </a:prstGeom>
          <a:noFill/>
          <a:ln/>
        </p:spPr>
        <p:txBody>
          <a:bodyPr wrap="square" lIns="0" tIns="0" rIns="0" bIns="0" rtlCol="0" anchor="ctr"/>
          <a:lstStyle/>
          <a:p>
            <a:pPr algn="ctr" indent="0" marL="0">
              <a:buNone/>
            </a:pPr>
            <a:r>
              <a:rPr lang="en-US" sz="1700" b="1" dirty="0">
                <a:solidFill>
                  <a:srgbClr val="4B0082"/>
                </a:solidFill>
                <a:latin typeface="Consolas" pitchFamily="34" charset="0"/>
                <a:ea typeface="Consolas" pitchFamily="34" charset="-122"/>
                <a:cs typeface="Consolas" pitchFamily="34" charset="-120"/>
              </a:rPr>
              <a:t>η₂ = IEI(d) = 0.35 × y₈_norm + 0.20 × y₉_norm + 0.25 × y₄_norm + 0.20 × (1 − y₁₀_norm)</a:t>
            </a:r>
            <a:endParaRPr lang="en-US" sz="1700" dirty="0"/>
          </a:p>
        </p:txBody>
      </p:sp>
      <p:sp>
        <p:nvSpPr>
          <p:cNvPr id="6" name="Text 4"/>
          <p:cNvSpPr/>
          <p:nvPr/>
        </p:nvSpPr>
        <p:spPr>
          <a:xfrm>
            <a:off x="640080" y="1527048"/>
            <a:ext cx="10972800" cy="228600"/>
          </a:xfrm>
          <a:prstGeom prst="rect">
            <a:avLst/>
          </a:prstGeom>
          <a:noFill/>
          <a:ln/>
        </p:spPr>
        <p:txBody>
          <a:bodyPr wrap="square" lIns="0" tIns="0" rIns="0" bIns="0"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y₈_norm = (y₈ − min_C) / (max_C − min_C)   normalización sobre Corpus C (n=547 bloques)</a:t>
            </a:r>
            <a:endParaRPr lang="en-US" sz="950" dirty="0"/>
          </a:p>
        </p:txBody>
      </p:sp>
      <p:sp>
        <p:nvSpPr>
          <p:cNvPr id="7" name="Shape 5"/>
          <p:cNvSpPr/>
          <p:nvPr/>
        </p:nvSpPr>
        <p:spPr>
          <a:xfrm>
            <a:off x="457200" y="2423160"/>
            <a:ext cx="11247120" cy="594360"/>
          </a:xfrm>
          <a:prstGeom prst="rect">
            <a:avLst/>
          </a:prstGeom>
          <a:solidFill>
            <a:srgbClr val="F5EEFF"/>
          </a:solidFill>
          <a:ln/>
          <a:effectLst>
            <a:outerShdw sx="100000" sy="100000" kx="0" ky="0" algn="bl" rotWithShape="0" blurRad="76200" dist="25400" dir="8100000">
              <a:srgbClr val="000000">
                <a:alpha val="12000"/>
              </a:srgbClr>
            </a:outerShdw>
          </a:effectLst>
        </p:spPr>
      </p:sp>
      <p:sp>
        <p:nvSpPr>
          <p:cNvPr id="8" name="Text 6"/>
          <p:cNvSpPr/>
          <p:nvPr/>
        </p:nvSpPr>
        <p:spPr>
          <a:xfrm>
            <a:off x="548640" y="2441448"/>
            <a:ext cx="11064240" cy="548640"/>
          </a:xfrm>
          <a:prstGeom prst="rect">
            <a:avLst/>
          </a:prstGeom>
          <a:noFill/>
          <a:ln/>
        </p:spPr>
        <p:txBody>
          <a:bodyPr wrap="square" lIns="0" tIns="0" rIns="0" bIns="0" rtlCol="0" anchor="ctr"/>
          <a:lstStyle/>
          <a:p>
            <a:pPr indent="0" marL="0">
              <a:buNone/>
            </a:pPr>
            <a:r>
              <a:rPr lang="en-US" sz="950" b="1" dirty="0">
                <a:solidFill>
                  <a:srgbClr val="6B3FA0"/>
                </a:solidFill>
              </a:rPr>
              <a:t>FRICKER: </a:t>
            </a:r>
            <a:pPr indent="0" marL="0">
              <a:buNone/>
            </a:pPr>
            <a:r>
              <a:rPr lang="en-US" sz="950" dirty="0">
                <a:solidFill>
                  <a:srgbClr val="1A1A2E"/>
                </a:solidFill>
              </a:rPr>
              <a:t>El IEI mide la hermeneutical gap (y₈, y₉) — la distancia entre el espacio semántico del documento y el de las víctimas — y el credibility discount (y₄) como causa de la injusticia epistémica. </a:t>
            </a:r>
            <a:pPr indent="0" marL="0">
              <a:buNone/>
            </a:pPr>
            <a:r>
              <a:rPr lang="en-US" sz="950" b="1" dirty="0">
                <a:solidFill>
                  <a:srgbClr val="217346"/>
                </a:solidFill>
              </a:rPr>
              <a:t>FRASER: </a:t>
            </a:r>
            <a:pPr indent="0" marL="0">
              <a:buNone/>
            </a:pPr>
            <a:r>
              <a:rPr lang="en-US" sz="950" dirty="0">
                <a:solidFill>
                  <a:srgbClr val="1A1A2E"/>
                </a:solidFill>
              </a:rPr>
              <a:t>La distancia al léxico DDHH (y₉) mide la exclusión del marco normativo que hace posible la paridad participativa. El REP ausente (1−y₁₀) es el indicador de que el reconocimiento (Fraser) no se ha producido.</a:t>
            </a:r>
            <a:endParaRPr lang="en-US" sz="950" dirty="0"/>
          </a:p>
        </p:txBody>
      </p:sp>
      <p:sp>
        <p:nvSpPr>
          <p:cNvPr id="9" name="Shape 7"/>
          <p:cNvSpPr/>
          <p:nvPr/>
        </p:nvSpPr>
        <p:spPr>
          <a:xfrm>
            <a:off x="457200" y="3127248"/>
            <a:ext cx="11247120" cy="84124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457200" y="3127248"/>
            <a:ext cx="868680" cy="841248"/>
          </a:xfrm>
          <a:prstGeom prst="rect">
            <a:avLst/>
          </a:prstGeom>
          <a:solidFill>
            <a:srgbClr val="6B3FA0"/>
          </a:solidFill>
          <a:ln/>
        </p:spPr>
      </p:sp>
      <p:sp>
        <p:nvSpPr>
          <p:cNvPr id="11" name="Text 9"/>
          <p:cNvSpPr/>
          <p:nvPr/>
        </p:nvSpPr>
        <p:spPr>
          <a:xfrm>
            <a:off x="457200" y="3127248"/>
            <a:ext cx="868680" cy="841248"/>
          </a:xfrm>
          <a:prstGeom prst="rect">
            <a:avLst/>
          </a:prstGeom>
          <a:noFill/>
          <a:ln/>
        </p:spPr>
        <p:txBody>
          <a:bodyPr wrap="square" lIns="0" tIns="0" rIns="0" bIns="0" rtlCol="0" anchor="ctr"/>
          <a:lstStyle/>
          <a:p>
            <a:pPr algn="ctr" indent="0" marL="0">
              <a:buNone/>
            </a:pPr>
            <a:r>
              <a:rPr lang="en-US" sz="1800" b="1" dirty="0">
                <a:solidFill>
                  <a:srgbClr val="FFFFFF"/>
                </a:solidFill>
              </a:rPr>
              <a:t>w=0.35</a:t>
            </a:r>
            <a:endParaRPr lang="en-US" sz="1800" dirty="0"/>
          </a:p>
        </p:txBody>
      </p:sp>
      <p:sp>
        <p:nvSpPr>
          <p:cNvPr id="12" name="Text 10"/>
          <p:cNvSpPr/>
          <p:nvPr/>
        </p:nvSpPr>
        <p:spPr>
          <a:xfrm>
            <a:off x="1435608" y="3172968"/>
            <a:ext cx="9966960" cy="256032"/>
          </a:xfrm>
          <a:prstGeom prst="rect">
            <a:avLst/>
          </a:prstGeom>
          <a:noFill/>
          <a:ln/>
        </p:spPr>
        <p:txBody>
          <a:bodyPr wrap="square" lIns="0" tIns="0" rIns="0" bIns="0" rtlCol="0" anchor="ctr"/>
          <a:lstStyle/>
          <a:p>
            <a:pPr indent="0" marL="0">
              <a:buNone/>
            </a:pPr>
            <a:r>
              <a:rPr lang="en-US" sz="1200" b="1" dirty="0">
                <a:solidFill>
                  <a:srgbClr val="1F4E79"/>
                </a:solidFill>
              </a:rPr>
              <a:t>y₈ — Dist. MAFAPO</a:t>
            </a:r>
            <a:endParaRPr lang="en-US" sz="1200" dirty="0"/>
          </a:p>
        </p:txBody>
      </p:sp>
      <p:sp>
        <p:nvSpPr>
          <p:cNvPr id="13" name="Text 11"/>
          <p:cNvSpPr/>
          <p:nvPr/>
        </p:nvSpPr>
        <p:spPr>
          <a:xfrm>
            <a:off x="1435608" y="3447288"/>
            <a:ext cx="9966960" cy="457200"/>
          </a:xfrm>
          <a:prstGeom prst="rect">
            <a:avLst/>
          </a:prstGeom>
          <a:noFill/>
          <a:ln/>
        </p:spPr>
        <p:txBody>
          <a:bodyPr wrap="square" lIns="0" tIns="0" rIns="0" bIns="0" rtlCol="0" anchor="ctr"/>
          <a:lstStyle/>
          <a:p>
            <a:pPr indent="0" marL="0">
              <a:buNone/>
            </a:pPr>
            <a:r>
              <a:rPr lang="en-US" sz="900" dirty="0">
                <a:solidFill>
                  <a:srgbClr val="1A1A2E"/>
                </a:solidFill>
              </a:rPr>
              <a:t>JUSTIFICACIÓN: Fricker (2007): hermeneutical gap en su forma más directa. La distancia al léxico vivido de las madres de las víctimas mide exactamente cuánto el documento no participa de los recursos hermenéuticos necesarios para nombrar la experiencia del crimen. Peso máximo por anclaje directo.</a:t>
            </a:r>
            <a:endParaRPr lang="en-US" sz="900" dirty="0"/>
          </a:p>
        </p:txBody>
      </p:sp>
      <p:sp>
        <p:nvSpPr>
          <p:cNvPr id="14" name="Shape 12"/>
          <p:cNvSpPr/>
          <p:nvPr/>
        </p:nvSpPr>
        <p:spPr>
          <a:xfrm>
            <a:off x="457200" y="4059936"/>
            <a:ext cx="11247120" cy="84124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457200" y="4059936"/>
            <a:ext cx="868680" cy="841248"/>
          </a:xfrm>
          <a:prstGeom prst="rect">
            <a:avLst/>
          </a:prstGeom>
          <a:solidFill>
            <a:srgbClr val="217346"/>
          </a:solidFill>
          <a:ln/>
        </p:spPr>
      </p:sp>
      <p:sp>
        <p:nvSpPr>
          <p:cNvPr id="16" name="Text 14"/>
          <p:cNvSpPr/>
          <p:nvPr/>
        </p:nvSpPr>
        <p:spPr>
          <a:xfrm>
            <a:off x="457200" y="4059936"/>
            <a:ext cx="868680" cy="841248"/>
          </a:xfrm>
          <a:prstGeom prst="rect">
            <a:avLst/>
          </a:prstGeom>
          <a:noFill/>
          <a:ln/>
        </p:spPr>
        <p:txBody>
          <a:bodyPr wrap="square" lIns="0" tIns="0" rIns="0" bIns="0" rtlCol="0" anchor="ctr"/>
          <a:lstStyle/>
          <a:p>
            <a:pPr algn="ctr" indent="0" marL="0">
              <a:buNone/>
            </a:pPr>
            <a:r>
              <a:rPr lang="en-US" sz="1800" b="1" dirty="0">
                <a:solidFill>
                  <a:srgbClr val="FFFFFF"/>
                </a:solidFill>
              </a:rPr>
              <a:t>w=0.20</a:t>
            </a:r>
            <a:endParaRPr lang="en-US" sz="1800" dirty="0"/>
          </a:p>
        </p:txBody>
      </p:sp>
      <p:sp>
        <p:nvSpPr>
          <p:cNvPr id="17" name="Text 15"/>
          <p:cNvSpPr/>
          <p:nvPr/>
        </p:nvSpPr>
        <p:spPr>
          <a:xfrm>
            <a:off x="1435608" y="4105656"/>
            <a:ext cx="9966960" cy="256032"/>
          </a:xfrm>
          <a:prstGeom prst="rect">
            <a:avLst/>
          </a:prstGeom>
          <a:noFill/>
          <a:ln/>
        </p:spPr>
        <p:txBody>
          <a:bodyPr wrap="square" lIns="0" tIns="0" rIns="0" bIns="0" rtlCol="0" anchor="ctr"/>
          <a:lstStyle/>
          <a:p>
            <a:pPr indent="0" marL="0">
              <a:buNone/>
            </a:pPr>
            <a:r>
              <a:rPr lang="en-US" sz="1200" b="1" dirty="0">
                <a:solidFill>
                  <a:srgbClr val="1F4E79"/>
                </a:solidFill>
              </a:rPr>
              <a:t>y₉ — Dist. CIDH</a:t>
            </a:r>
            <a:endParaRPr lang="en-US" sz="1200" dirty="0"/>
          </a:p>
        </p:txBody>
      </p:sp>
      <p:sp>
        <p:nvSpPr>
          <p:cNvPr id="18" name="Text 16"/>
          <p:cNvSpPr/>
          <p:nvPr/>
        </p:nvSpPr>
        <p:spPr>
          <a:xfrm>
            <a:off x="1435608" y="4379976"/>
            <a:ext cx="9966960" cy="457200"/>
          </a:xfrm>
          <a:prstGeom prst="rect">
            <a:avLst/>
          </a:prstGeom>
          <a:noFill/>
          <a:ln/>
        </p:spPr>
        <p:txBody>
          <a:bodyPr wrap="square" lIns="0" tIns="0" rIns="0" bIns="0" rtlCol="0" anchor="ctr"/>
          <a:lstStyle/>
          <a:p>
            <a:pPr indent="0" marL="0">
              <a:buNone/>
            </a:pPr>
            <a:r>
              <a:rPr lang="en-US" sz="900" dirty="0">
                <a:solidFill>
                  <a:srgbClr val="1A1A2E"/>
                </a:solidFill>
              </a:rPr>
              <a:t>JUSTIFICACIÓN: Fraser (2008): el marco normativo internacional es la condición institucional de la paridad participativa. La distancia a los estándares de la Corte IDH mide la exclusión de ese marco. Peso menor porque es una medida más mediada — opera a través de la institucionalidad, no del testimonio directo.</a:t>
            </a:r>
            <a:endParaRPr lang="en-US" sz="900" dirty="0"/>
          </a:p>
        </p:txBody>
      </p:sp>
      <p:sp>
        <p:nvSpPr>
          <p:cNvPr id="19" name="Shape 17"/>
          <p:cNvSpPr/>
          <p:nvPr/>
        </p:nvSpPr>
        <p:spPr>
          <a:xfrm>
            <a:off x="457200" y="4992624"/>
            <a:ext cx="11247120" cy="84124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457200" y="4992624"/>
            <a:ext cx="868680" cy="841248"/>
          </a:xfrm>
          <a:prstGeom prst="rect">
            <a:avLst/>
          </a:prstGeom>
          <a:solidFill>
            <a:srgbClr val="B5450B"/>
          </a:solidFill>
          <a:ln/>
        </p:spPr>
      </p:sp>
      <p:sp>
        <p:nvSpPr>
          <p:cNvPr id="21" name="Text 19"/>
          <p:cNvSpPr/>
          <p:nvPr/>
        </p:nvSpPr>
        <p:spPr>
          <a:xfrm>
            <a:off x="457200" y="4992624"/>
            <a:ext cx="868680" cy="841248"/>
          </a:xfrm>
          <a:prstGeom prst="rect">
            <a:avLst/>
          </a:prstGeom>
          <a:noFill/>
          <a:ln/>
        </p:spPr>
        <p:txBody>
          <a:bodyPr wrap="square" lIns="0" tIns="0" rIns="0" bIns="0" rtlCol="0" anchor="ctr"/>
          <a:lstStyle/>
          <a:p>
            <a:pPr algn="ctr" indent="0" marL="0">
              <a:buNone/>
            </a:pPr>
            <a:r>
              <a:rPr lang="en-US" sz="1800" b="1" dirty="0">
                <a:solidFill>
                  <a:srgbClr val="FFFFFF"/>
                </a:solidFill>
              </a:rPr>
              <a:t>w=0.25</a:t>
            </a:r>
            <a:endParaRPr lang="en-US" sz="1800" dirty="0"/>
          </a:p>
        </p:txBody>
      </p:sp>
      <p:sp>
        <p:nvSpPr>
          <p:cNvPr id="22" name="Text 20"/>
          <p:cNvSpPr/>
          <p:nvPr/>
        </p:nvSpPr>
        <p:spPr>
          <a:xfrm>
            <a:off x="1435608" y="5038344"/>
            <a:ext cx="9966960" cy="256032"/>
          </a:xfrm>
          <a:prstGeom prst="rect">
            <a:avLst/>
          </a:prstGeom>
          <a:noFill/>
          <a:ln/>
        </p:spPr>
        <p:txBody>
          <a:bodyPr wrap="square" lIns="0" tIns="0" rIns="0" bIns="0" rtlCol="0" anchor="ctr"/>
          <a:lstStyle/>
          <a:p>
            <a:pPr indent="0" marL="0">
              <a:buNone/>
            </a:pPr>
            <a:r>
              <a:rPr lang="en-US" sz="1200" b="1" dirty="0">
                <a:solidFill>
                  <a:srgbClr val="1F4E79"/>
                </a:solidFill>
              </a:rPr>
              <a:t>y₄ — NV Score</a:t>
            </a:r>
            <a:endParaRPr lang="en-US" sz="1200" dirty="0"/>
          </a:p>
        </p:txBody>
      </p:sp>
      <p:sp>
        <p:nvSpPr>
          <p:cNvPr id="23" name="Text 21"/>
          <p:cNvSpPr/>
          <p:nvPr/>
        </p:nvSpPr>
        <p:spPr>
          <a:xfrm>
            <a:off x="1435608" y="5312664"/>
            <a:ext cx="9966960" cy="457200"/>
          </a:xfrm>
          <a:prstGeom prst="rect">
            <a:avLst/>
          </a:prstGeom>
          <a:noFill/>
          <a:ln/>
        </p:spPr>
        <p:txBody>
          <a:bodyPr wrap="square" lIns="0" tIns="0" rIns="0" bIns="0" rtlCol="0" anchor="ctr"/>
          <a:lstStyle/>
          <a:p>
            <a:pPr indent="0" marL="0">
              <a:buNone/>
            </a:pPr>
            <a:r>
              <a:rPr lang="en-US" sz="900" dirty="0">
                <a:solidFill>
                  <a:srgbClr val="1A1A2E"/>
                </a:solidFill>
              </a:rPr>
              <a:t>JUSTIFICACIÓN: Fricker (2007): el credibility discount opera también como injusticia epistémica — negar la victimización es negar el testimonio como fuente válida de conocimiento. El mismo indicador aparece en DIS (violencia discursiva) e IEI (injusticia epistémica) con pesos distintos porque opera en ambas dimensiones.</a:t>
            </a:r>
            <a:endParaRPr lang="en-US" sz="900" dirty="0"/>
          </a:p>
        </p:txBody>
      </p:sp>
      <p:sp>
        <p:nvSpPr>
          <p:cNvPr id="24" name="Shape 22"/>
          <p:cNvSpPr/>
          <p:nvPr/>
        </p:nvSpPr>
        <p:spPr>
          <a:xfrm>
            <a:off x="457200" y="5925312"/>
            <a:ext cx="11247120" cy="84124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23"/>
          <p:cNvSpPr/>
          <p:nvPr/>
        </p:nvSpPr>
        <p:spPr>
          <a:xfrm>
            <a:off x="457200" y="5925312"/>
            <a:ext cx="868680" cy="841248"/>
          </a:xfrm>
          <a:prstGeom prst="rect">
            <a:avLst/>
          </a:prstGeom>
          <a:solidFill>
            <a:srgbClr val="217346"/>
          </a:solidFill>
          <a:ln/>
        </p:spPr>
      </p:sp>
      <p:sp>
        <p:nvSpPr>
          <p:cNvPr id="26" name="Text 24"/>
          <p:cNvSpPr/>
          <p:nvPr/>
        </p:nvSpPr>
        <p:spPr>
          <a:xfrm>
            <a:off x="457200" y="5925312"/>
            <a:ext cx="868680" cy="841248"/>
          </a:xfrm>
          <a:prstGeom prst="rect">
            <a:avLst/>
          </a:prstGeom>
          <a:noFill/>
          <a:ln/>
        </p:spPr>
        <p:txBody>
          <a:bodyPr wrap="square" lIns="0" tIns="0" rIns="0" bIns="0" rtlCol="0" anchor="ctr"/>
          <a:lstStyle/>
          <a:p>
            <a:pPr algn="ctr" indent="0" marL="0">
              <a:buNone/>
            </a:pPr>
            <a:r>
              <a:rPr lang="en-US" sz="1800" b="1" dirty="0">
                <a:solidFill>
                  <a:srgbClr val="FFFFFF"/>
                </a:solidFill>
              </a:rPr>
              <a:t>w=0.20</a:t>
            </a:r>
            <a:endParaRPr lang="en-US" sz="1800" dirty="0"/>
          </a:p>
        </p:txBody>
      </p:sp>
      <p:sp>
        <p:nvSpPr>
          <p:cNvPr id="27" name="Text 25"/>
          <p:cNvSpPr/>
          <p:nvPr/>
        </p:nvSpPr>
        <p:spPr>
          <a:xfrm>
            <a:off x="1435608" y="5971032"/>
            <a:ext cx="9966960" cy="256032"/>
          </a:xfrm>
          <a:prstGeom prst="rect">
            <a:avLst/>
          </a:prstGeom>
          <a:noFill/>
          <a:ln/>
        </p:spPr>
        <p:txBody>
          <a:bodyPr wrap="square" lIns="0" tIns="0" rIns="0" bIns="0" rtlCol="0" anchor="ctr"/>
          <a:lstStyle/>
          <a:p>
            <a:pPr indent="0" marL="0">
              <a:buNone/>
            </a:pPr>
            <a:r>
              <a:rPr lang="en-US" sz="1200" b="1" dirty="0">
                <a:solidFill>
                  <a:srgbClr val="1F4E79"/>
                </a:solidFill>
              </a:rPr>
              <a:t>1 − y₁₀ (REP)</a:t>
            </a:r>
            <a:endParaRPr lang="en-US" sz="1200" dirty="0"/>
          </a:p>
        </p:txBody>
      </p:sp>
      <p:sp>
        <p:nvSpPr>
          <p:cNvPr id="28" name="Text 26"/>
          <p:cNvSpPr/>
          <p:nvPr/>
        </p:nvSpPr>
        <p:spPr>
          <a:xfrm>
            <a:off x="1435608" y="6245352"/>
            <a:ext cx="9966960" cy="457200"/>
          </a:xfrm>
          <a:prstGeom prst="rect">
            <a:avLst/>
          </a:prstGeom>
          <a:noFill/>
          <a:ln/>
        </p:spPr>
        <p:txBody>
          <a:bodyPr wrap="square" lIns="0" tIns="0" rIns="0" bIns="0" rtlCol="0" anchor="ctr"/>
          <a:lstStyle/>
          <a:p>
            <a:pPr indent="0" marL="0">
              <a:buNone/>
            </a:pPr>
            <a:r>
              <a:rPr lang="en-US" sz="900" dirty="0">
                <a:solidFill>
                  <a:srgbClr val="1A1A2E"/>
                </a:solidFill>
              </a:rPr>
              <a:t>JUSTIFICACIÓN: Fraser: la ausencia de reconocimiento (REP bajo) mantiene el gap hermenéutico. Fricker: sin expansión de recursos hermenéuticos la injusticia epistémica persiste. Peso menor porque es consecuencia de las otras tres dimensiones, no causa independiente.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1F4E79"/>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Modelo SEM — Especificación semopy · Hipótesis · Estado</a:t>
            </a:r>
            <a:endParaRPr lang="en-US" sz="1700" dirty="0"/>
          </a:p>
        </p:txBody>
      </p:sp>
      <p:sp>
        <p:nvSpPr>
          <p:cNvPr id="4" name="Shape 2"/>
          <p:cNvSpPr/>
          <p:nvPr/>
        </p:nvSpPr>
        <p:spPr>
          <a:xfrm>
            <a:off x="182880" y="914400"/>
            <a:ext cx="5303520" cy="5486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182880" y="914400"/>
            <a:ext cx="5303520" cy="365760"/>
          </a:xfrm>
          <a:prstGeom prst="rect">
            <a:avLst/>
          </a:prstGeom>
          <a:solidFill>
            <a:srgbClr val="2E75B6"/>
          </a:solidFill>
          <a:ln/>
        </p:spPr>
      </p:sp>
      <p:sp>
        <p:nvSpPr>
          <p:cNvPr id="6" name="Text 4"/>
          <p:cNvSpPr/>
          <p:nvPr/>
        </p:nvSpPr>
        <p:spPr>
          <a:xfrm>
            <a:off x="274320" y="914400"/>
            <a:ext cx="5120640" cy="365760"/>
          </a:xfrm>
          <a:prstGeom prst="rect">
            <a:avLst/>
          </a:prstGeom>
          <a:noFill/>
          <a:ln/>
        </p:spPr>
        <p:txBody>
          <a:bodyPr wrap="square" lIns="0" tIns="0" rIns="0" bIns="0" rtlCol="0" anchor="ctr"/>
          <a:lstStyle/>
          <a:p>
            <a:pPr indent="0" marL="0">
              <a:buNone/>
            </a:pPr>
            <a:r>
              <a:rPr lang="en-US" sz="1200" b="1" dirty="0">
                <a:solidFill>
                  <a:srgbClr val="FFFFFF"/>
                </a:solidFill>
              </a:rPr>
              <a:t>ESPECIFICACIÓN semopy v2.0</a:t>
            </a:r>
            <a:endParaRPr lang="en-US" sz="1200" dirty="0"/>
          </a:p>
        </p:txBody>
      </p:sp>
      <p:sp>
        <p:nvSpPr>
          <p:cNvPr id="7" name="Text 5"/>
          <p:cNvSpPr/>
          <p:nvPr/>
        </p:nvSpPr>
        <p:spPr>
          <a:xfrm>
            <a:off x="274320" y="1371600"/>
            <a:ext cx="5120640" cy="4754880"/>
          </a:xfrm>
          <a:prstGeom prst="rect">
            <a:avLst/>
          </a:prstGeom>
          <a:noFill/>
          <a:ln/>
        </p:spPr>
        <p:txBody>
          <a:bodyPr wrap="square" lIns="0" tIns="0" rIns="0" bIns="0" rtlCol="0" anchor="ctr"/>
          <a:lstStyle/>
          <a:p>
            <a:pPr indent="0" marL="0">
              <a:buNone/>
            </a:pPr>
            <a:r>
              <a:rPr lang="en-US" sz="950" dirty="0">
                <a:solidFill>
                  <a:srgbClr val="4B0082"/>
                </a:solidFill>
                <a:latin typeface="Consolas" pitchFamily="34" charset="0"/>
                <a:ea typeface="Consolas" pitchFamily="34" charset="-122"/>
                <a:cs typeface="Consolas" pitchFamily="34" charset="-120"/>
              </a:rPr>
              <a:t>xi1  =~  y1+y2+y3+y4  # Violencia Discursiva</a:t>
            </a: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             # Habermas+Galtung</a:t>
            </a: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xi2  =~  y5+y6         # Contexto Inst.</a:t>
            </a:r>
            <a:endParaRPr lang="en-US" sz="950" dirty="0"/>
          </a:p>
          <a:p>
            <a:pPr indent="0" marL="0">
              <a:buNone/>
            </a:pP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eta1 =~  y7+y8+y9      # DIS Score</a:t>
            </a: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             # Fricker (hermenéutica)</a:t>
            </a: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eta2 =~  y10+y11+y12   # Trans. Epistémica</a:t>
            </a: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             # Fraser (reconocimiento)</a:t>
            </a:r>
            <a:endParaRPr lang="en-US" sz="950" dirty="0"/>
          </a:p>
          <a:p>
            <a:pPr indent="0" marL="0">
              <a:buNone/>
            </a:pP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 Paths estructurales</a:t>
            </a: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eta1  ~  xi1+xi2        # H1 H2</a:t>
            </a: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eta2  ~  eta1           # H3 beta_23&lt;0</a:t>
            </a:r>
            <a:endParaRPr lang="en-US" sz="950" dirty="0"/>
          </a:p>
          <a:p>
            <a:pPr indent="0" marL="0">
              <a:buNone/>
            </a:pP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xi1  ~~  xi2            # covarianza</a:t>
            </a:r>
            <a:endParaRPr lang="en-US" sz="950" dirty="0"/>
          </a:p>
          <a:p>
            <a:pPr indent="0" marL="0">
              <a:buNone/>
            </a:pP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 MLW · Bootstrap B=10,000</a:t>
            </a:r>
            <a:endParaRPr lang="en-US" sz="950" dirty="0"/>
          </a:p>
          <a:p>
            <a:pPr indent="0" marL="0">
              <a:buNone/>
            </a:pPr>
            <a:r>
              <a:rPr lang="en-US" sz="950" dirty="0">
                <a:solidFill>
                  <a:srgbClr val="4B0082"/>
                </a:solidFill>
                <a:latin typeface="Consolas" pitchFamily="34" charset="0"/>
                <a:ea typeface="Consolas" pitchFamily="34" charset="-122"/>
                <a:cs typeface="Consolas" pitchFamily="34" charset="-120"/>
              </a:rPr>
              <a:t># IC 95% percentil beta_23</a:t>
            </a:r>
            <a:endParaRPr lang="en-US" sz="950" dirty="0"/>
          </a:p>
        </p:txBody>
      </p:sp>
      <p:sp>
        <p:nvSpPr>
          <p:cNvPr id="8" name="Shape 6"/>
          <p:cNvSpPr/>
          <p:nvPr/>
        </p:nvSpPr>
        <p:spPr>
          <a:xfrm>
            <a:off x="5760720" y="914400"/>
            <a:ext cx="621792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5760720" y="914400"/>
            <a:ext cx="6217920" cy="365760"/>
          </a:xfrm>
          <a:prstGeom prst="rect">
            <a:avLst/>
          </a:prstGeom>
          <a:solidFill>
            <a:srgbClr val="1F4E79"/>
          </a:solidFill>
          <a:ln/>
        </p:spPr>
      </p:sp>
      <p:sp>
        <p:nvSpPr>
          <p:cNvPr id="10" name="Text 8"/>
          <p:cNvSpPr/>
          <p:nvPr/>
        </p:nvSpPr>
        <p:spPr>
          <a:xfrm>
            <a:off x="5852160" y="914400"/>
            <a:ext cx="6035040" cy="365760"/>
          </a:xfrm>
          <a:prstGeom prst="rect">
            <a:avLst/>
          </a:prstGeom>
          <a:noFill/>
          <a:ln/>
        </p:spPr>
        <p:txBody>
          <a:bodyPr wrap="square" lIns="0" tIns="0" rIns="0" bIns="0" rtlCol="0" anchor="ctr"/>
          <a:lstStyle/>
          <a:p>
            <a:pPr indent="0" marL="0">
              <a:buNone/>
            </a:pPr>
            <a:r>
              <a:rPr lang="en-US" sz="1200" b="1" dirty="0">
                <a:solidFill>
                  <a:srgbClr val="FFFFFF"/>
                </a:solidFill>
              </a:rPr>
              <a:t>HIPÓTESIS Y ANCLAJE TEÓRICO</a:t>
            </a:r>
            <a:endParaRPr lang="en-US" sz="1200" dirty="0"/>
          </a:p>
        </p:txBody>
      </p:sp>
      <p:sp>
        <p:nvSpPr>
          <p:cNvPr id="11" name="Shape 9"/>
          <p:cNvSpPr/>
          <p:nvPr/>
        </p:nvSpPr>
        <p:spPr>
          <a:xfrm>
            <a:off x="5852160" y="1371600"/>
            <a:ext cx="411480" cy="594360"/>
          </a:xfrm>
          <a:prstGeom prst="rect">
            <a:avLst/>
          </a:prstGeom>
          <a:solidFill>
            <a:srgbClr val="2E75B6"/>
          </a:solidFill>
          <a:ln/>
        </p:spPr>
      </p:sp>
      <p:sp>
        <p:nvSpPr>
          <p:cNvPr id="12" name="Text 10"/>
          <p:cNvSpPr/>
          <p:nvPr/>
        </p:nvSpPr>
        <p:spPr>
          <a:xfrm>
            <a:off x="5852160" y="1371600"/>
            <a:ext cx="411480" cy="594360"/>
          </a:xfrm>
          <a:prstGeom prst="rect">
            <a:avLst/>
          </a:prstGeom>
          <a:noFill/>
          <a:ln/>
        </p:spPr>
        <p:txBody>
          <a:bodyPr wrap="square" lIns="0" tIns="0" rIns="0" bIns="0" rtlCol="0" anchor="ctr"/>
          <a:lstStyle/>
          <a:p>
            <a:pPr algn="ctr" indent="0" marL="0">
              <a:buNone/>
            </a:pPr>
            <a:r>
              <a:rPr lang="en-US" sz="1100" b="1" dirty="0">
                <a:solidFill>
                  <a:srgbClr val="FFFFFF"/>
                </a:solidFill>
              </a:rPr>
              <a:t>H₁</a:t>
            </a:r>
            <a:endParaRPr lang="en-US" sz="1100" dirty="0"/>
          </a:p>
        </p:txBody>
      </p:sp>
      <p:sp>
        <p:nvSpPr>
          <p:cNvPr id="13" name="Text 11"/>
          <p:cNvSpPr/>
          <p:nvPr/>
        </p:nvSpPr>
        <p:spPr>
          <a:xfrm>
            <a:off x="6355080" y="1389888"/>
            <a:ext cx="1645920" cy="256032"/>
          </a:xfrm>
          <a:prstGeom prst="rect">
            <a:avLst/>
          </a:prstGeom>
          <a:noFill/>
          <a:ln/>
        </p:spPr>
        <p:txBody>
          <a:bodyPr wrap="square" lIns="0" tIns="0" rIns="0" bIns="0" rtlCol="0" anchor="ctr"/>
          <a:lstStyle/>
          <a:p>
            <a:pPr indent="0" marL="0">
              <a:buNone/>
            </a:pPr>
            <a:r>
              <a:rPr lang="en-US" sz="1000" b="1" dirty="0">
                <a:solidFill>
                  <a:srgbClr val="4B0082"/>
                </a:solidFill>
                <a:latin typeface="Consolas" pitchFamily="34" charset="0"/>
                <a:ea typeface="Consolas" pitchFamily="34" charset="-122"/>
                <a:cs typeface="Consolas" pitchFamily="34" charset="-120"/>
              </a:rPr>
              <a:t>γ₁₁&gt;0</a:t>
            </a:r>
            <a:endParaRPr lang="en-US" sz="1000" dirty="0"/>
          </a:p>
        </p:txBody>
      </p:sp>
      <p:sp>
        <p:nvSpPr>
          <p:cNvPr id="14" name="Text 12"/>
          <p:cNvSpPr/>
          <p:nvPr/>
        </p:nvSpPr>
        <p:spPr>
          <a:xfrm>
            <a:off x="6355080" y="1645920"/>
            <a:ext cx="5212080" cy="256032"/>
          </a:xfrm>
          <a:prstGeom prst="rect">
            <a:avLst/>
          </a:prstGeom>
          <a:noFill/>
          <a:ln/>
        </p:spPr>
        <p:txBody>
          <a:bodyPr wrap="square" lIns="0" tIns="0" rIns="0" bIns="0" rtlCol="0" anchor="ctr"/>
          <a:lstStyle/>
          <a:p>
            <a:pPr indent="0" marL="0">
              <a:buNone/>
            </a:pPr>
            <a:r>
              <a:rPr lang="en-US" sz="900" dirty="0">
                <a:solidFill>
                  <a:srgbClr val="6B7280"/>
                </a:solidFill>
              </a:rPr>
              <a:t>Habermas: ξ₁ Violencia Discursiva → η₁ DIS Score</a:t>
            </a:r>
            <a:endParaRPr lang="en-US" sz="900" dirty="0"/>
          </a:p>
        </p:txBody>
      </p:sp>
      <p:sp>
        <p:nvSpPr>
          <p:cNvPr id="15" name="Text 13"/>
          <p:cNvSpPr/>
          <p:nvPr/>
        </p:nvSpPr>
        <p:spPr>
          <a:xfrm>
            <a:off x="10789920" y="1389888"/>
            <a:ext cx="1097280" cy="256032"/>
          </a:xfrm>
          <a:prstGeom prst="rect">
            <a:avLst/>
          </a:prstGeom>
          <a:noFill/>
          <a:ln/>
        </p:spPr>
        <p:txBody>
          <a:bodyPr wrap="square" lIns="0" tIns="0" rIns="0" bIns="0" rtlCol="0" anchor="ctr"/>
          <a:lstStyle/>
          <a:p>
            <a:pPr algn="ctr" indent="0" marL="0">
              <a:buNone/>
            </a:pPr>
            <a:r>
              <a:rPr lang="en-US" sz="1100" dirty="0">
                <a:solidFill>
                  <a:srgbClr val="217346"/>
                </a:solidFill>
              </a:rPr>
              <a:t>✅</a:t>
            </a:r>
            <a:endParaRPr lang="en-US" sz="1100" dirty="0"/>
          </a:p>
        </p:txBody>
      </p:sp>
      <p:sp>
        <p:nvSpPr>
          <p:cNvPr id="16" name="Shape 14"/>
          <p:cNvSpPr/>
          <p:nvPr/>
        </p:nvSpPr>
        <p:spPr>
          <a:xfrm>
            <a:off x="5852160" y="2084832"/>
            <a:ext cx="411480" cy="594360"/>
          </a:xfrm>
          <a:prstGeom prst="rect">
            <a:avLst/>
          </a:prstGeom>
          <a:solidFill>
            <a:srgbClr val="2E75B6"/>
          </a:solidFill>
          <a:ln/>
        </p:spPr>
      </p:sp>
      <p:sp>
        <p:nvSpPr>
          <p:cNvPr id="17" name="Text 15"/>
          <p:cNvSpPr/>
          <p:nvPr/>
        </p:nvSpPr>
        <p:spPr>
          <a:xfrm>
            <a:off x="5852160" y="2084832"/>
            <a:ext cx="411480" cy="594360"/>
          </a:xfrm>
          <a:prstGeom prst="rect">
            <a:avLst/>
          </a:prstGeom>
          <a:noFill/>
          <a:ln/>
        </p:spPr>
        <p:txBody>
          <a:bodyPr wrap="square" lIns="0" tIns="0" rIns="0" bIns="0" rtlCol="0" anchor="ctr"/>
          <a:lstStyle/>
          <a:p>
            <a:pPr algn="ctr" indent="0" marL="0">
              <a:buNone/>
            </a:pPr>
            <a:r>
              <a:rPr lang="en-US" sz="1100" b="1" dirty="0">
                <a:solidFill>
                  <a:srgbClr val="FFFFFF"/>
                </a:solidFill>
              </a:rPr>
              <a:t>H₂</a:t>
            </a:r>
            <a:endParaRPr lang="en-US" sz="1100" dirty="0"/>
          </a:p>
        </p:txBody>
      </p:sp>
      <p:sp>
        <p:nvSpPr>
          <p:cNvPr id="18" name="Text 16"/>
          <p:cNvSpPr/>
          <p:nvPr/>
        </p:nvSpPr>
        <p:spPr>
          <a:xfrm>
            <a:off x="6355080" y="2103120"/>
            <a:ext cx="1645920" cy="256032"/>
          </a:xfrm>
          <a:prstGeom prst="rect">
            <a:avLst/>
          </a:prstGeom>
          <a:noFill/>
          <a:ln/>
        </p:spPr>
        <p:txBody>
          <a:bodyPr wrap="square" lIns="0" tIns="0" rIns="0" bIns="0" rtlCol="0" anchor="ctr"/>
          <a:lstStyle/>
          <a:p>
            <a:pPr indent="0" marL="0">
              <a:buNone/>
            </a:pPr>
            <a:r>
              <a:rPr lang="en-US" sz="1000" b="1" dirty="0">
                <a:solidFill>
                  <a:srgbClr val="4B0082"/>
                </a:solidFill>
                <a:latin typeface="Consolas" pitchFamily="34" charset="0"/>
                <a:ea typeface="Consolas" pitchFamily="34" charset="-122"/>
                <a:cs typeface="Consolas" pitchFamily="34" charset="-120"/>
              </a:rPr>
              <a:t>γ₂₁≠0</a:t>
            </a:r>
            <a:endParaRPr lang="en-US" sz="1000" dirty="0"/>
          </a:p>
        </p:txBody>
      </p:sp>
      <p:sp>
        <p:nvSpPr>
          <p:cNvPr id="19" name="Text 17"/>
          <p:cNvSpPr/>
          <p:nvPr/>
        </p:nvSpPr>
        <p:spPr>
          <a:xfrm>
            <a:off x="6355080" y="2359152"/>
            <a:ext cx="5212080" cy="256032"/>
          </a:xfrm>
          <a:prstGeom prst="rect">
            <a:avLst/>
          </a:prstGeom>
          <a:noFill/>
          <a:ln/>
        </p:spPr>
        <p:txBody>
          <a:bodyPr wrap="square" lIns="0" tIns="0" rIns="0" bIns="0" rtlCol="0" anchor="ctr"/>
          <a:lstStyle/>
          <a:p>
            <a:pPr indent="0" marL="0">
              <a:buNone/>
            </a:pPr>
            <a:r>
              <a:rPr lang="en-US" sz="900" dirty="0">
                <a:solidFill>
                  <a:srgbClr val="6B7280"/>
                </a:solidFill>
              </a:rPr>
              <a:t>Contexto institucional (A vs B) predice DIS</a:t>
            </a:r>
            <a:endParaRPr lang="en-US" sz="900" dirty="0"/>
          </a:p>
        </p:txBody>
      </p:sp>
      <p:sp>
        <p:nvSpPr>
          <p:cNvPr id="20" name="Text 18"/>
          <p:cNvSpPr/>
          <p:nvPr/>
        </p:nvSpPr>
        <p:spPr>
          <a:xfrm>
            <a:off x="10789920" y="2103120"/>
            <a:ext cx="1097280" cy="256032"/>
          </a:xfrm>
          <a:prstGeom prst="rect">
            <a:avLst/>
          </a:prstGeom>
          <a:noFill/>
          <a:ln/>
        </p:spPr>
        <p:txBody>
          <a:bodyPr wrap="square" lIns="0" tIns="0" rIns="0" bIns="0" rtlCol="0" anchor="ctr"/>
          <a:lstStyle/>
          <a:p>
            <a:pPr algn="ctr" indent="0" marL="0">
              <a:buNone/>
            </a:pPr>
            <a:r>
              <a:rPr lang="en-US" sz="1100" dirty="0">
                <a:solidFill>
                  <a:srgbClr val="217346"/>
                </a:solidFill>
              </a:rPr>
              <a:t>✅</a:t>
            </a:r>
            <a:endParaRPr lang="en-US" sz="1100" dirty="0"/>
          </a:p>
        </p:txBody>
      </p:sp>
      <p:sp>
        <p:nvSpPr>
          <p:cNvPr id="21" name="Shape 19"/>
          <p:cNvSpPr/>
          <p:nvPr/>
        </p:nvSpPr>
        <p:spPr>
          <a:xfrm>
            <a:off x="5852160" y="2798064"/>
            <a:ext cx="411480" cy="594360"/>
          </a:xfrm>
          <a:prstGeom prst="rect">
            <a:avLst/>
          </a:prstGeom>
          <a:solidFill>
            <a:srgbClr val="6B3FA0"/>
          </a:solidFill>
          <a:ln/>
        </p:spPr>
      </p:sp>
      <p:sp>
        <p:nvSpPr>
          <p:cNvPr id="22" name="Text 20"/>
          <p:cNvSpPr/>
          <p:nvPr/>
        </p:nvSpPr>
        <p:spPr>
          <a:xfrm>
            <a:off x="5852160" y="2798064"/>
            <a:ext cx="411480" cy="594360"/>
          </a:xfrm>
          <a:prstGeom prst="rect">
            <a:avLst/>
          </a:prstGeom>
          <a:noFill/>
          <a:ln/>
        </p:spPr>
        <p:txBody>
          <a:bodyPr wrap="square" lIns="0" tIns="0" rIns="0" bIns="0" rtlCol="0" anchor="ctr"/>
          <a:lstStyle/>
          <a:p>
            <a:pPr algn="ctr" indent="0" marL="0">
              <a:buNone/>
            </a:pPr>
            <a:r>
              <a:rPr lang="en-US" sz="1100" b="1" dirty="0">
                <a:solidFill>
                  <a:srgbClr val="FFFFFF"/>
                </a:solidFill>
              </a:rPr>
              <a:t>H₃</a:t>
            </a:r>
            <a:endParaRPr lang="en-US" sz="1100" dirty="0"/>
          </a:p>
        </p:txBody>
      </p:sp>
      <p:sp>
        <p:nvSpPr>
          <p:cNvPr id="23" name="Text 21"/>
          <p:cNvSpPr/>
          <p:nvPr/>
        </p:nvSpPr>
        <p:spPr>
          <a:xfrm>
            <a:off x="6355080" y="2816352"/>
            <a:ext cx="1645920" cy="256032"/>
          </a:xfrm>
          <a:prstGeom prst="rect">
            <a:avLst/>
          </a:prstGeom>
          <a:noFill/>
          <a:ln/>
        </p:spPr>
        <p:txBody>
          <a:bodyPr wrap="square" lIns="0" tIns="0" rIns="0" bIns="0" rtlCol="0" anchor="ctr"/>
          <a:lstStyle/>
          <a:p>
            <a:pPr indent="0" marL="0">
              <a:buNone/>
            </a:pPr>
            <a:r>
              <a:rPr lang="en-US" sz="1000" b="1" dirty="0">
                <a:solidFill>
                  <a:srgbClr val="4B0082"/>
                </a:solidFill>
                <a:latin typeface="Consolas" pitchFamily="34" charset="0"/>
                <a:ea typeface="Consolas" pitchFamily="34" charset="-122"/>
                <a:cs typeface="Consolas" pitchFamily="34" charset="-120"/>
              </a:rPr>
              <a:t>β₂₃&lt;0</a:t>
            </a:r>
            <a:endParaRPr lang="en-US" sz="1000" dirty="0"/>
          </a:p>
        </p:txBody>
      </p:sp>
      <p:sp>
        <p:nvSpPr>
          <p:cNvPr id="24" name="Text 22"/>
          <p:cNvSpPr/>
          <p:nvPr/>
        </p:nvSpPr>
        <p:spPr>
          <a:xfrm>
            <a:off x="6355080" y="3072384"/>
            <a:ext cx="5212080" cy="256032"/>
          </a:xfrm>
          <a:prstGeom prst="rect">
            <a:avLst/>
          </a:prstGeom>
          <a:noFill/>
          <a:ln/>
        </p:spPr>
        <p:txBody>
          <a:bodyPr wrap="square" lIns="0" tIns="0" rIns="0" bIns="0" rtlCol="0" anchor="ctr"/>
          <a:lstStyle/>
          <a:p>
            <a:pPr indent="0" marL="0">
              <a:buNone/>
            </a:pPr>
            <a:r>
              <a:rPr lang="en-US" sz="900" dirty="0">
                <a:solidFill>
                  <a:srgbClr val="6B7280"/>
                </a:solidFill>
              </a:rPr>
              <a:t>Fricker+Fraser: DIS alto → menor transición epistémica (CENTRAL)</a:t>
            </a:r>
            <a:endParaRPr lang="en-US" sz="900" dirty="0"/>
          </a:p>
        </p:txBody>
      </p:sp>
      <p:sp>
        <p:nvSpPr>
          <p:cNvPr id="25" name="Text 23"/>
          <p:cNvSpPr/>
          <p:nvPr/>
        </p:nvSpPr>
        <p:spPr>
          <a:xfrm>
            <a:off x="10789920" y="2816352"/>
            <a:ext cx="1097280" cy="256032"/>
          </a:xfrm>
          <a:prstGeom prst="rect">
            <a:avLst/>
          </a:prstGeom>
          <a:noFill/>
          <a:ln/>
        </p:spPr>
        <p:txBody>
          <a:bodyPr wrap="square" lIns="0" tIns="0" rIns="0" bIns="0" rtlCol="0" anchor="ctr"/>
          <a:lstStyle/>
          <a:p>
            <a:pPr algn="ctr" indent="0" marL="0">
              <a:buNone/>
            </a:pPr>
            <a:r>
              <a:rPr lang="en-US" sz="1100" dirty="0">
                <a:solidFill>
                  <a:srgbClr val="B5450B"/>
                </a:solidFill>
              </a:rPr>
              <a:t>⏳</a:t>
            </a:r>
            <a:endParaRPr lang="en-US" sz="1100" dirty="0"/>
          </a:p>
        </p:txBody>
      </p:sp>
      <p:sp>
        <p:nvSpPr>
          <p:cNvPr id="26" name="Shape 24"/>
          <p:cNvSpPr/>
          <p:nvPr/>
        </p:nvSpPr>
        <p:spPr>
          <a:xfrm>
            <a:off x="5760720" y="3749040"/>
            <a:ext cx="6217920" cy="2651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7" name="Shape 25"/>
          <p:cNvSpPr/>
          <p:nvPr/>
        </p:nvSpPr>
        <p:spPr>
          <a:xfrm>
            <a:off x="5760720" y="3749040"/>
            <a:ext cx="6217920" cy="347472"/>
          </a:xfrm>
          <a:prstGeom prst="rect">
            <a:avLst/>
          </a:prstGeom>
          <a:solidFill>
            <a:srgbClr val="1F4E79"/>
          </a:solidFill>
          <a:ln/>
        </p:spPr>
      </p:sp>
      <p:sp>
        <p:nvSpPr>
          <p:cNvPr id="28" name="Text 26"/>
          <p:cNvSpPr/>
          <p:nvPr/>
        </p:nvSpPr>
        <p:spPr>
          <a:xfrm>
            <a:off x="5852160" y="3749040"/>
            <a:ext cx="6035040" cy="347472"/>
          </a:xfrm>
          <a:prstGeom prst="rect">
            <a:avLst/>
          </a:prstGeom>
          <a:noFill/>
          <a:ln/>
        </p:spPr>
        <p:txBody>
          <a:bodyPr wrap="square" lIns="0" tIns="0" rIns="0" bIns="0" rtlCol="0" anchor="ctr"/>
          <a:lstStyle/>
          <a:p>
            <a:pPr indent="0" marL="0">
              <a:buNone/>
            </a:pPr>
            <a:r>
              <a:rPr lang="en-US" sz="1200" b="1" dirty="0">
                <a:solidFill>
                  <a:srgbClr val="FFFFFF"/>
                </a:solidFill>
              </a:rPr>
              <a:t>ESTADO INDICADORES (8/11)</a:t>
            </a:r>
            <a:endParaRPr lang="en-US" sz="1200" dirty="0"/>
          </a:p>
        </p:txBody>
      </p:sp>
      <p:sp>
        <p:nvSpPr>
          <p:cNvPr id="29" name="Shape 27"/>
          <p:cNvSpPr/>
          <p:nvPr/>
        </p:nvSpPr>
        <p:spPr>
          <a:xfrm>
            <a:off x="5852160" y="4187952"/>
            <a:ext cx="292608" cy="320040"/>
          </a:xfrm>
          <a:prstGeom prst="rect">
            <a:avLst/>
          </a:prstGeom>
          <a:solidFill>
            <a:srgbClr val="B5450B"/>
          </a:solidFill>
          <a:ln/>
        </p:spPr>
      </p:sp>
      <p:sp>
        <p:nvSpPr>
          <p:cNvPr id="30" name="Text 28"/>
          <p:cNvSpPr/>
          <p:nvPr/>
        </p:nvSpPr>
        <p:spPr>
          <a:xfrm>
            <a:off x="5852160" y="4187952"/>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rPr>
              <a:t>y₁</a:t>
            </a:r>
            <a:endParaRPr lang="en-US" sz="800" dirty="0"/>
          </a:p>
        </p:txBody>
      </p:sp>
      <p:sp>
        <p:nvSpPr>
          <p:cNvPr id="31" name="Text 29"/>
          <p:cNvSpPr/>
          <p:nvPr/>
        </p:nvSpPr>
        <p:spPr>
          <a:xfrm>
            <a:off x="6190488" y="4206240"/>
            <a:ext cx="2606040" cy="292608"/>
          </a:xfrm>
          <a:prstGeom prst="rect">
            <a:avLst/>
          </a:prstGeom>
          <a:noFill/>
          <a:ln/>
        </p:spPr>
        <p:txBody>
          <a:bodyPr wrap="square" lIns="0" tIns="0" rIns="0" bIns="0" rtlCol="0" anchor="ctr"/>
          <a:lstStyle/>
          <a:p>
            <a:pPr indent="0" marL="0">
              <a:buNone/>
            </a:pPr>
            <a:r>
              <a:rPr lang="en-US" sz="850" dirty="0">
                <a:solidFill>
                  <a:srgbClr val="1A1A2E"/>
                </a:solidFill>
              </a:rPr>
              <a:t>EBI · Habermas+Galtung</a:t>
            </a:r>
            <a:endParaRPr lang="en-US" sz="850" dirty="0"/>
          </a:p>
        </p:txBody>
      </p:sp>
      <p:sp>
        <p:nvSpPr>
          <p:cNvPr id="32" name="Shape 30"/>
          <p:cNvSpPr/>
          <p:nvPr/>
        </p:nvSpPr>
        <p:spPr>
          <a:xfrm>
            <a:off x="8915400" y="4187952"/>
            <a:ext cx="292608" cy="320040"/>
          </a:xfrm>
          <a:prstGeom prst="rect">
            <a:avLst/>
          </a:prstGeom>
          <a:solidFill>
            <a:srgbClr val="217346"/>
          </a:solidFill>
          <a:ln/>
        </p:spPr>
      </p:sp>
      <p:sp>
        <p:nvSpPr>
          <p:cNvPr id="33" name="Text 31"/>
          <p:cNvSpPr/>
          <p:nvPr/>
        </p:nvSpPr>
        <p:spPr>
          <a:xfrm>
            <a:off x="8915400" y="4187952"/>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rPr>
              <a:t>y₂</a:t>
            </a:r>
            <a:endParaRPr lang="en-US" sz="800" dirty="0"/>
          </a:p>
        </p:txBody>
      </p:sp>
      <p:sp>
        <p:nvSpPr>
          <p:cNvPr id="34" name="Text 32"/>
          <p:cNvSpPr/>
          <p:nvPr/>
        </p:nvSpPr>
        <p:spPr>
          <a:xfrm>
            <a:off x="9253728" y="4206240"/>
            <a:ext cx="2606040" cy="292608"/>
          </a:xfrm>
          <a:prstGeom prst="rect">
            <a:avLst/>
          </a:prstGeom>
          <a:noFill/>
          <a:ln/>
        </p:spPr>
        <p:txBody>
          <a:bodyPr wrap="square" lIns="0" tIns="0" rIns="0" bIns="0" rtlCol="0" anchor="ctr"/>
          <a:lstStyle/>
          <a:p>
            <a:pPr indent="0" marL="0">
              <a:buNone/>
            </a:pPr>
            <a:r>
              <a:rPr lang="en-US" sz="850" dirty="0">
                <a:solidFill>
                  <a:srgbClr val="1A1A2E"/>
                </a:solidFill>
              </a:rPr>
              <a:t>SA · Habermas</a:t>
            </a:r>
            <a:endParaRPr lang="en-US" sz="850" dirty="0"/>
          </a:p>
        </p:txBody>
      </p:sp>
      <p:sp>
        <p:nvSpPr>
          <p:cNvPr id="35" name="Shape 33"/>
          <p:cNvSpPr/>
          <p:nvPr/>
        </p:nvSpPr>
        <p:spPr>
          <a:xfrm>
            <a:off x="5852160" y="4645152"/>
            <a:ext cx="292608" cy="320040"/>
          </a:xfrm>
          <a:prstGeom prst="rect">
            <a:avLst/>
          </a:prstGeom>
          <a:solidFill>
            <a:srgbClr val="217346"/>
          </a:solidFill>
          <a:ln/>
        </p:spPr>
      </p:sp>
      <p:sp>
        <p:nvSpPr>
          <p:cNvPr id="36" name="Text 34"/>
          <p:cNvSpPr/>
          <p:nvPr/>
        </p:nvSpPr>
        <p:spPr>
          <a:xfrm>
            <a:off x="5852160" y="4645152"/>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rPr>
              <a:t>y₃</a:t>
            </a:r>
            <a:endParaRPr lang="en-US" sz="800" dirty="0"/>
          </a:p>
        </p:txBody>
      </p:sp>
      <p:sp>
        <p:nvSpPr>
          <p:cNvPr id="37" name="Text 35"/>
          <p:cNvSpPr/>
          <p:nvPr/>
        </p:nvSpPr>
        <p:spPr>
          <a:xfrm>
            <a:off x="6190488" y="4663440"/>
            <a:ext cx="2606040" cy="292608"/>
          </a:xfrm>
          <a:prstGeom prst="rect">
            <a:avLst/>
          </a:prstGeom>
          <a:noFill/>
          <a:ln/>
        </p:spPr>
        <p:txBody>
          <a:bodyPr wrap="square" lIns="0" tIns="0" rIns="0" bIns="0" rtlCol="0" anchor="ctr"/>
          <a:lstStyle/>
          <a:p>
            <a:pPr indent="0" marL="0">
              <a:buNone/>
            </a:pPr>
            <a:r>
              <a:rPr lang="en-US" sz="850" dirty="0">
                <a:solidFill>
                  <a:srgbClr val="1A1A2E"/>
                </a:solidFill>
              </a:rPr>
              <a:t>Civil · Fraser</a:t>
            </a:r>
            <a:endParaRPr lang="en-US" sz="850" dirty="0"/>
          </a:p>
        </p:txBody>
      </p:sp>
      <p:sp>
        <p:nvSpPr>
          <p:cNvPr id="38" name="Shape 36"/>
          <p:cNvSpPr/>
          <p:nvPr/>
        </p:nvSpPr>
        <p:spPr>
          <a:xfrm>
            <a:off x="8915400" y="4645152"/>
            <a:ext cx="292608" cy="320040"/>
          </a:xfrm>
          <a:prstGeom prst="rect">
            <a:avLst/>
          </a:prstGeom>
          <a:solidFill>
            <a:srgbClr val="217346"/>
          </a:solidFill>
          <a:ln/>
        </p:spPr>
      </p:sp>
      <p:sp>
        <p:nvSpPr>
          <p:cNvPr id="39" name="Text 37"/>
          <p:cNvSpPr/>
          <p:nvPr/>
        </p:nvSpPr>
        <p:spPr>
          <a:xfrm>
            <a:off x="8915400" y="4645152"/>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rPr>
              <a:t>y₄</a:t>
            </a:r>
            <a:endParaRPr lang="en-US" sz="800" dirty="0"/>
          </a:p>
        </p:txBody>
      </p:sp>
      <p:sp>
        <p:nvSpPr>
          <p:cNvPr id="40" name="Text 38"/>
          <p:cNvSpPr/>
          <p:nvPr/>
        </p:nvSpPr>
        <p:spPr>
          <a:xfrm>
            <a:off x="9253728" y="4663440"/>
            <a:ext cx="2606040" cy="292608"/>
          </a:xfrm>
          <a:prstGeom prst="rect">
            <a:avLst/>
          </a:prstGeom>
          <a:noFill/>
          <a:ln/>
        </p:spPr>
        <p:txBody>
          <a:bodyPr wrap="square" lIns="0" tIns="0" rIns="0" bIns="0" rtlCol="0" anchor="ctr"/>
          <a:lstStyle/>
          <a:p>
            <a:pPr indent="0" marL="0">
              <a:buNone/>
            </a:pPr>
            <a:r>
              <a:rPr lang="en-US" sz="850" dirty="0">
                <a:solidFill>
                  <a:srgbClr val="1A1A2E"/>
                </a:solidFill>
              </a:rPr>
              <a:t>NV · Fricker+Galtung</a:t>
            </a:r>
            <a:endParaRPr lang="en-US" sz="850" dirty="0"/>
          </a:p>
        </p:txBody>
      </p:sp>
      <p:sp>
        <p:nvSpPr>
          <p:cNvPr id="41" name="Shape 39"/>
          <p:cNvSpPr/>
          <p:nvPr/>
        </p:nvSpPr>
        <p:spPr>
          <a:xfrm>
            <a:off x="5852160" y="5102352"/>
            <a:ext cx="292608" cy="320040"/>
          </a:xfrm>
          <a:prstGeom prst="rect">
            <a:avLst/>
          </a:prstGeom>
          <a:solidFill>
            <a:srgbClr val="B5450B"/>
          </a:solidFill>
          <a:ln/>
        </p:spPr>
      </p:sp>
      <p:sp>
        <p:nvSpPr>
          <p:cNvPr id="42" name="Text 40"/>
          <p:cNvSpPr/>
          <p:nvPr/>
        </p:nvSpPr>
        <p:spPr>
          <a:xfrm>
            <a:off x="5852160" y="5102352"/>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rPr>
              <a:t>y₇</a:t>
            </a:r>
            <a:endParaRPr lang="en-US" sz="800" dirty="0"/>
          </a:p>
        </p:txBody>
      </p:sp>
      <p:sp>
        <p:nvSpPr>
          <p:cNvPr id="43" name="Text 41"/>
          <p:cNvSpPr/>
          <p:nvPr/>
        </p:nvSpPr>
        <p:spPr>
          <a:xfrm>
            <a:off x="6190488" y="5120640"/>
            <a:ext cx="2606040" cy="292608"/>
          </a:xfrm>
          <a:prstGeom prst="rect">
            <a:avLst/>
          </a:prstGeom>
          <a:noFill/>
          <a:ln/>
        </p:spPr>
        <p:txBody>
          <a:bodyPr wrap="square" lIns="0" tIns="0" rIns="0" bIns="0" rtlCol="0" anchor="ctr"/>
          <a:lstStyle/>
          <a:p>
            <a:pPr indent="0" marL="0">
              <a:buNone/>
            </a:pPr>
            <a:r>
              <a:rPr lang="en-US" sz="850" dirty="0">
                <a:solidFill>
                  <a:srgbClr val="1A1A2E"/>
                </a:solidFill>
              </a:rPr>
              <a:t>Surprisal · Habermas</a:t>
            </a:r>
            <a:endParaRPr lang="en-US" sz="850" dirty="0"/>
          </a:p>
        </p:txBody>
      </p:sp>
      <p:sp>
        <p:nvSpPr>
          <p:cNvPr id="44" name="Shape 42"/>
          <p:cNvSpPr/>
          <p:nvPr/>
        </p:nvSpPr>
        <p:spPr>
          <a:xfrm>
            <a:off x="8915400" y="5102352"/>
            <a:ext cx="292608" cy="320040"/>
          </a:xfrm>
          <a:prstGeom prst="rect">
            <a:avLst/>
          </a:prstGeom>
          <a:solidFill>
            <a:srgbClr val="217346"/>
          </a:solidFill>
          <a:ln/>
        </p:spPr>
      </p:sp>
      <p:sp>
        <p:nvSpPr>
          <p:cNvPr id="45" name="Text 43"/>
          <p:cNvSpPr/>
          <p:nvPr/>
        </p:nvSpPr>
        <p:spPr>
          <a:xfrm>
            <a:off x="8915400" y="5102352"/>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rPr>
              <a:t>y₈</a:t>
            </a:r>
            <a:endParaRPr lang="en-US" sz="800" dirty="0"/>
          </a:p>
        </p:txBody>
      </p:sp>
      <p:sp>
        <p:nvSpPr>
          <p:cNvPr id="46" name="Text 44"/>
          <p:cNvSpPr/>
          <p:nvPr/>
        </p:nvSpPr>
        <p:spPr>
          <a:xfrm>
            <a:off x="9253728" y="5120640"/>
            <a:ext cx="2606040" cy="292608"/>
          </a:xfrm>
          <a:prstGeom prst="rect">
            <a:avLst/>
          </a:prstGeom>
          <a:noFill/>
          <a:ln/>
        </p:spPr>
        <p:txBody>
          <a:bodyPr wrap="square" lIns="0" tIns="0" rIns="0" bIns="0" rtlCol="0" anchor="ctr"/>
          <a:lstStyle/>
          <a:p>
            <a:pPr indent="0" marL="0">
              <a:buNone/>
            </a:pPr>
            <a:r>
              <a:rPr lang="en-US" sz="850" dirty="0">
                <a:solidFill>
                  <a:srgbClr val="1A1A2E"/>
                </a:solidFill>
              </a:rPr>
              <a:t>MAFAPO · Fricker</a:t>
            </a:r>
            <a:endParaRPr lang="en-US" sz="850" dirty="0"/>
          </a:p>
        </p:txBody>
      </p:sp>
      <p:sp>
        <p:nvSpPr>
          <p:cNvPr id="47" name="Shape 45"/>
          <p:cNvSpPr/>
          <p:nvPr/>
        </p:nvSpPr>
        <p:spPr>
          <a:xfrm>
            <a:off x="5852160" y="5559552"/>
            <a:ext cx="292608" cy="320040"/>
          </a:xfrm>
          <a:prstGeom prst="rect">
            <a:avLst/>
          </a:prstGeom>
          <a:solidFill>
            <a:srgbClr val="217346"/>
          </a:solidFill>
          <a:ln/>
        </p:spPr>
      </p:sp>
      <p:sp>
        <p:nvSpPr>
          <p:cNvPr id="48" name="Text 46"/>
          <p:cNvSpPr/>
          <p:nvPr/>
        </p:nvSpPr>
        <p:spPr>
          <a:xfrm>
            <a:off x="5852160" y="5559552"/>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rPr>
              <a:t>y₉</a:t>
            </a:r>
            <a:endParaRPr lang="en-US" sz="800" dirty="0"/>
          </a:p>
        </p:txBody>
      </p:sp>
      <p:sp>
        <p:nvSpPr>
          <p:cNvPr id="49" name="Text 47"/>
          <p:cNvSpPr/>
          <p:nvPr/>
        </p:nvSpPr>
        <p:spPr>
          <a:xfrm>
            <a:off x="6190488" y="5577840"/>
            <a:ext cx="2606040" cy="292608"/>
          </a:xfrm>
          <a:prstGeom prst="rect">
            <a:avLst/>
          </a:prstGeom>
          <a:noFill/>
          <a:ln/>
        </p:spPr>
        <p:txBody>
          <a:bodyPr wrap="square" lIns="0" tIns="0" rIns="0" bIns="0" rtlCol="0" anchor="ctr"/>
          <a:lstStyle/>
          <a:p>
            <a:pPr indent="0" marL="0">
              <a:buNone/>
            </a:pPr>
            <a:r>
              <a:rPr lang="en-US" sz="850" dirty="0">
                <a:solidFill>
                  <a:srgbClr val="1A1A2E"/>
                </a:solidFill>
              </a:rPr>
              <a:t>CIDH · Fraser</a:t>
            </a:r>
            <a:endParaRPr lang="en-US" sz="850" dirty="0"/>
          </a:p>
        </p:txBody>
      </p:sp>
      <p:sp>
        <p:nvSpPr>
          <p:cNvPr id="50" name="Shape 48"/>
          <p:cNvSpPr/>
          <p:nvPr/>
        </p:nvSpPr>
        <p:spPr>
          <a:xfrm>
            <a:off x="8915400" y="5559552"/>
            <a:ext cx="292608" cy="320040"/>
          </a:xfrm>
          <a:prstGeom prst="rect">
            <a:avLst/>
          </a:prstGeom>
          <a:solidFill>
            <a:srgbClr val="217346"/>
          </a:solidFill>
          <a:ln/>
        </p:spPr>
      </p:sp>
      <p:sp>
        <p:nvSpPr>
          <p:cNvPr id="51" name="Text 49"/>
          <p:cNvSpPr/>
          <p:nvPr/>
        </p:nvSpPr>
        <p:spPr>
          <a:xfrm>
            <a:off x="8915400" y="5559552"/>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rPr>
              <a:t>y₁₀</a:t>
            </a:r>
            <a:endParaRPr lang="en-US" sz="800" dirty="0"/>
          </a:p>
        </p:txBody>
      </p:sp>
      <p:sp>
        <p:nvSpPr>
          <p:cNvPr id="52" name="Text 50"/>
          <p:cNvSpPr/>
          <p:nvPr/>
        </p:nvSpPr>
        <p:spPr>
          <a:xfrm>
            <a:off x="9253728" y="5577840"/>
            <a:ext cx="2606040" cy="292608"/>
          </a:xfrm>
          <a:prstGeom prst="rect">
            <a:avLst/>
          </a:prstGeom>
          <a:noFill/>
          <a:ln/>
        </p:spPr>
        <p:txBody>
          <a:bodyPr wrap="square" lIns="0" tIns="0" rIns="0" bIns="0" rtlCol="0" anchor="ctr"/>
          <a:lstStyle/>
          <a:p>
            <a:pPr indent="0" marL="0">
              <a:buNone/>
            </a:pPr>
            <a:r>
              <a:rPr lang="en-US" sz="850" dirty="0">
                <a:solidFill>
                  <a:srgbClr val="1A1A2E"/>
                </a:solidFill>
              </a:rPr>
              <a:t>REP · Fraser+Fricker</a:t>
            </a:r>
            <a:endParaRPr lang="en-US" sz="850" dirty="0"/>
          </a:p>
        </p:txBody>
      </p:sp>
      <p:sp>
        <p:nvSpPr>
          <p:cNvPr id="53" name="Shape 51"/>
          <p:cNvSpPr/>
          <p:nvPr/>
        </p:nvSpPr>
        <p:spPr>
          <a:xfrm>
            <a:off x="5852160" y="6016752"/>
            <a:ext cx="292608" cy="320040"/>
          </a:xfrm>
          <a:prstGeom prst="rect">
            <a:avLst/>
          </a:prstGeom>
          <a:solidFill>
            <a:srgbClr val="B5450B"/>
          </a:solidFill>
          <a:ln/>
        </p:spPr>
      </p:sp>
      <p:sp>
        <p:nvSpPr>
          <p:cNvPr id="54" name="Text 52"/>
          <p:cNvSpPr/>
          <p:nvPr/>
        </p:nvSpPr>
        <p:spPr>
          <a:xfrm>
            <a:off x="5852160" y="6016752"/>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rPr>
              <a:t>y₁₁</a:t>
            </a:r>
            <a:endParaRPr lang="en-US" sz="800" dirty="0"/>
          </a:p>
        </p:txBody>
      </p:sp>
      <p:sp>
        <p:nvSpPr>
          <p:cNvPr id="55" name="Text 53"/>
          <p:cNvSpPr/>
          <p:nvPr/>
        </p:nvSpPr>
        <p:spPr>
          <a:xfrm>
            <a:off x="6190488" y="6035040"/>
            <a:ext cx="2606040" cy="292608"/>
          </a:xfrm>
          <a:prstGeom prst="rect">
            <a:avLst/>
          </a:prstGeom>
          <a:noFill/>
          <a:ln/>
        </p:spPr>
        <p:txBody>
          <a:bodyPr wrap="square" lIns="0" tIns="0" rIns="0" bIns="0" rtlCol="0" anchor="ctr"/>
          <a:lstStyle/>
          <a:p>
            <a:pPr indent="0" marL="0">
              <a:buNone/>
            </a:pPr>
            <a:r>
              <a:rPr lang="en-US" sz="850" dirty="0">
                <a:solidFill>
                  <a:srgbClr val="1A1A2E"/>
                </a:solidFill>
              </a:rPr>
              <a:t>Conv.R. · Fricker</a:t>
            </a:r>
            <a:endParaRPr lang="en-US" sz="850" dirty="0"/>
          </a:p>
        </p:txBody>
      </p:sp>
      <p:sp>
        <p:nvSpPr>
          <p:cNvPr id="56" name="Shape 54"/>
          <p:cNvSpPr/>
          <p:nvPr/>
        </p:nvSpPr>
        <p:spPr>
          <a:xfrm>
            <a:off x="8915400" y="6016752"/>
            <a:ext cx="292608" cy="320040"/>
          </a:xfrm>
          <a:prstGeom prst="rect">
            <a:avLst/>
          </a:prstGeom>
          <a:solidFill>
            <a:srgbClr val="217346"/>
          </a:solidFill>
          <a:ln/>
        </p:spPr>
      </p:sp>
      <p:sp>
        <p:nvSpPr>
          <p:cNvPr id="57" name="Text 55"/>
          <p:cNvSpPr/>
          <p:nvPr/>
        </p:nvSpPr>
        <p:spPr>
          <a:xfrm>
            <a:off x="8915400" y="6016752"/>
            <a:ext cx="292608" cy="320040"/>
          </a:xfrm>
          <a:prstGeom prst="rect">
            <a:avLst/>
          </a:prstGeom>
          <a:noFill/>
          <a:ln/>
        </p:spPr>
        <p:txBody>
          <a:bodyPr wrap="square" lIns="0" tIns="0" rIns="0" bIns="0" rtlCol="0" anchor="ctr"/>
          <a:lstStyle/>
          <a:p>
            <a:pPr algn="ctr" indent="0" marL="0">
              <a:buNone/>
            </a:pPr>
            <a:r>
              <a:rPr lang="en-US" sz="800" b="1" dirty="0">
                <a:solidFill>
                  <a:srgbClr val="FFFFFF"/>
                </a:solidFill>
              </a:rPr>
              <a:t>y₁₂</a:t>
            </a:r>
            <a:endParaRPr lang="en-US" sz="800" dirty="0"/>
          </a:p>
        </p:txBody>
      </p:sp>
      <p:sp>
        <p:nvSpPr>
          <p:cNvPr id="58" name="Text 56"/>
          <p:cNvSpPr/>
          <p:nvPr/>
        </p:nvSpPr>
        <p:spPr>
          <a:xfrm>
            <a:off x="9253728" y="6035040"/>
            <a:ext cx="2606040" cy="292608"/>
          </a:xfrm>
          <a:prstGeom prst="rect">
            <a:avLst/>
          </a:prstGeom>
          <a:noFill/>
          <a:ln/>
        </p:spPr>
        <p:txBody>
          <a:bodyPr wrap="square" lIns="0" tIns="0" rIns="0" bIns="0" rtlCol="0" anchor="ctr"/>
          <a:lstStyle/>
          <a:p>
            <a:pPr indent="0" marL="0">
              <a:buNone/>
            </a:pPr>
            <a:r>
              <a:rPr lang="en-US" sz="850" dirty="0">
                <a:solidFill>
                  <a:srgbClr val="1A1A2E"/>
                </a:solidFill>
              </a:rPr>
              <a:t>ICM · Habermas+Fraser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217346"/>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Resultados Corpus A vs B — Mann-Whitney U · Evidencia multi-teórica convergente</a:t>
            </a:r>
            <a:endParaRPr lang="en-US" sz="1700" dirty="0"/>
          </a:p>
        </p:txBody>
      </p:sp>
      <p:sp>
        <p:nvSpPr>
          <p:cNvPr id="4" name="Text 2"/>
          <p:cNvSpPr/>
          <p:nvPr/>
        </p:nvSpPr>
        <p:spPr>
          <a:xfrm>
            <a:off x="274320" y="841248"/>
            <a:ext cx="11612880" cy="438912"/>
          </a:xfrm>
          <a:prstGeom prst="rect">
            <a:avLst/>
          </a:prstGeom>
          <a:noFill/>
          <a:ln/>
        </p:spPr>
        <p:txBody>
          <a:bodyPr wrap="square" lIns="0" tIns="0" rIns="0" bIns="0" rtlCol="0" anchor="ctr"/>
          <a:lstStyle/>
          <a:p>
            <a:pPr indent="0" marL="0">
              <a:buNone/>
            </a:pPr>
            <a:r>
              <a:rPr lang="en-US" sz="1000" dirty="0">
                <a:solidFill>
                  <a:srgbClr val="1A1A2E"/>
                </a:solidFill>
              </a:rPr>
              <a:t>Mann-Whitney U: test no paramétrico para muestras independientes con distribuciones asimétricas acotadas [0,1]. No asume normalidad. Test confirmatorio de los indicadores individuales; la prueba de H₃ requiere MG-SEM completo.</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1371600"/>
          <a:ext cx="11612880" cy="914400"/>
        </p:xfrm>
        <a:graphic>
          <a:graphicData uri="http://schemas.openxmlformats.org/drawingml/2006/table">
            <a:tbl>
              <a:tblPr/>
              <a:tblGrid>
                <a:gridCol w="1645920"/>
                <a:gridCol w="1463040"/>
                <a:gridCol w="914400"/>
                <a:gridCol w="914400"/>
                <a:gridCol w="640080"/>
                <a:gridCol w="777240"/>
                <a:gridCol w="594360"/>
                <a:gridCol w="4663440"/>
              </a:tblGrid>
              <a:tr h="0">
                <a:tc>
                  <a:txBody>
                    <a:bodyPr/>
                    <a:lstStyle/>
                    <a:p>
                      <a:pPr indent="0" marL="0">
                        <a:buNone/>
                      </a:pPr>
                      <a:r>
                        <a:rPr lang="en-US" sz="950" b="1" dirty="0">
                          <a:solidFill>
                            <a:srgbClr val="FFFFFF"/>
                          </a:solidFill>
                        </a:rPr>
                        <a:t>Indicador</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rPr>
                        <a:t>Marco</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rPr>
                        <a:t>Media A</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rPr>
                        <a:t>Media B</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rPr>
                        <a:t>Δ</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rPr>
                        <a:t>p-valor</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rPr>
                        <a:t>Sig.</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rPr>
                        <a:t>Interpretación</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0">
                <a:tc>
                  <a:txBody>
                    <a:bodyPr/>
                    <a:lstStyle/>
                    <a:p>
                      <a:pPr indent="0" marL="0">
                        <a:buNone/>
                      </a:pPr>
                      <a:r>
                        <a:rPr lang="en-US" sz="950" dirty="0">
                          <a:solidFill>
                            <a:srgbClr val="000000"/>
                          </a:solidFill>
                        </a:rPr>
                        <a:t>y₂ SA Score</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Habermas</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0.735</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0.802</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+0.067</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0.127</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n.s.</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SA transversal al lenguaje jurídico — viola Habermas en ambos sistemas</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950" dirty="0">
                          <a:solidFill>
                            <a:srgbClr val="000000"/>
                          </a:solidFill>
                        </a:rPr>
                        <a:t>y₃ Dist. Civil</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Fraser</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0.847</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0.731</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−0.116</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&lt;0.001</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Corpus A más alejado del léxico de derechos — apoya H₁ (Fraser)</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950" dirty="0">
                          <a:solidFill>
                            <a:srgbClr val="000000"/>
                          </a:solidFill>
                        </a:rPr>
                        <a:t>y₄ NV Score</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Fricker+Galtung</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0.412</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0.289</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−0.123</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&lt;0.001</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Mayor credibility discount (Fricker) + VC (Galtung) en corpus ord.</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950" dirty="0">
                          <a:solidFill>
                            <a:srgbClr val="000000"/>
                          </a:solidFill>
                        </a:rPr>
                        <a:t>y₈ Dist. MAFAPO</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Fricker</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0.287</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0.213</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−0.074</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&lt;0.001</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Mayor hermeneutical gap (Fricker) en corpus ordinario ✅</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950" dirty="0">
                          <a:solidFill>
                            <a:srgbClr val="000000"/>
                          </a:solidFill>
                        </a:rPr>
                        <a:t>y₉ Dist. CIDH</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Fraser</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0.342</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0.268</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−0.074</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&lt;0.001</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Mayor distancia al marco normativo DDHH (Fraser) en corpus ord.</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950" dirty="0">
                          <a:solidFill>
                            <a:srgbClr val="000000"/>
                          </a:solidFill>
                        </a:rPr>
                        <a:t>y₁₀ REP Score</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Fraser+Fricker</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0.086</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0.153</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+0.067</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&lt;0.001</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rPr>
                        <a:t>Más reconocimiento epistémico (Fraser) y expansión herm. (Fricker) en JEP</a:t>
                      </a:r>
                      <a:endParaRPr lang="en-US" sz="950" dirty="0"/>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Shape 3"/>
          <p:cNvSpPr/>
          <p:nvPr/>
        </p:nvSpPr>
        <p:spPr>
          <a:xfrm>
            <a:off x="274320" y="4937760"/>
            <a:ext cx="11612880" cy="594360"/>
          </a:xfrm>
          <a:prstGeom prst="rect">
            <a:avLst/>
          </a:prstGeom>
          <a:solidFill>
            <a:srgbClr val="E2F0E8"/>
          </a:solidFill>
          <a:ln/>
        </p:spPr>
      </p:sp>
      <p:sp>
        <p:nvSpPr>
          <p:cNvPr id="7" name="Text 4"/>
          <p:cNvSpPr/>
          <p:nvPr/>
        </p:nvSpPr>
        <p:spPr>
          <a:xfrm>
            <a:off x="365760" y="4965192"/>
            <a:ext cx="11430000" cy="548640"/>
          </a:xfrm>
          <a:prstGeom prst="rect">
            <a:avLst/>
          </a:prstGeom>
          <a:noFill/>
          <a:ln/>
        </p:spPr>
        <p:txBody>
          <a:bodyPr wrap="square" lIns="0" tIns="0" rIns="0" bIns="0" rtlCol="0" anchor="ctr"/>
          <a:lstStyle/>
          <a:p>
            <a:pPr indent="0" marL="0">
              <a:buNone/>
            </a:pPr>
            <a:r>
              <a:rPr lang="en-US" sz="1050" dirty="0">
                <a:solidFill>
                  <a:srgbClr val="217346"/>
                </a:solidFill>
              </a:rPr>
              <a:t>CONVERGENCIA MULTI-TEÓRICA: 5/6 indicadores p&lt;0.001 provenientes de 3 métodos (spaCy, ConfliBERT-ES, CFH-BERT) y 4 marcos teóricos (Habermas, Galtung, Fricker, Fraser) señalan en la misma dirección. No es artefacto de un método ni de una teoría.</a:t>
            </a:r>
            <a:endParaRPr lang="en-US" sz="1050" dirty="0"/>
          </a:p>
        </p:txBody>
      </p:sp>
      <p:sp>
        <p:nvSpPr>
          <p:cNvPr id="8" name="Shape 5"/>
          <p:cNvSpPr/>
          <p:nvPr/>
        </p:nvSpPr>
        <p:spPr>
          <a:xfrm>
            <a:off x="274320" y="5577840"/>
            <a:ext cx="11612880" cy="566928"/>
          </a:xfrm>
          <a:prstGeom prst="rect">
            <a:avLst/>
          </a:prstGeom>
          <a:solidFill>
            <a:srgbClr val="E2EBF3"/>
          </a:solidFill>
          <a:ln/>
        </p:spPr>
      </p:sp>
      <p:sp>
        <p:nvSpPr>
          <p:cNvPr id="9" name="Text 6"/>
          <p:cNvSpPr/>
          <p:nvPr/>
        </p:nvSpPr>
        <p:spPr>
          <a:xfrm>
            <a:off x="365760" y="5605272"/>
            <a:ext cx="11430000" cy="502920"/>
          </a:xfrm>
          <a:prstGeom prst="rect">
            <a:avLst/>
          </a:prstGeom>
          <a:noFill/>
          <a:ln/>
        </p:spPr>
        <p:txBody>
          <a:bodyPr wrap="square" lIns="0" tIns="0" rIns="0" bIns="0" rtlCol="0" anchor="ctr"/>
          <a:lstStyle/>
          <a:p>
            <a:pPr indent="0" marL="0">
              <a:buNone/>
            </a:pPr>
            <a:r>
              <a:rPr lang="en-US" sz="1000" dirty="0">
                <a:solidFill>
                  <a:srgbClr val="64748B"/>
                </a:solidFill>
              </a:rPr>
              <a:t>y₂ SA n.s.: la supresión de agentividad es constitutiva del lenguaje jurídico colombiano — viola las pretensiones habermasianas en ambos sistemas. Hallazgo teóricamente consistente, no fallo del modelo.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B5450B"/>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Corpus C — DIS/IEI por Subcaso · Audiencias JEP Reconocimiento</a:t>
            </a:r>
            <a:endParaRPr lang="en-US" sz="1700" dirty="0"/>
          </a:p>
        </p:txBody>
      </p:sp>
      <p:sp>
        <p:nvSpPr>
          <p:cNvPr id="4" name="Shape 2"/>
          <p:cNvSpPr/>
          <p:nvPr/>
        </p:nvSpPr>
        <p:spPr>
          <a:xfrm>
            <a:off x="182880" y="914400"/>
            <a:ext cx="379476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182880" y="914400"/>
            <a:ext cx="3794760" cy="457200"/>
          </a:xfrm>
          <a:prstGeom prst="rect">
            <a:avLst/>
          </a:prstGeom>
          <a:solidFill>
            <a:srgbClr val="C00000"/>
          </a:solidFill>
          <a:ln/>
        </p:spPr>
      </p:sp>
      <p:sp>
        <p:nvSpPr>
          <p:cNvPr id="6" name="Text 4"/>
          <p:cNvSpPr/>
          <p:nvPr/>
        </p:nvSpPr>
        <p:spPr>
          <a:xfrm>
            <a:off x="274320" y="932688"/>
            <a:ext cx="3611880" cy="256032"/>
          </a:xfrm>
          <a:prstGeom prst="rect">
            <a:avLst/>
          </a:prstGeom>
          <a:noFill/>
          <a:ln/>
        </p:spPr>
        <p:txBody>
          <a:bodyPr wrap="square" lIns="0" tIns="0" rIns="0" bIns="0" rtlCol="0" anchor="ctr"/>
          <a:lstStyle/>
          <a:p>
            <a:pPr indent="0" marL="0">
              <a:buNone/>
            </a:pPr>
            <a:r>
              <a:rPr lang="en-US" sz="1300" b="1" dirty="0">
                <a:solidFill>
                  <a:srgbClr val="FFFFFF"/>
                </a:solidFill>
              </a:rPr>
              <a:t>Casanare</a:t>
            </a:r>
            <a:endParaRPr lang="en-US" sz="1300" dirty="0"/>
          </a:p>
        </p:txBody>
      </p:sp>
      <p:sp>
        <p:nvSpPr>
          <p:cNvPr id="7" name="Text 5"/>
          <p:cNvSpPr/>
          <p:nvPr/>
        </p:nvSpPr>
        <p:spPr>
          <a:xfrm>
            <a:off x="274320" y="1170432"/>
            <a:ext cx="3611880" cy="182880"/>
          </a:xfrm>
          <a:prstGeom prst="rect">
            <a:avLst/>
          </a:prstGeom>
          <a:noFill/>
          <a:ln/>
        </p:spPr>
        <p:txBody>
          <a:bodyPr wrap="square" lIns="0" tIns="0" rIns="0" bIns="0" rtlCol="0" anchor="ctr"/>
          <a:lstStyle/>
          <a:p>
            <a:pPr indent="0" marL="0">
              <a:buNone/>
            </a:pPr>
            <a:r>
              <a:rPr lang="en-US" sz="850" i="1" dirty="0">
                <a:solidFill>
                  <a:srgbClr val="E8E8E8"/>
                </a:solidFill>
              </a:rPr>
              <a:t>Gral. Torres Escalante</a:t>
            </a:r>
            <a:endParaRPr lang="en-US" sz="850" dirty="0"/>
          </a:p>
        </p:txBody>
      </p:sp>
      <p:sp>
        <p:nvSpPr>
          <p:cNvPr id="8" name="Shape 6"/>
          <p:cNvSpPr/>
          <p:nvPr/>
        </p:nvSpPr>
        <p:spPr>
          <a:xfrm>
            <a:off x="274320" y="1463040"/>
            <a:ext cx="1737360" cy="594360"/>
          </a:xfrm>
          <a:prstGeom prst="rect">
            <a:avLst/>
          </a:prstGeom>
          <a:solidFill>
            <a:srgbClr val="F0F4FF"/>
          </a:solidFill>
          <a:ln/>
        </p:spPr>
      </p:sp>
      <p:sp>
        <p:nvSpPr>
          <p:cNvPr id="9" name="Text 7"/>
          <p:cNvSpPr/>
          <p:nvPr/>
        </p:nvSpPr>
        <p:spPr>
          <a:xfrm>
            <a:off x="274320" y="1463040"/>
            <a:ext cx="1737360" cy="274320"/>
          </a:xfrm>
          <a:prstGeom prst="rect">
            <a:avLst/>
          </a:prstGeom>
          <a:noFill/>
          <a:ln/>
        </p:spPr>
        <p:txBody>
          <a:bodyPr wrap="square" lIns="0" tIns="0" rIns="0" bIns="0" rtlCol="0" anchor="ctr"/>
          <a:lstStyle/>
          <a:p>
            <a:pPr algn="ctr" indent="0" marL="0">
              <a:buNone/>
            </a:pPr>
            <a:r>
              <a:rPr lang="en-US" sz="900" b="1" dirty="0">
                <a:solidFill>
                  <a:srgbClr val="1F4E79"/>
                </a:solidFill>
              </a:rPr>
              <a:t>DIS</a:t>
            </a:r>
            <a:endParaRPr lang="en-US" sz="900" dirty="0"/>
          </a:p>
        </p:txBody>
      </p:sp>
      <p:sp>
        <p:nvSpPr>
          <p:cNvPr id="10" name="Text 8"/>
          <p:cNvSpPr/>
          <p:nvPr/>
        </p:nvSpPr>
        <p:spPr>
          <a:xfrm>
            <a:off x="274320" y="1719072"/>
            <a:ext cx="1737360" cy="320040"/>
          </a:xfrm>
          <a:prstGeom prst="rect">
            <a:avLst/>
          </a:prstGeom>
          <a:noFill/>
          <a:ln/>
        </p:spPr>
        <p:txBody>
          <a:bodyPr wrap="square" lIns="0" tIns="0" rIns="0" bIns="0" rtlCol="0" anchor="ctr"/>
          <a:lstStyle/>
          <a:p>
            <a:pPr algn="ctr" indent="0" marL="0">
              <a:buNone/>
            </a:pPr>
            <a:r>
              <a:rPr lang="en-US" sz="2000" b="1" dirty="0">
                <a:solidFill>
                  <a:srgbClr val="C00000"/>
                </a:solidFill>
              </a:rPr>
              <a:t>0.808</a:t>
            </a:r>
            <a:endParaRPr lang="en-US" sz="2000" dirty="0"/>
          </a:p>
        </p:txBody>
      </p:sp>
      <p:sp>
        <p:nvSpPr>
          <p:cNvPr id="11" name="Shape 9"/>
          <p:cNvSpPr/>
          <p:nvPr/>
        </p:nvSpPr>
        <p:spPr>
          <a:xfrm>
            <a:off x="2148840" y="1463040"/>
            <a:ext cx="1737360" cy="594360"/>
          </a:xfrm>
          <a:prstGeom prst="rect">
            <a:avLst/>
          </a:prstGeom>
          <a:solidFill>
            <a:srgbClr val="F5EEFF"/>
          </a:solidFill>
          <a:ln/>
        </p:spPr>
      </p:sp>
      <p:sp>
        <p:nvSpPr>
          <p:cNvPr id="12" name="Text 10"/>
          <p:cNvSpPr/>
          <p:nvPr/>
        </p:nvSpPr>
        <p:spPr>
          <a:xfrm>
            <a:off x="2148840" y="1463040"/>
            <a:ext cx="1737360" cy="274320"/>
          </a:xfrm>
          <a:prstGeom prst="rect">
            <a:avLst/>
          </a:prstGeom>
          <a:noFill/>
          <a:ln/>
        </p:spPr>
        <p:txBody>
          <a:bodyPr wrap="square" lIns="0" tIns="0" rIns="0" bIns="0" rtlCol="0" anchor="ctr"/>
          <a:lstStyle/>
          <a:p>
            <a:pPr algn="ctr" indent="0" marL="0">
              <a:buNone/>
            </a:pPr>
            <a:r>
              <a:rPr lang="en-US" sz="900" b="1" dirty="0">
                <a:solidFill>
                  <a:srgbClr val="6B3FA0"/>
                </a:solidFill>
              </a:rPr>
              <a:t>IEI</a:t>
            </a:r>
            <a:endParaRPr lang="en-US" sz="900" dirty="0"/>
          </a:p>
        </p:txBody>
      </p:sp>
      <p:sp>
        <p:nvSpPr>
          <p:cNvPr id="13" name="Text 11"/>
          <p:cNvSpPr/>
          <p:nvPr/>
        </p:nvSpPr>
        <p:spPr>
          <a:xfrm>
            <a:off x="2148840" y="1719072"/>
            <a:ext cx="1737360" cy="320040"/>
          </a:xfrm>
          <a:prstGeom prst="rect">
            <a:avLst/>
          </a:prstGeom>
          <a:noFill/>
          <a:ln/>
        </p:spPr>
        <p:txBody>
          <a:bodyPr wrap="square" lIns="0" tIns="0" rIns="0" bIns="0" rtlCol="0" anchor="ctr"/>
          <a:lstStyle/>
          <a:p>
            <a:pPr algn="ctr" indent="0" marL="0">
              <a:buNone/>
            </a:pPr>
            <a:r>
              <a:rPr lang="en-US" sz="2000" b="1" dirty="0">
                <a:solidFill>
                  <a:srgbClr val="6B3FA0"/>
                </a:solidFill>
              </a:rPr>
              <a:t>0.517</a:t>
            </a:r>
            <a:endParaRPr lang="en-US" sz="2000" dirty="0"/>
          </a:p>
        </p:txBody>
      </p:sp>
      <p:sp>
        <p:nvSpPr>
          <p:cNvPr id="14" name="Text 12"/>
          <p:cNvSpPr/>
          <p:nvPr/>
        </p:nvSpPr>
        <p:spPr>
          <a:xfrm>
            <a:off x="274320" y="2148840"/>
            <a:ext cx="3611880" cy="256032"/>
          </a:xfrm>
          <a:prstGeom prst="rect">
            <a:avLst/>
          </a:prstGeom>
          <a:noFill/>
          <a:ln/>
        </p:spPr>
        <p:txBody>
          <a:bodyPr wrap="square" lIns="0" tIns="0" rIns="0" bIns="0" rtlCol="0" anchor="ctr"/>
          <a:lstStyle/>
          <a:p>
            <a:pPr algn="ctr" indent="0" marL="0">
              <a:buNone/>
            </a:pPr>
            <a:r>
              <a:rPr lang="en-US" sz="950" b="1" dirty="0">
                <a:solidFill>
                  <a:srgbClr val="C00000"/>
                </a:solidFill>
              </a:rPr>
              <a:t>Δ=0.291 · DIS&gt;IEI</a:t>
            </a:r>
            <a:endParaRPr lang="en-US" sz="950" dirty="0"/>
          </a:p>
        </p:txBody>
      </p:sp>
      <p:sp>
        <p:nvSpPr>
          <p:cNvPr id="15" name="Shape 13"/>
          <p:cNvSpPr/>
          <p:nvPr/>
        </p:nvSpPr>
        <p:spPr>
          <a:xfrm>
            <a:off x="274320" y="2527676"/>
            <a:ext cx="640080" cy="489844"/>
          </a:xfrm>
          <a:prstGeom prst="rect">
            <a:avLst/>
          </a:prstGeom>
          <a:solidFill>
            <a:srgbClr val="C00000"/>
          </a:solidFill>
          <a:ln/>
        </p:spPr>
      </p:sp>
      <p:sp>
        <p:nvSpPr>
          <p:cNvPr id="16" name="Text 14"/>
          <p:cNvSpPr/>
          <p:nvPr/>
        </p:nvSpPr>
        <p:spPr>
          <a:xfrm>
            <a:off x="274320" y="2344796"/>
            <a:ext cx="640080" cy="182880"/>
          </a:xfrm>
          <a:prstGeom prst="rect">
            <a:avLst/>
          </a:prstGeom>
          <a:noFill/>
          <a:ln/>
        </p:spPr>
        <p:txBody>
          <a:bodyPr wrap="square" lIns="0" tIns="0" rIns="0" bIns="0" rtlCol="0" anchor="ctr"/>
          <a:lstStyle/>
          <a:p>
            <a:pPr algn="ctr" indent="0" marL="0">
              <a:buNone/>
            </a:pPr>
            <a:r>
              <a:rPr lang="en-US" sz="700" dirty="0">
                <a:solidFill>
                  <a:srgbClr val="C00000"/>
                </a:solidFill>
              </a:rPr>
              <a:t>0.97</a:t>
            </a:r>
            <a:endParaRPr lang="en-US" sz="700" dirty="0"/>
          </a:p>
        </p:txBody>
      </p:sp>
      <p:sp>
        <p:nvSpPr>
          <p:cNvPr id="17" name="Text 15"/>
          <p:cNvSpPr/>
          <p:nvPr/>
        </p:nvSpPr>
        <p:spPr>
          <a:xfrm>
            <a:off x="274320"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y₂</a:t>
            </a:r>
            <a:endParaRPr lang="en-US" sz="700" dirty="0"/>
          </a:p>
        </p:txBody>
      </p:sp>
      <p:sp>
        <p:nvSpPr>
          <p:cNvPr id="18" name="Shape 16"/>
          <p:cNvSpPr/>
          <p:nvPr/>
        </p:nvSpPr>
        <p:spPr>
          <a:xfrm>
            <a:off x="1014984" y="2774610"/>
            <a:ext cx="640080" cy="242910"/>
          </a:xfrm>
          <a:prstGeom prst="rect">
            <a:avLst/>
          </a:prstGeom>
          <a:solidFill>
            <a:srgbClr val="C00000"/>
          </a:solidFill>
          <a:ln/>
        </p:spPr>
      </p:sp>
      <p:sp>
        <p:nvSpPr>
          <p:cNvPr id="19" name="Text 17"/>
          <p:cNvSpPr/>
          <p:nvPr/>
        </p:nvSpPr>
        <p:spPr>
          <a:xfrm>
            <a:off x="1014984" y="2591730"/>
            <a:ext cx="640080" cy="182880"/>
          </a:xfrm>
          <a:prstGeom prst="rect">
            <a:avLst/>
          </a:prstGeom>
          <a:noFill/>
          <a:ln/>
        </p:spPr>
        <p:txBody>
          <a:bodyPr wrap="square" lIns="0" tIns="0" rIns="0" bIns="0" rtlCol="0" anchor="ctr"/>
          <a:lstStyle/>
          <a:p>
            <a:pPr algn="ctr" indent="0" marL="0">
              <a:buNone/>
            </a:pPr>
            <a:r>
              <a:rPr lang="en-US" sz="700" dirty="0">
                <a:solidFill>
                  <a:srgbClr val="C00000"/>
                </a:solidFill>
              </a:rPr>
              <a:t>0.48</a:t>
            </a:r>
            <a:endParaRPr lang="en-US" sz="700" dirty="0"/>
          </a:p>
        </p:txBody>
      </p:sp>
      <p:sp>
        <p:nvSpPr>
          <p:cNvPr id="20" name="Text 18"/>
          <p:cNvSpPr/>
          <p:nvPr/>
        </p:nvSpPr>
        <p:spPr>
          <a:xfrm>
            <a:off x="1014984"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y₄</a:t>
            </a:r>
            <a:endParaRPr lang="en-US" sz="700" dirty="0"/>
          </a:p>
        </p:txBody>
      </p:sp>
      <p:sp>
        <p:nvSpPr>
          <p:cNvPr id="21" name="Shape 19"/>
          <p:cNvSpPr/>
          <p:nvPr/>
        </p:nvSpPr>
        <p:spPr>
          <a:xfrm>
            <a:off x="1755648" y="3017520"/>
            <a:ext cx="640080" cy="0"/>
          </a:xfrm>
          <a:prstGeom prst="rect">
            <a:avLst/>
          </a:prstGeom>
          <a:solidFill>
            <a:srgbClr val="C00000"/>
          </a:solidFill>
          <a:ln/>
        </p:spPr>
      </p:sp>
      <p:sp>
        <p:nvSpPr>
          <p:cNvPr id="22" name="Text 20"/>
          <p:cNvSpPr/>
          <p:nvPr/>
        </p:nvSpPr>
        <p:spPr>
          <a:xfrm>
            <a:off x="1755648" y="2834640"/>
            <a:ext cx="640080" cy="182880"/>
          </a:xfrm>
          <a:prstGeom prst="rect">
            <a:avLst/>
          </a:prstGeom>
          <a:noFill/>
          <a:ln/>
        </p:spPr>
        <p:txBody>
          <a:bodyPr wrap="square" lIns="0" tIns="0" rIns="0" bIns="0" rtlCol="0" anchor="ctr"/>
          <a:lstStyle/>
          <a:p>
            <a:pPr algn="ctr" indent="0" marL="0">
              <a:buNone/>
            </a:pPr>
            <a:r>
              <a:rPr lang="en-US" sz="700" dirty="0">
                <a:solidFill>
                  <a:srgbClr val="C00000"/>
                </a:solidFill>
              </a:rPr>
              <a:t>0.00</a:t>
            </a:r>
            <a:endParaRPr lang="en-US" sz="700" dirty="0"/>
          </a:p>
        </p:txBody>
      </p:sp>
      <p:sp>
        <p:nvSpPr>
          <p:cNvPr id="23" name="Text 21"/>
          <p:cNvSpPr/>
          <p:nvPr/>
        </p:nvSpPr>
        <p:spPr>
          <a:xfrm>
            <a:off x="1755648"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y₁₀</a:t>
            </a:r>
            <a:endParaRPr lang="en-US" sz="700" dirty="0"/>
          </a:p>
        </p:txBody>
      </p:sp>
      <p:sp>
        <p:nvSpPr>
          <p:cNvPr id="24" name="Shape 22"/>
          <p:cNvSpPr/>
          <p:nvPr/>
        </p:nvSpPr>
        <p:spPr>
          <a:xfrm>
            <a:off x="2496312" y="2920456"/>
            <a:ext cx="640080" cy="97064"/>
          </a:xfrm>
          <a:prstGeom prst="rect">
            <a:avLst/>
          </a:prstGeom>
          <a:solidFill>
            <a:srgbClr val="C00000"/>
          </a:solidFill>
          <a:ln/>
        </p:spPr>
      </p:sp>
      <p:sp>
        <p:nvSpPr>
          <p:cNvPr id="25" name="Text 23"/>
          <p:cNvSpPr/>
          <p:nvPr/>
        </p:nvSpPr>
        <p:spPr>
          <a:xfrm>
            <a:off x="2496312" y="2737576"/>
            <a:ext cx="640080" cy="182880"/>
          </a:xfrm>
          <a:prstGeom prst="rect">
            <a:avLst/>
          </a:prstGeom>
          <a:noFill/>
          <a:ln/>
        </p:spPr>
        <p:txBody>
          <a:bodyPr wrap="square" lIns="0" tIns="0" rIns="0" bIns="0" rtlCol="0" anchor="ctr"/>
          <a:lstStyle/>
          <a:p>
            <a:pPr algn="ctr" indent="0" marL="0">
              <a:buNone/>
            </a:pPr>
            <a:r>
              <a:rPr lang="en-US" sz="700" dirty="0">
                <a:solidFill>
                  <a:srgbClr val="C00000"/>
                </a:solidFill>
              </a:rPr>
              <a:t>0.19</a:t>
            </a:r>
            <a:endParaRPr lang="en-US" sz="700" dirty="0"/>
          </a:p>
        </p:txBody>
      </p:sp>
      <p:sp>
        <p:nvSpPr>
          <p:cNvPr id="26" name="Text 24"/>
          <p:cNvSpPr/>
          <p:nvPr/>
        </p:nvSpPr>
        <p:spPr>
          <a:xfrm>
            <a:off x="2496312"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y₈</a:t>
            </a:r>
            <a:endParaRPr lang="en-US" sz="700" dirty="0"/>
          </a:p>
        </p:txBody>
      </p:sp>
      <p:sp>
        <p:nvSpPr>
          <p:cNvPr id="27" name="Shape 25"/>
          <p:cNvSpPr/>
          <p:nvPr/>
        </p:nvSpPr>
        <p:spPr>
          <a:xfrm>
            <a:off x="3236976" y="2884749"/>
            <a:ext cx="640080" cy="132771"/>
          </a:xfrm>
          <a:prstGeom prst="rect">
            <a:avLst/>
          </a:prstGeom>
          <a:solidFill>
            <a:srgbClr val="C00000"/>
          </a:solidFill>
          <a:ln/>
        </p:spPr>
      </p:sp>
      <p:sp>
        <p:nvSpPr>
          <p:cNvPr id="28" name="Text 26"/>
          <p:cNvSpPr/>
          <p:nvPr/>
        </p:nvSpPr>
        <p:spPr>
          <a:xfrm>
            <a:off x="3236976" y="2701869"/>
            <a:ext cx="640080" cy="182880"/>
          </a:xfrm>
          <a:prstGeom prst="rect">
            <a:avLst/>
          </a:prstGeom>
          <a:noFill/>
          <a:ln/>
        </p:spPr>
        <p:txBody>
          <a:bodyPr wrap="square" lIns="0" tIns="0" rIns="0" bIns="0" rtlCol="0" anchor="ctr"/>
          <a:lstStyle/>
          <a:p>
            <a:pPr algn="ctr" indent="0" marL="0">
              <a:buNone/>
            </a:pPr>
            <a:r>
              <a:rPr lang="en-US" sz="700" dirty="0">
                <a:solidFill>
                  <a:srgbClr val="C00000"/>
                </a:solidFill>
              </a:rPr>
              <a:t>0.26</a:t>
            </a:r>
            <a:endParaRPr lang="en-US" sz="700" dirty="0"/>
          </a:p>
        </p:txBody>
      </p:sp>
      <p:sp>
        <p:nvSpPr>
          <p:cNvPr id="29" name="Text 27"/>
          <p:cNvSpPr/>
          <p:nvPr/>
        </p:nvSpPr>
        <p:spPr>
          <a:xfrm>
            <a:off x="3236976"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y₉</a:t>
            </a:r>
            <a:endParaRPr lang="en-US" sz="700" dirty="0"/>
          </a:p>
        </p:txBody>
      </p:sp>
      <p:sp>
        <p:nvSpPr>
          <p:cNvPr id="30" name="Text 28"/>
          <p:cNvSpPr/>
          <p:nvPr/>
        </p:nvSpPr>
        <p:spPr>
          <a:xfrm>
            <a:off x="274320" y="3291840"/>
            <a:ext cx="3611880" cy="320040"/>
          </a:xfrm>
          <a:prstGeom prst="rect">
            <a:avLst/>
          </a:prstGeom>
          <a:noFill/>
          <a:ln/>
        </p:spPr>
        <p:txBody>
          <a:bodyPr wrap="square" lIns="0" tIns="0" rIns="0" bIns="0" rtlCol="0" anchor="ctr"/>
          <a:lstStyle/>
          <a:p>
            <a:pPr indent="0" marL="0">
              <a:buNone/>
            </a:pPr>
            <a:r>
              <a:rPr lang="en-US" sz="750" dirty="0">
                <a:solidFill>
                  <a:srgbClr val="6B7280"/>
                </a:solidFill>
              </a:rPr>
              <a:t>Coherencia negativa: máxima injusticia Habermas+Galtung (DIS) Y Fricker+Fraser (IEI).</a:t>
            </a:r>
            <a:endParaRPr lang="en-US" sz="750" dirty="0"/>
          </a:p>
        </p:txBody>
      </p:sp>
      <p:sp>
        <p:nvSpPr>
          <p:cNvPr id="31" name="Shape 29"/>
          <p:cNvSpPr/>
          <p:nvPr/>
        </p:nvSpPr>
        <p:spPr>
          <a:xfrm>
            <a:off x="4160520" y="914400"/>
            <a:ext cx="379476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2" name="Shape 30"/>
          <p:cNvSpPr/>
          <p:nvPr/>
        </p:nvSpPr>
        <p:spPr>
          <a:xfrm>
            <a:off x="4160520" y="914400"/>
            <a:ext cx="3794760" cy="457200"/>
          </a:xfrm>
          <a:prstGeom prst="rect">
            <a:avLst/>
          </a:prstGeom>
          <a:solidFill>
            <a:srgbClr val="6B3FA0"/>
          </a:solidFill>
          <a:ln/>
        </p:spPr>
      </p:sp>
      <p:sp>
        <p:nvSpPr>
          <p:cNvPr id="33" name="Text 31"/>
          <p:cNvSpPr/>
          <p:nvPr/>
        </p:nvSpPr>
        <p:spPr>
          <a:xfrm>
            <a:off x="4251960" y="932688"/>
            <a:ext cx="3611880" cy="256032"/>
          </a:xfrm>
          <a:prstGeom prst="rect">
            <a:avLst/>
          </a:prstGeom>
          <a:noFill/>
          <a:ln/>
        </p:spPr>
        <p:txBody>
          <a:bodyPr wrap="square" lIns="0" tIns="0" rIns="0" bIns="0" rtlCol="0" anchor="ctr"/>
          <a:lstStyle/>
          <a:p>
            <a:pPr indent="0" marL="0">
              <a:buNone/>
            </a:pPr>
            <a:r>
              <a:rPr lang="en-US" sz="1300" b="1" dirty="0">
                <a:solidFill>
                  <a:srgbClr val="FFFFFF"/>
                </a:solidFill>
              </a:rPr>
              <a:t>Catatumbo</a:t>
            </a:r>
            <a:endParaRPr lang="en-US" sz="1300" dirty="0"/>
          </a:p>
        </p:txBody>
      </p:sp>
      <p:sp>
        <p:nvSpPr>
          <p:cNvPr id="34" name="Text 32"/>
          <p:cNvSpPr/>
          <p:nvPr/>
        </p:nvSpPr>
        <p:spPr>
          <a:xfrm>
            <a:off x="4251960" y="1170432"/>
            <a:ext cx="3611880" cy="182880"/>
          </a:xfrm>
          <a:prstGeom prst="rect">
            <a:avLst/>
          </a:prstGeom>
          <a:noFill/>
          <a:ln/>
        </p:spPr>
        <p:txBody>
          <a:bodyPr wrap="square" lIns="0" tIns="0" rIns="0" bIns="0" rtlCol="0" anchor="ctr"/>
          <a:lstStyle/>
          <a:p>
            <a:pPr indent="0" marL="0">
              <a:buNone/>
            </a:pPr>
            <a:r>
              <a:rPr lang="en-US" sz="850" i="1" dirty="0">
                <a:solidFill>
                  <a:srgbClr val="E8E8E8"/>
                </a:solidFill>
              </a:rPr>
              <a:t>Cap. Chaparro</a:t>
            </a:r>
            <a:endParaRPr lang="en-US" sz="850" dirty="0"/>
          </a:p>
        </p:txBody>
      </p:sp>
      <p:sp>
        <p:nvSpPr>
          <p:cNvPr id="35" name="Shape 33"/>
          <p:cNvSpPr/>
          <p:nvPr/>
        </p:nvSpPr>
        <p:spPr>
          <a:xfrm>
            <a:off x="4251960" y="1463040"/>
            <a:ext cx="1737360" cy="594360"/>
          </a:xfrm>
          <a:prstGeom prst="rect">
            <a:avLst/>
          </a:prstGeom>
          <a:solidFill>
            <a:srgbClr val="F0F4FF"/>
          </a:solidFill>
          <a:ln/>
        </p:spPr>
      </p:sp>
      <p:sp>
        <p:nvSpPr>
          <p:cNvPr id="36" name="Text 34"/>
          <p:cNvSpPr/>
          <p:nvPr/>
        </p:nvSpPr>
        <p:spPr>
          <a:xfrm>
            <a:off x="4251960" y="1463040"/>
            <a:ext cx="1737360" cy="274320"/>
          </a:xfrm>
          <a:prstGeom prst="rect">
            <a:avLst/>
          </a:prstGeom>
          <a:noFill/>
          <a:ln/>
        </p:spPr>
        <p:txBody>
          <a:bodyPr wrap="square" lIns="0" tIns="0" rIns="0" bIns="0" rtlCol="0" anchor="ctr"/>
          <a:lstStyle/>
          <a:p>
            <a:pPr algn="ctr" indent="0" marL="0">
              <a:buNone/>
            </a:pPr>
            <a:r>
              <a:rPr lang="en-US" sz="900" b="1" dirty="0">
                <a:solidFill>
                  <a:srgbClr val="1F4E79"/>
                </a:solidFill>
              </a:rPr>
              <a:t>DIS</a:t>
            </a:r>
            <a:endParaRPr lang="en-US" sz="900" dirty="0"/>
          </a:p>
        </p:txBody>
      </p:sp>
      <p:sp>
        <p:nvSpPr>
          <p:cNvPr id="37" name="Text 35"/>
          <p:cNvSpPr/>
          <p:nvPr/>
        </p:nvSpPr>
        <p:spPr>
          <a:xfrm>
            <a:off x="4251960" y="1719072"/>
            <a:ext cx="1737360" cy="320040"/>
          </a:xfrm>
          <a:prstGeom prst="rect">
            <a:avLst/>
          </a:prstGeom>
          <a:noFill/>
          <a:ln/>
        </p:spPr>
        <p:txBody>
          <a:bodyPr wrap="square" lIns="0" tIns="0" rIns="0" bIns="0" rtlCol="0" anchor="ctr"/>
          <a:lstStyle/>
          <a:p>
            <a:pPr algn="ctr" indent="0" marL="0">
              <a:buNone/>
            </a:pPr>
            <a:r>
              <a:rPr lang="en-US" sz="2000" b="1" dirty="0">
                <a:solidFill>
                  <a:srgbClr val="C00000"/>
                </a:solidFill>
              </a:rPr>
              <a:t>0.110</a:t>
            </a:r>
            <a:endParaRPr lang="en-US" sz="2000" dirty="0"/>
          </a:p>
        </p:txBody>
      </p:sp>
      <p:sp>
        <p:nvSpPr>
          <p:cNvPr id="38" name="Shape 36"/>
          <p:cNvSpPr/>
          <p:nvPr/>
        </p:nvSpPr>
        <p:spPr>
          <a:xfrm>
            <a:off x="6126480" y="1463040"/>
            <a:ext cx="1737360" cy="594360"/>
          </a:xfrm>
          <a:prstGeom prst="rect">
            <a:avLst/>
          </a:prstGeom>
          <a:solidFill>
            <a:srgbClr val="F5EEFF"/>
          </a:solidFill>
          <a:ln/>
        </p:spPr>
      </p:sp>
      <p:sp>
        <p:nvSpPr>
          <p:cNvPr id="39" name="Text 37"/>
          <p:cNvSpPr/>
          <p:nvPr/>
        </p:nvSpPr>
        <p:spPr>
          <a:xfrm>
            <a:off x="6126480" y="1463040"/>
            <a:ext cx="1737360" cy="274320"/>
          </a:xfrm>
          <a:prstGeom prst="rect">
            <a:avLst/>
          </a:prstGeom>
          <a:noFill/>
          <a:ln/>
        </p:spPr>
        <p:txBody>
          <a:bodyPr wrap="square" lIns="0" tIns="0" rIns="0" bIns="0" rtlCol="0" anchor="ctr"/>
          <a:lstStyle/>
          <a:p>
            <a:pPr algn="ctr" indent="0" marL="0">
              <a:buNone/>
            </a:pPr>
            <a:r>
              <a:rPr lang="en-US" sz="900" b="1" dirty="0">
                <a:solidFill>
                  <a:srgbClr val="6B3FA0"/>
                </a:solidFill>
              </a:rPr>
              <a:t>IEI</a:t>
            </a:r>
            <a:endParaRPr lang="en-US" sz="900" dirty="0"/>
          </a:p>
        </p:txBody>
      </p:sp>
      <p:sp>
        <p:nvSpPr>
          <p:cNvPr id="40" name="Text 38"/>
          <p:cNvSpPr/>
          <p:nvPr/>
        </p:nvSpPr>
        <p:spPr>
          <a:xfrm>
            <a:off x="6126480" y="1719072"/>
            <a:ext cx="1737360" cy="320040"/>
          </a:xfrm>
          <a:prstGeom prst="rect">
            <a:avLst/>
          </a:prstGeom>
          <a:noFill/>
          <a:ln/>
        </p:spPr>
        <p:txBody>
          <a:bodyPr wrap="square" lIns="0" tIns="0" rIns="0" bIns="0" rtlCol="0" anchor="ctr"/>
          <a:lstStyle/>
          <a:p>
            <a:pPr algn="ctr" indent="0" marL="0">
              <a:buNone/>
            </a:pPr>
            <a:r>
              <a:rPr lang="en-US" sz="2000" b="1" dirty="0">
                <a:solidFill>
                  <a:srgbClr val="6B3FA0"/>
                </a:solidFill>
              </a:rPr>
              <a:t>0.624</a:t>
            </a:r>
            <a:endParaRPr lang="en-US" sz="2000" dirty="0"/>
          </a:p>
        </p:txBody>
      </p:sp>
      <p:sp>
        <p:nvSpPr>
          <p:cNvPr id="41" name="Text 39"/>
          <p:cNvSpPr/>
          <p:nvPr/>
        </p:nvSpPr>
        <p:spPr>
          <a:xfrm>
            <a:off x="4251960" y="2148840"/>
            <a:ext cx="3611880" cy="256032"/>
          </a:xfrm>
          <a:prstGeom prst="rect">
            <a:avLst/>
          </a:prstGeom>
          <a:noFill/>
          <a:ln/>
        </p:spPr>
        <p:txBody>
          <a:bodyPr wrap="square" lIns="0" tIns="0" rIns="0" bIns="0" rtlCol="0" anchor="ctr"/>
          <a:lstStyle/>
          <a:p>
            <a:pPr algn="ctr" indent="0" marL="0">
              <a:buNone/>
            </a:pPr>
            <a:r>
              <a:rPr lang="en-US" sz="950" b="1" dirty="0">
                <a:solidFill>
                  <a:srgbClr val="6B3FA0"/>
                </a:solidFill>
              </a:rPr>
              <a:t>Δ=0.514 · IEI&gt;DIS</a:t>
            </a:r>
            <a:endParaRPr lang="en-US" sz="950" dirty="0"/>
          </a:p>
        </p:txBody>
      </p:sp>
      <p:sp>
        <p:nvSpPr>
          <p:cNvPr id="42" name="Shape 40"/>
          <p:cNvSpPr/>
          <p:nvPr/>
        </p:nvSpPr>
        <p:spPr>
          <a:xfrm>
            <a:off x="4251960" y="2749967"/>
            <a:ext cx="640080" cy="267553"/>
          </a:xfrm>
          <a:prstGeom prst="rect">
            <a:avLst/>
          </a:prstGeom>
          <a:solidFill>
            <a:srgbClr val="6B3FA0"/>
          </a:solidFill>
          <a:ln/>
        </p:spPr>
      </p:sp>
      <p:sp>
        <p:nvSpPr>
          <p:cNvPr id="43" name="Text 41"/>
          <p:cNvSpPr/>
          <p:nvPr/>
        </p:nvSpPr>
        <p:spPr>
          <a:xfrm>
            <a:off x="4251960" y="2567087"/>
            <a:ext cx="640080" cy="182880"/>
          </a:xfrm>
          <a:prstGeom prst="rect">
            <a:avLst/>
          </a:prstGeom>
          <a:noFill/>
          <a:ln/>
        </p:spPr>
        <p:txBody>
          <a:bodyPr wrap="square" lIns="0" tIns="0" rIns="0" bIns="0" rtlCol="0" anchor="ctr"/>
          <a:lstStyle/>
          <a:p>
            <a:pPr algn="ctr" indent="0" marL="0">
              <a:buNone/>
            </a:pPr>
            <a:r>
              <a:rPr lang="en-US" sz="700" dirty="0">
                <a:solidFill>
                  <a:srgbClr val="6B3FA0"/>
                </a:solidFill>
              </a:rPr>
              <a:t>0.53</a:t>
            </a:r>
            <a:endParaRPr lang="en-US" sz="700" dirty="0"/>
          </a:p>
        </p:txBody>
      </p:sp>
      <p:sp>
        <p:nvSpPr>
          <p:cNvPr id="44" name="Text 42"/>
          <p:cNvSpPr/>
          <p:nvPr/>
        </p:nvSpPr>
        <p:spPr>
          <a:xfrm>
            <a:off x="4251960"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y₂</a:t>
            </a:r>
            <a:endParaRPr lang="en-US" sz="700" dirty="0"/>
          </a:p>
        </p:txBody>
      </p:sp>
      <p:sp>
        <p:nvSpPr>
          <p:cNvPr id="45" name="Shape 43"/>
          <p:cNvSpPr/>
          <p:nvPr/>
        </p:nvSpPr>
        <p:spPr>
          <a:xfrm>
            <a:off x="4992624" y="2906878"/>
            <a:ext cx="640080" cy="110642"/>
          </a:xfrm>
          <a:prstGeom prst="rect">
            <a:avLst/>
          </a:prstGeom>
          <a:solidFill>
            <a:srgbClr val="6B3FA0"/>
          </a:solidFill>
          <a:ln/>
        </p:spPr>
      </p:sp>
      <p:sp>
        <p:nvSpPr>
          <p:cNvPr id="46" name="Text 44"/>
          <p:cNvSpPr/>
          <p:nvPr/>
        </p:nvSpPr>
        <p:spPr>
          <a:xfrm>
            <a:off x="4992624" y="2723998"/>
            <a:ext cx="640080" cy="182880"/>
          </a:xfrm>
          <a:prstGeom prst="rect">
            <a:avLst/>
          </a:prstGeom>
          <a:noFill/>
          <a:ln/>
        </p:spPr>
        <p:txBody>
          <a:bodyPr wrap="square" lIns="0" tIns="0" rIns="0" bIns="0" rtlCol="0" anchor="ctr"/>
          <a:lstStyle/>
          <a:p>
            <a:pPr algn="ctr" indent="0" marL="0">
              <a:buNone/>
            </a:pPr>
            <a:r>
              <a:rPr lang="en-US" sz="700" dirty="0">
                <a:solidFill>
                  <a:srgbClr val="6B3FA0"/>
                </a:solidFill>
              </a:rPr>
              <a:t>0.22</a:t>
            </a:r>
            <a:endParaRPr lang="en-US" sz="700" dirty="0"/>
          </a:p>
        </p:txBody>
      </p:sp>
      <p:sp>
        <p:nvSpPr>
          <p:cNvPr id="47" name="Text 45"/>
          <p:cNvSpPr/>
          <p:nvPr/>
        </p:nvSpPr>
        <p:spPr>
          <a:xfrm>
            <a:off x="4992624"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y₄</a:t>
            </a:r>
            <a:endParaRPr lang="en-US" sz="700" dirty="0"/>
          </a:p>
        </p:txBody>
      </p:sp>
      <p:sp>
        <p:nvSpPr>
          <p:cNvPr id="48" name="Shape 46"/>
          <p:cNvSpPr/>
          <p:nvPr/>
        </p:nvSpPr>
        <p:spPr>
          <a:xfrm>
            <a:off x="5733288" y="2956667"/>
            <a:ext cx="640080" cy="60853"/>
          </a:xfrm>
          <a:prstGeom prst="rect">
            <a:avLst/>
          </a:prstGeom>
          <a:solidFill>
            <a:srgbClr val="6B3FA0"/>
          </a:solidFill>
          <a:ln/>
        </p:spPr>
      </p:sp>
      <p:sp>
        <p:nvSpPr>
          <p:cNvPr id="49" name="Text 47"/>
          <p:cNvSpPr/>
          <p:nvPr/>
        </p:nvSpPr>
        <p:spPr>
          <a:xfrm>
            <a:off x="5733288" y="2773787"/>
            <a:ext cx="640080" cy="182880"/>
          </a:xfrm>
          <a:prstGeom prst="rect">
            <a:avLst/>
          </a:prstGeom>
          <a:noFill/>
          <a:ln/>
        </p:spPr>
        <p:txBody>
          <a:bodyPr wrap="square" lIns="0" tIns="0" rIns="0" bIns="0" rtlCol="0" anchor="ctr"/>
          <a:lstStyle/>
          <a:p>
            <a:pPr algn="ctr" indent="0" marL="0">
              <a:buNone/>
            </a:pPr>
            <a:r>
              <a:rPr lang="en-US" sz="700" dirty="0">
                <a:solidFill>
                  <a:srgbClr val="6B3FA0"/>
                </a:solidFill>
              </a:rPr>
              <a:t>0.12</a:t>
            </a:r>
            <a:endParaRPr lang="en-US" sz="700" dirty="0"/>
          </a:p>
        </p:txBody>
      </p:sp>
      <p:sp>
        <p:nvSpPr>
          <p:cNvPr id="50" name="Text 48"/>
          <p:cNvSpPr/>
          <p:nvPr/>
        </p:nvSpPr>
        <p:spPr>
          <a:xfrm>
            <a:off x="5733288"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y₁₀</a:t>
            </a:r>
            <a:endParaRPr lang="en-US" sz="700" dirty="0"/>
          </a:p>
        </p:txBody>
      </p:sp>
      <p:sp>
        <p:nvSpPr>
          <p:cNvPr id="51" name="Shape 49"/>
          <p:cNvSpPr/>
          <p:nvPr/>
        </p:nvSpPr>
        <p:spPr>
          <a:xfrm>
            <a:off x="6473952" y="2913416"/>
            <a:ext cx="640080" cy="104104"/>
          </a:xfrm>
          <a:prstGeom prst="rect">
            <a:avLst/>
          </a:prstGeom>
          <a:solidFill>
            <a:srgbClr val="6B3FA0"/>
          </a:solidFill>
          <a:ln/>
        </p:spPr>
      </p:sp>
      <p:sp>
        <p:nvSpPr>
          <p:cNvPr id="52" name="Text 50"/>
          <p:cNvSpPr/>
          <p:nvPr/>
        </p:nvSpPr>
        <p:spPr>
          <a:xfrm>
            <a:off x="6473952" y="2730536"/>
            <a:ext cx="640080" cy="182880"/>
          </a:xfrm>
          <a:prstGeom prst="rect">
            <a:avLst/>
          </a:prstGeom>
          <a:noFill/>
          <a:ln/>
        </p:spPr>
        <p:txBody>
          <a:bodyPr wrap="square" lIns="0" tIns="0" rIns="0" bIns="0" rtlCol="0" anchor="ctr"/>
          <a:lstStyle/>
          <a:p>
            <a:pPr algn="ctr" indent="0" marL="0">
              <a:buNone/>
            </a:pPr>
            <a:r>
              <a:rPr lang="en-US" sz="700" dirty="0">
                <a:solidFill>
                  <a:srgbClr val="6B3FA0"/>
                </a:solidFill>
              </a:rPr>
              <a:t>0.21</a:t>
            </a:r>
            <a:endParaRPr lang="en-US" sz="700" dirty="0"/>
          </a:p>
        </p:txBody>
      </p:sp>
      <p:sp>
        <p:nvSpPr>
          <p:cNvPr id="53" name="Text 51"/>
          <p:cNvSpPr/>
          <p:nvPr/>
        </p:nvSpPr>
        <p:spPr>
          <a:xfrm>
            <a:off x="6473952"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y₈</a:t>
            </a:r>
            <a:endParaRPr lang="en-US" sz="700" dirty="0"/>
          </a:p>
        </p:txBody>
      </p:sp>
      <p:sp>
        <p:nvSpPr>
          <p:cNvPr id="54" name="Shape 52"/>
          <p:cNvSpPr/>
          <p:nvPr/>
        </p:nvSpPr>
        <p:spPr>
          <a:xfrm>
            <a:off x="7214616" y="2881229"/>
            <a:ext cx="640080" cy="136291"/>
          </a:xfrm>
          <a:prstGeom prst="rect">
            <a:avLst/>
          </a:prstGeom>
          <a:solidFill>
            <a:srgbClr val="6B3FA0"/>
          </a:solidFill>
          <a:ln/>
        </p:spPr>
      </p:sp>
      <p:sp>
        <p:nvSpPr>
          <p:cNvPr id="55" name="Text 53"/>
          <p:cNvSpPr/>
          <p:nvPr/>
        </p:nvSpPr>
        <p:spPr>
          <a:xfrm>
            <a:off x="7214616" y="2698349"/>
            <a:ext cx="640080" cy="182880"/>
          </a:xfrm>
          <a:prstGeom prst="rect">
            <a:avLst/>
          </a:prstGeom>
          <a:noFill/>
          <a:ln/>
        </p:spPr>
        <p:txBody>
          <a:bodyPr wrap="square" lIns="0" tIns="0" rIns="0" bIns="0" rtlCol="0" anchor="ctr"/>
          <a:lstStyle/>
          <a:p>
            <a:pPr algn="ctr" indent="0" marL="0">
              <a:buNone/>
            </a:pPr>
            <a:r>
              <a:rPr lang="en-US" sz="700" dirty="0">
                <a:solidFill>
                  <a:srgbClr val="6B3FA0"/>
                </a:solidFill>
              </a:rPr>
              <a:t>0.27</a:t>
            </a:r>
            <a:endParaRPr lang="en-US" sz="700" dirty="0"/>
          </a:p>
        </p:txBody>
      </p:sp>
      <p:sp>
        <p:nvSpPr>
          <p:cNvPr id="56" name="Text 54"/>
          <p:cNvSpPr/>
          <p:nvPr/>
        </p:nvSpPr>
        <p:spPr>
          <a:xfrm>
            <a:off x="7214616"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y₉</a:t>
            </a:r>
            <a:endParaRPr lang="en-US" sz="700" dirty="0"/>
          </a:p>
        </p:txBody>
      </p:sp>
      <p:sp>
        <p:nvSpPr>
          <p:cNvPr id="57" name="Text 55"/>
          <p:cNvSpPr/>
          <p:nvPr/>
        </p:nvSpPr>
        <p:spPr>
          <a:xfrm>
            <a:off x="4251960" y="3291840"/>
            <a:ext cx="3611880" cy="320040"/>
          </a:xfrm>
          <a:prstGeom prst="rect">
            <a:avLst/>
          </a:prstGeom>
          <a:noFill/>
          <a:ln/>
        </p:spPr>
        <p:txBody>
          <a:bodyPr wrap="square" lIns="0" tIns="0" rIns="0" bIns="0" rtlCol="0" anchor="ctr"/>
          <a:lstStyle/>
          <a:p>
            <a:pPr indent="0" marL="0">
              <a:buNone/>
            </a:pPr>
            <a:r>
              <a:rPr lang="en-US" sz="750" dirty="0">
                <a:solidFill>
                  <a:srgbClr val="6B7280"/>
                </a:solidFill>
              </a:rPr>
              <a:t>PARADIGMÁTICO: corrige Habermas (SA bajo) pero mantiene Fricker (hermeneutical gap máximo).</a:t>
            </a:r>
            <a:endParaRPr lang="en-US" sz="750" dirty="0"/>
          </a:p>
        </p:txBody>
      </p:sp>
      <p:sp>
        <p:nvSpPr>
          <p:cNvPr id="58" name="Shape 56"/>
          <p:cNvSpPr/>
          <p:nvPr/>
        </p:nvSpPr>
        <p:spPr>
          <a:xfrm>
            <a:off x="8138160" y="914400"/>
            <a:ext cx="379476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9" name="Shape 57"/>
          <p:cNvSpPr/>
          <p:nvPr/>
        </p:nvSpPr>
        <p:spPr>
          <a:xfrm>
            <a:off x="8138160" y="914400"/>
            <a:ext cx="3794760" cy="457200"/>
          </a:xfrm>
          <a:prstGeom prst="rect">
            <a:avLst/>
          </a:prstGeom>
          <a:solidFill>
            <a:srgbClr val="2E75B6"/>
          </a:solidFill>
          <a:ln/>
        </p:spPr>
      </p:sp>
      <p:sp>
        <p:nvSpPr>
          <p:cNvPr id="60" name="Text 58"/>
          <p:cNvSpPr/>
          <p:nvPr/>
        </p:nvSpPr>
        <p:spPr>
          <a:xfrm>
            <a:off x="8229600" y="932688"/>
            <a:ext cx="3611880" cy="256032"/>
          </a:xfrm>
          <a:prstGeom prst="rect">
            <a:avLst/>
          </a:prstGeom>
          <a:noFill/>
          <a:ln/>
        </p:spPr>
        <p:txBody>
          <a:bodyPr wrap="square" lIns="0" tIns="0" rIns="0" bIns="0" rtlCol="0" anchor="ctr"/>
          <a:lstStyle/>
          <a:p>
            <a:pPr indent="0" marL="0">
              <a:buNone/>
            </a:pPr>
            <a:r>
              <a:rPr lang="en-US" sz="1300" b="1" dirty="0">
                <a:solidFill>
                  <a:srgbClr val="FFFFFF"/>
                </a:solidFill>
              </a:rPr>
              <a:t>Dabeiba</a:t>
            </a:r>
            <a:endParaRPr lang="en-US" sz="1300" dirty="0"/>
          </a:p>
        </p:txBody>
      </p:sp>
      <p:sp>
        <p:nvSpPr>
          <p:cNvPr id="61" name="Text 59"/>
          <p:cNvSpPr/>
          <p:nvPr/>
        </p:nvSpPr>
        <p:spPr>
          <a:xfrm>
            <a:off x="8229600" y="1170432"/>
            <a:ext cx="3611880" cy="182880"/>
          </a:xfrm>
          <a:prstGeom prst="rect">
            <a:avLst/>
          </a:prstGeom>
          <a:noFill/>
          <a:ln/>
        </p:spPr>
        <p:txBody>
          <a:bodyPr wrap="square" lIns="0" tIns="0" rIns="0" bIns="0" rtlCol="0" anchor="ctr"/>
          <a:lstStyle/>
          <a:p>
            <a:pPr indent="0" marL="0">
              <a:buNone/>
            </a:pPr>
            <a:r>
              <a:rPr lang="en-US" sz="850" i="1" dirty="0">
                <a:solidFill>
                  <a:srgbClr val="E8E8E8"/>
                </a:solidFill>
              </a:rPr>
              <a:t>Oficiales Ejército Nal.</a:t>
            </a:r>
            <a:endParaRPr lang="en-US" sz="850" dirty="0"/>
          </a:p>
        </p:txBody>
      </p:sp>
      <p:sp>
        <p:nvSpPr>
          <p:cNvPr id="62" name="Shape 60"/>
          <p:cNvSpPr/>
          <p:nvPr/>
        </p:nvSpPr>
        <p:spPr>
          <a:xfrm>
            <a:off x="8229600" y="1463040"/>
            <a:ext cx="1737360" cy="594360"/>
          </a:xfrm>
          <a:prstGeom prst="rect">
            <a:avLst/>
          </a:prstGeom>
          <a:solidFill>
            <a:srgbClr val="F0F4FF"/>
          </a:solidFill>
          <a:ln/>
        </p:spPr>
      </p:sp>
      <p:sp>
        <p:nvSpPr>
          <p:cNvPr id="63" name="Text 61"/>
          <p:cNvSpPr/>
          <p:nvPr/>
        </p:nvSpPr>
        <p:spPr>
          <a:xfrm>
            <a:off x="8229600" y="1463040"/>
            <a:ext cx="1737360" cy="274320"/>
          </a:xfrm>
          <a:prstGeom prst="rect">
            <a:avLst/>
          </a:prstGeom>
          <a:noFill/>
          <a:ln/>
        </p:spPr>
        <p:txBody>
          <a:bodyPr wrap="square" lIns="0" tIns="0" rIns="0" bIns="0" rtlCol="0" anchor="ctr"/>
          <a:lstStyle/>
          <a:p>
            <a:pPr algn="ctr" indent="0" marL="0">
              <a:buNone/>
            </a:pPr>
            <a:r>
              <a:rPr lang="en-US" sz="900" b="1" dirty="0">
                <a:solidFill>
                  <a:srgbClr val="1F4E79"/>
                </a:solidFill>
              </a:rPr>
              <a:t>DIS</a:t>
            </a:r>
            <a:endParaRPr lang="en-US" sz="900" dirty="0"/>
          </a:p>
        </p:txBody>
      </p:sp>
      <p:sp>
        <p:nvSpPr>
          <p:cNvPr id="64" name="Text 62"/>
          <p:cNvSpPr/>
          <p:nvPr/>
        </p:nvSpPr>
        <p:spPr>
          <a:xfrm>
            <a:off x="8229600" y="1719072"/>
            <a:ext cx="1737360" cy="320040"/>
          </a:xfrm>
          <a:prstGeom prst="rect">
            <a:avLst/>
          </a:prstGeom>
          <a:noFill/>
          <a:ln/>
        </p:spPr>
        <p:txBody>
          <a:bodyPr wrap="square" lIns="0" tIns="0" rIns="0" bIns="0" rtlCol="0" anchor="ctr"/>
          <a:lstStyle/>
          <a:p>
            <a:pPr algn="ctr" indent="0" marL="0">
              <a:buNone/>
            </a:pPr>
            <a:r>
              <a:rPr lang="en-US" sz="2000" b="1" dirty="0">
                <a:solidFill>
                  <a:srgbClr val="C00000"/>
                </a:solidFill>
              </a:rPr>
              <a:t>0.490</a:t>
            </a:r>
            <a:endParaRPr lang="en-US" sz="2000" dirty="0"/>
          </a:p>
        </p:txBody>
      </p:sp>
      <p:sp>
        <p:nvSpPr>
          <p:cNvPr id="65" name="Shape 63"/>
          <p:cNvSpPr/>
          <p:nvPr/>
        </p:nvSpPr>
        <p:spPr>
          <a:xfrm>
            <a:off x="10104120" y="1463040"/>
            <a:ext cx="1737360" cy="594360"/>
          </a:xfrm>
          <a:prstGeom prst="rect">
            <a:avLst/>
          </a:prstGeom>
          <a:solidFill>
            <a:srgbClr val="F5EEFF"/>
          </a:solidFill>
          <a:ln/>
        </p:spPr>
      </p:sp>
      <p:sp>
        <p:nvSpPr>
          <p:cNvPr id="66" name="Text 64"/>
          <p:cNvSpPr/>
          <p:nvPr/>
        </p:nvSpPr>
        <p:spPr>
          <a:xfrm>
            <a:off x="10104120" y="1463040"/>
            <a:ext cx="1737360" cy="274320"/>
          </a:xfrm>
          <a:prstGeom prst="rect">
            <a:avLst/>
          </a:prstGeom>
          <a:noFill/>
          <a:ln/>
        </p:spPr>
        <p:txBody>
          <a:bodyPr wrap="square" lIns="0" tIns="0" rIns="0" bIns="0" rtlCol="0" anchor="ctr"/>
          <a:lstStyle/>
          <a:p>
            <a:pPr algn="ctr" indent="0" marL="0">
              <a:buNone/>
            </a:pPr>
            <a:r>
              <a:rPr lang="en-US" sz="900" b="1" dirty="0">
                <a:solidFill>
                  <a:srgbClr val="6B3FA0"/>
                </a:solidFill>
              </a:rPr>
              <a:t>IEI</a:t>
            </a:r>
            <a:endParaRPr lang="en-US" sz="900" dirty="0"/>
          </a:p>
        </p:txBody>
      </p:sp>
      <p:sp>
        <p:nvSpPr>
          <p:cNvPr id="67" name="Text 65"/>
          <p:cNvSpPr/>
          <p:nvPr/>
        </p:nvSpPr>
        <p:spPr>
          <a:xfrm>
            <a:off x="10104120" y="1719072"/>
            <a:ext cx="1737360" cy="320040"/>
          </a:xfrm>
          <a:prstGeom prst="rect">
            <a:avLst/>
          </a:prstGeom>
          <a:noFill/>
          <a:ln/>
        </p:spPr>
        <p:txBody>
          <a:bodyPr wrap="square" lIns="0" tIns="0" rIns="0" bIns="0" rtlCol="0" anchor="ctr"/>
          <a:lstStyle/>
          <a:p>
            <a:pPr algn="ctr" indent="0" marL="0">
              <a:buNone/>
            </a:pPr>
            <a:r>
              <a:rPr lang="en-US" sz="2000" b="1" dirty="0">
                <a:solidFill>
                  <a:srgbClr val="6B3FA0"/>
                </a:solidFill>
              </a:rPr>
              <a:t>0.299</a:t>
            </a:r>
            <a:endParaRPr lang="en-US" sz="2000" dirty="0"/>
          </a:p>
        </p:txBody>
      </p:sp>
      <p:sp>
        <p:nvSpPr>
          <p:cNvPr id="68" name="Text 66"/>
          <p:cNvSpPr/>
          <p:nvPr/>
        </p:nvSpPr>
        <p:spPr>
          <a:xfrm>
            <a:off x="8229600" y="2148840"/>
            <a:ext cx="3611880" cy="256032"/>
          </a:xfrm>
          <a:prstGeom prst="rect">
            <a:avLst/>
          </a:prstGeom>
          <a:noFill/>
          <a:ln/>
        </p:spPr>
        <p:txBody>
          <a:bodyPr wrap="square" lIns="0" tIns="0" rIns="0" bIns="0" rtlCol="0" anchor="ctr"/>
          <a:lstStyle/>
          <a:p>
            <a:pPr algn="ctr" indent="0" marL="0">
              <a:buNone/>
            </a:pPr>
            <a:r>
              <a:rPr lang="en-US" sz="950" b="1" dirty="0">
                <a:solidFill>
                  <a:srgbClr val="2E75B6"/>
                </a:solidFill>
              </a:rPr>
              <a:t>Δ=0.190 · DIS&gt;IEI</a:t>
            </a:r>
            <a:endParaRPr lang="en-US" sz="950" dirty="0"/>
          </a:p>
        </p:txBody>
      </p:sp>
      <p:sp>
        <p:nvSpPr>
          <p:cNvPr id="69" name="Shape 67"/>
          <p:cNvSpPr/>
          <p:nvPr/>
        </p:nvSpPr>
        <p:spPr>
          <a:xfrm>
            <a:off x="8229600" y="2629769"/>
            <a:ext cx="640080" cy="387751"/>
          </a:xfrm>
          <a:prstGeom prst="rect">
            <a:avLst/>
          </a:prstGeom>
          <a:solidFill>
            <a:srgbClr val="2E75B6"/>
          </a:solidFill>
          <a:ln/>
        </p:spPr>
      </p:sp>
      <p:sp>
        <p:nvSpPr>
          <p:cNvPr id="70" name="Text 68"/>
          <p:cNvSpPr/>
          <p:nvPr/>
        </p:nvSpPr>
        <p:spPr>
          <a:xfrm>
            <a:off x="8229600" y="2446889"/>
            <a:ext cx="640080" cy="182880"/>
          </a:xfrm>
          <a:prstGeom prst="rect">
            <a:avLst/>
          </a:prstGeom>
          <a:noFill/>
          <a:ln/>
        </p:spPr>
        <p:txBody>
          <a:bodyPr wrap="square" lIns="0" tIns="0" rIns="0" bIns="0" rtlCol="0" anchor="ctr"/>
          <a:lstStyle/>
          <a:p>
            <a:pPr algn="ctr" indent="0" marL="0">
              <a:buNone/>
            </a:pPr>
            <a:r>
              <a:rPr lang="en-US" sz="700" dirty="0">
                <a:solidFill>
                  <a:srgbClr val="2E75B6"/>
                </a:solidFill>
              </a:rPr>
              <a:t>0.77</a:t>
            </a:r>
            <a:endParaRPr lang="en-US" sz="700" dirty="0"/>
          </a:p>
        </p:txBody>
      </p:sp>
      <p:sp>
        <p:nvSpPr>
          <p:cNvPr id="71" name="Text 69"/>
          <p:cNvSpPr/>
          <p:nvPr/>
        </p:nvSpPr>
        <p:spPr>
          <a:xfrm>
            <a:off x="8229600"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y₂</a:t>
            </a:r>
            <a:endParaRPr lang="en-US" sz="700" dirty="0"/>
          </a:p>
        </p:txBody>
      </p:sp>
      <p:sp>
        <p:nvSpPr>
          <p:cNvPr id="72" name="Shape 70"/>
          <p:cNvSpPr/>
          <p:nvPr/>
        </p:nvSpPr>
        <p:spPr>
          <a:xfrm>
            <a:off x="8970264" y="2911404"/>
            <a:ext cx="640080" cy="106116"/>
          </a:xfrm>
          <a:prstGeom prst="rect">
            <a:avLst/>
          </a:prstGeom>
          <a:solidFill>
            <a:srgbClr val="2E75B6"/>
          </a:solidFill>
          <a:ln/>
        </p:spPr>
      </p:sp>
      <p:sp>
        <p:nvSpPr>
          <p:cNvPr id="73" name="Text 71"/>
          <p:cNvSpPr/>
          <p:nvPr/>
        </p:nvSpPr>
        <p:spPr>
          <a:xfrm>
            <a:off x="8970264" y="2728524"/>
            <a:ext cx="640080" cy="182880"/>
          </a:xfrm>
          <a:prstGeom prst="rect">
            <a:avLst/>
          </a:prstGeom>
          <a:noFill/>
          <a:ln/>
        </p:spPr>
        <p:txBody>
          <a:bodyPr wrap="square" lIns="0" tIns="0" rIns="0" bIns="0" rtlCol="0" anchor="ctr"/>
          <a:lstStyle/>
          <a:p>
            <a:pPr algn="ctr" indent="0" marL="0">
              <a:buNone/>
            </a:pPr>
            <a:r>
              <a:rPr lang="en-US" sz="700" dirty="0">
                <a:solidFill>
                  <a:srgbClr val="2E75B6"/>
                </a:solidFill>
              </a:rPr>
              <a:t>0.21</a:t>
            </a:r>
            <a:endParaRPr lang="en-US" sz="700" dirty="0"/>
          </a:p>
        </p:txBody>
      </p:sp>
      <p:sp>
        <p:nvSpPr>
          <p:cNvPr id="74" name="Text 72"/>
          <p:cNvSpPr/>
          <p:nvPr/>
        </p:nvSpPr>
        <p:spPr>
          <a:xfrm>
            <a:off x="8970264"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y₄</a:t>
            </a:r>
            <a:endParaRPr lang="en-US" sz="700" dirty="0"/>
          </a:p>
        </p:txBody>
      </p:sp>
      <p:sp>
        <p:nvSpPr>
          <p:cNvPr id="75" name="Shape 73"/>
          <p:cNvSpPr/>
          <p:nvPr/>
        </p:nvSpPr>
        <p:spPr>
          <a:xfrm>
            <a:off x="9710928" y="2984327"/>
            <a:ext cx="640080" cy="33193"/>
          </a:xfrm>
          <a:prstGeom prst="rect">
            <a:avLst/>
          </a:prstGeom>
          <a:solidFill>
            <a:srgbClr val="2E75B6"/>
          </a:solidFill>
          <a:ln/>
        </p:spPr>
      </p:sp>
      <p:sp>
        <p:nvSpPr>
          <p:cNvPr id="76" name="Text 74"/>
          <p:cNvSpPr/>
          <p:nvPr/>
        </p:nvSpPr>
        <p:spPr>
          <a:xfrm>
            <a:off x="9710928" y="2801447"/>
            <a:ext cx="640080" cy="182880"/>
          </a:xfrm>
          <a:prstGeom prst="rect">
            <a:avLst/>
          </a:prstGeom>
          <a:noFill/>
          <a:ln/>
        </p:spPr>
        <p:txBody>
          <a:bodyPr wrap="square" lIns="0" tIns="0" rIns="0" bIns="0" rtlCol="0" anchor="ctr"/>
          <a:lstStyle/>
          <a:p>
            <a:pPr algn="ctr" indent="0" marL="0">
              <a:buNone/>
            </a:pPr>
            <a:r>
              <a:rPr lang="en-US" sz="700" dirty="0">
                <a:solidFill>
                  <a:srgbClr val="2E75B6"/>
                </a:solidFill>
              </a:rPr>
              <a:t>0.07</a:t>
            </a:r>
            <a:endParaRPr lang="en-US" sz="700" dirty="0"/>
          </a:p>
        </p:txBody>
      </p:sp>
      <p:sp>
        <p:nvSpPr>
          <p:cNvPr id="77" name="Text 75"/>
          <p:cNvSpPr/>
          <p:nvPr/>
        </p:nvSpPr>
        <p:spPr>
          <a:xfrm>
            <a:off x="9710928"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y₁₀</a:t>
            </a:r>
            <a:endParaRPr lang="en-US" sz="700" dirty="0"/>
          </a:p>
        </p:txBody>
      </p:sp>
      <p:sp>
        <p:nvSpPr>
          <p:cNvPr id="78" name="Shape 76"/>
          <p:cNvSpPr/>
          <p:nvPr/>
        </p:nvSpPr>
        <p:spPr>
          <a:xfrm>
            <a:off x="10451592" y="2922468"/>
            <a:ext cx="640080" cy="95052"/>
          </a:xfrm>
          <a:prstGeom prst="rect">
            <a:avLst/>
          </a:prstGeom>
          <a:solidFill>
            <a:srgbClr val="2E75B6"/>
          </a:solidFill>
          <a:ln/>
        </p:spPr>
      </p:sp>
      <p:sp>
        <p:nvSpPr>
          <p:cNvPr id="79" name="Text 77"/>
          <p:cNvSpPr/>
          <p:nvPr/>
        </p:nvSpPr>
        <p:spPr>
          <a:xfrm>
            <a:off x="10451592" y="2739588"/>
            <a:ext cx="640080" cy="182880"/>
          </a:xfrm>
          <a:prstGeom prst="rect">
            <a:avLst/>
          </a:prstGeom>
          <a:noFill/>
          <a:ln/>
        </p:spPr>
        <p:txBody>
          <a:bodyPr wrap="square" lIns="0" tIns="0" rIns="0" bIns="0" rtlCol="0" anchor="ctr"/>
          <a:lstStyle/>
          <a:p>
            <a:pPr algn="ctr" indent="0" marL="0">
              <a:buNone/>
            </a:pPr>
            <a:r>
              <a:rPr lang="en-US" sz="700" dirty="0">
                <a:solidFill>
                  <a:srgbClr val="2E75B6"/>
                </a:solidFill>
              </a:rPr>
              <a:t>0.19</a:t>
            </a:r>
            <a:endParaRPr lang="en-US" sz="700" dirty="0"/>
          </a:p>
        </p:txBody>
      </p:sp>
      <p:sp>
        <p:nvSpPr>
          <p:cNvPr id="80" name="Text 78"/>
          <p:cNvSpPr/>
          <p:nvPr/>
        </p:nvSpPr>
        <p:spPr>
          <a:xfrm>
            <a:off x="10451592"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y₈</a:t>
            </a:r>
            <a:endParaRPr lang="en-US" sz="700" dirty="0"/>
          </a:p>
        </p:txBody>
      </p:sp>
      <p:sp>
        <p:nvSpPr>
          <p:cNvPr id="81" name="Shape 79"/>
          <p:cNvSpPr/>
          <p:nvPr/>
        </p:nvSpPr>
        <p:spPr>
          <a:xfrm>
            <a:off x="11192256" y="2885755"/>
            <a:ext cx="640080" cy="131765"/>
          </a:xfrm>
          <a:prstGeom prst="rect">
            <a:avLst/>
          </a:prstGeom>
          <a:solidFill>
            <a:srgbClr val="2E75B6"/>
          </a:solidFill>
          <a:ln/>
        </p:spPr>
      </p:sp>
      <p:sp>
        <p:nvSpPr>
          <p:cNvPr id="82" name="Text 80"/>
          <p:cNvSpPr/>
          <p:nvPr/>
        </p:nvSpPr>
        <p:spPr>
          <a:xfrm>
            <a:off x="11192256" y="2702875"/>
            <a:ext cx="640080" cy="182880"/>
          </a:xfrm>
          <a:prstGeom prst="rect">
            <a:avLst/>
          </a:prstGeom>
          <a:noFill/>
          <a:ln/>
        </p:spPr>
        <p:txBody>
          <a:bodyPr wrap="square" lIns="0" tIns="0" rIns="0" bIns="0" rtlCol="0" anchor="ctr"/>
          <a:lstStyle/>
          <a:p>
            <a:pPr algn="ctr" indent="0" marL="0">
              <a:buNone/>
            </a:pPr>
            <a:r>
              <a:rPr lang="en-US" sz="700" dirty="0">
                <a:solidFill>
                  <a:srgbClr val="2E75B6"/>
                </a:solidFill>
              </a:rPr>
              <a:t>0.26</a:t>
            </a:r>
            <a:endParaRPr lang="en-US" sz="700" dirty="0"/>
          </a:p>
        </p:txBody>
      </p:sp>
      <p:sp>
        <p:nvSpPr>
          <p:cNvPr id="83" name="Text 81"/>
          <p:cNvSpPr/>
          <p:nvPr/>
        </p:nvSpPr>
        <p:spPr>
          <a:xfrm>
            <a:off x="11192256" y="303580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y₉</a:t>
            </a:r>
            <a:endParaRPr lang="en-US" sz="700" dirty="0"/>
          </a:p>
        </p:txBody>
      </p:sp>
      <p:sp>
        <p:nvSpPr>
          <p:cNvPr id="84" name="Text 82"/>
          <p:cNvSpPr/>
          <p:nvPr/>
        </p:nvSpPr>
        <p:spPr>
          <a:xfrm>
            <a:off x="8229600" y="3291840"/>
            <a:ext cx="3611880" cy="320040"/>
          </a:xfrm>
          <a:prstGeom prst="rect">
            <a:avLst/>
          </a:prstGeom>
          <a:noFill/>
          <a:ln/>
        </p:spPr>
        <p:txBody>
          <a:bodyPr wrap="square" lIns="0" tIns="0" rIns="0" bIns="0" rtlCol="0" anchor="ctr"/>
          <a:lstStyle/>
          <a:p>
            <a:pPr indent="0" marL="0">
              <a:buNone/>
            </a:pPr>
            <a:r>
              <a:rPr lang="en-US" sz="750" dirty="0">
                <a:solidFill>
                  <a:srgbClr val="6B7280"/>
                </a:solidFill>
              </a:rPr>
              <a:t>DIS moderado, IEI bajo. Materialidad del reconocimiento (49 fosas) reduce gap Fraser.</a:t>
            </a:r>
            <a:endParaRPr lang="en-US" sz="750" dirty="0"/>
          </a:p>
        </p:txBody>
      </p:sp>
      <p:sp>
        <p:nvSpPr>
          <p:cNvPr id="85" name="Shape 83"/>
          <p:cNvSpPr/>
          <p:nvPr/>
        </p:nvSpPr>
        <p:spPr>
          <a:xfrm>
            <a:off x="182880" y="3840480"/>
            <a:ext cx="379476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6" name="Shape 84"/>
          <p:cNvSpPr/>
          <p:nvPr/>
        </p:nvSpPr>
        <p:spPr>
          <a:xfrm>
            <a:off x="182880" y="3840480"/>
            <a:ext cx="3794760" cy="457200"/>
          </a:xfrm>
          <a:prstGeom prst="rect">
            <a:avLst/>
          </a:prstGeom>
          <a:solidFill>
            <a:srgbClr val="217346"/>
          </a:solidFill>
          <a:ln/>
        </p:spPr>
      </p:sp>
      <p:sp>
        <p:nvSpPr>
          <p:cNvPr id="87" name="Text 85"/>
          <p:cNvSpPr/>
          <p:nvPr/>
        </p:nvSpPr>
        <p:spPr>
          <a:xfrm>
            <a:off x="274320" y="3858768"/>
            <a:ext cx="3611880" cy="256032"/>
          </a:xfrm>
          <a:prstGeom prst="rect">
            <a:avLst/>
          </a:prstGeom>
          <a:noFill/>
          <a:ln/>
        </p:spPr>
        <p:txBody>
          <a:bodyPr wrap="square" lIns="0" tIns="0" rIns="0" bIns="0" rtlCol="0" anchor="ctr"/>
          <a:lstStyle/>
          <a:p>
            <a:pPr indent="0" marL="0">
              <a:buNone/>
            </a:pPr>
            <a:r>
              <a:rPr lang="en-US" sz="1300" b="1" dirty="0">
                <a:solidFill>
                  <a:srgbClr val="FFFFFF"/>
                </a:solidFill>
              </a:rPr>
              <a:t>Huila</a:t>
            </a:r>
            <a:endParaRPr lang="en-US" sz="1300" dirty="0"/>
          </a:p>
        </p:txBody>
      </p:sp>
      <p:sp>
        <p:nvSpPr>
          <p:cNvPr id="88" name="Text 86"/>
          <p:cNvSpPr/>
          <p:nvPr/>
        </p:nvSpPr>
        <p:spPr>
          <a:xfrm>
            <a:off x="274320" y="4096512"/>
            <a:ext cx="3611880" cy="182880"/>
          </a:xfrm>
          <a:prstGeom prst="rect">
            <a:avLst/>
          </a:prstGeom>
          <a:noFill/>
          <a:ln/>
        </p:spPr>
        <p:txBody>
          <a:bodyPr wrap="square" lIns="0" tIns="0" rIns="0" bIns="0" rtlCol="0" anchor="ctr"/>
          <a:lstStyle/>
          <a:p>
            <a:pPr indent="0" marL="0">
              <a:buNone/>
            </a:pPr>
            <a:r>
              <a:rPr lang="en-US" sz="850" i="1" dirty="0">
                <a:solidFill>
                  <a:srgbClr val="E8E8E8"/>
                </a:solidFill>
              </a:rPr>
              <a:t>Soldados y suboficiales</a:t>
            </a:r>
            <a:endParaRPr lang="en-US" sz="850" dirty="0"/>
          </a:p>
        </p:txBody>
      </p:sp>
      <p:sp>
        <p:nvSpPr>
          <p:cNvPr id="89" name="Shape 87"/>
          <p:cNvSpPr/>
          <p:nvPr/>
        </p:nvSpPr>
        <p:spPr>
          <a:xfrm>
            <a:off x="274320" y="4389120"/>
            <a:ext cx="1737360" cy="594360"/>
          </a:xfrm>
          <a:prstGeom prst="rect">
            <a:avLst/>
          </a:prstGeom>
          <a:solidFill>
            <a:srgbClr val="F0F4FF"/>
          </a:solidFill>
          <a:ln/>
        </p:spPr>
      </p:sp>
      <p:sp>
        <p:nvSpPr>
          <p:cNvPr id="90" name="Text 88"/>
          <p:cNvSpPr/>
          <p:nvPr/>
        </p:nvSpPr>
        <p:spPr>
          <a:xfrm>
            <a:off x="274320" y="4389120"/>
            <a:ext cx="1737360" cy="274320"/>
          </a:xfrm>
          <a:prstGeom prst="rect">
            <a:avLst/>
          </a:prstGeom>
          <a:noFill/>
          <a:ln/>
        </p:spPr>
        <p:txBody>
          <a:bodyPr wrap="square" lIns="0" tIns="0" rIns="0" bIns="0" rtlCol="0" anchor="ctr"/>
          <a:lstStyle/>
          <a:p>
            <a:pPr algn="ctr" indent="0" marL="0">
              <a:buNone/>
            </a:pPr>
            <a:r>
              <a:rPr lang="en-US" sz="900" b="1" dirty="0">
                <a:solidFill>
                  <a:srgbClr val="1F4E79"/>
                </a:solidFill>
              </a:rPr>
              <a:t>DIS</a:t>
            </a:r>
            <a:endParaRPr lang="en-US" sz="900" dirty="0"/>
          </a:p>
        </p:txBody>
      </p:sp>
      <p:sp>
        <p:nvSpPr>
          <p:cNvPr id="91" name="Text 89"/>
          <p:cNvSpPr/>
          <p:nvPr/>
        </p:nvSpPr>
        <p:spPr>
          <a:xfrm>
            <a:off x="274320" y="4645152"/>
            <a:ext cx="1737360" cy="320040"/>
          </a:xfrm>
          <a:prstGeom prst="rect">
            <a:avLst/>
          </a:prstGeom>
          <a:noFill/>
          <a:ln/>
        </p:spPr>
        <p:txBody>
          <a:bodyPr wrap="square" lIns="0" tIns="0" rIns="0" bIns="0" rtlCol="0" anchor="ctr"/>
          <a:lstStyle/>
          <a:p>
            <a:pPr algn="ctr" indent="0" marL="0">
              <a:buNone/>
            </a:pPr>
            <a:r>
              <a:rPr lang="en-US" sz="2000" b="1" dirty="0">
                <a:solidFill>
                  <a:srgbClr val="C00000"/>
                </a:solidFill>
              </a:rPr>
              <a:t>0.228</a:t>
            </a:r>
            <a:endParaRPr lang="en-US" sz="2000" dirty="0"/>
          </a:p>
        </p:txBody>
      </p:sp>
      <p:sp>
        <p:nvSpPr>
          <p:cNvPr id="92" name="Shape 90"/>
          <p:cNvSpPr/>
          <p:nvPr/>
        </p:nvSpPr>
        <p:spPr>
          <a:xfrm>
            <a:off x="2148840" y="4389120"/>
            <a:ext cx="1737360" cy="594360"/>
          </a:xfrm>
          <a:prstGeom prst="rect">
            <a:avLst/>
          </a:prstGeom>
          <a:solidFill>
            <a:srgbClr val="F5EEFF"/>
          </a:solidFill>
          <a:ln/>
        </p:spPr>
      </p:sp>
      <p:sp>
        <p:nvSpPr>
          <p:cNvPr id="93" name="Text 91"/>
          <p:cNvSpPr/>
          <p:nvPr/>
        </p:nvSpPr>
        <p:spPr>
          <a:xfrm>
            <a:off x="2148840" y="4389120"/>
            <a:ext cx="1737360" cy="274320"/>
          </a:xfrm>
          <a:prstGeom prst="rect">
            <a:avLst/>
          </a:prstGeom>
          <a:noFill/>
          <a:ln/>
        </p:spPr>
        <p:txBody>
          <a:bodyPr wrap="square" lIns="0" tIns="0" rIns="0" bIns="0" rtlCol="0" anchor="ctr"/>
          <a:lstStyle/>
          <a:p>
            <a:pPr algn="ctr" indent="0" marL="0">
              <a:buNone/>
            </a:pPr>
            <a:r>
              <a:rPr lang="en-US" sz="900" b="1" dirty="0">
                <a:solidFill>
                  <a:srgbClr val="6B3FA0"/>
                </a:solidFill>
              </a:rPr>
              <a:t>IEI</a:t>
            </a:r>
            <a:endParaRPr lang="en-US" sz="900" dirty="0"/>
          </a:p>
        </p:txBody>
      </p:sp>
      <p:sp>
        <p:nvSpPr>
          <p:cNvPr id="94" name="Text 92"/>
          <p:cNvSpPr/>
          <p:nvPr/>
        </p:nvSpPr>
        <p:spPr>
          <a:xfrm>
            <a:off x="2148840" y="4645152"/>
            <a:ext cx="1737360" cy="320040"/>
          </a:xfrm>
          <a:prstGeom prst="rect">
            <a:avLst/>
          </a:prstGeom>
          <a:noFill/>
          <a:ln/>
        </p:spPr>
        <p:txBody>
          <a:bodyPr wrap="square" lIns="0" tIns="0" rIns="0" bIns="0" rtlCol="0" anchor="ctr"/>
          <a:lstStyle/>
          <a:p>
            <a:pPr algn="ctr" indent="0" marL="0">
              <a:buNone/>
            </a:pPr>
            <a:r>
              <a:rPr lang="en-US" sz="2000" b="1" dirty="0">
                <a:solidFill>
                  <a:srgbClr val="6B3FA0"/>
                </a:solidFill>
              </a:rPr>
              <a:t>0.081</a:t>
            </a:r>
            <a:endParaRPr lang="en-US" sz="2000" dirty="0"/>
          </a:p>
        </p:txBody>
      </p:sp>
      <p:sp>
        <p:nvSpPr>
          <p:cNvPr id="95" name="Text 93"/>
          <p:cNvSpPr/>
          <p:nvPr/>
        </p:nvSpPr>
        <p:spPr>
          <a:xfrm>
            <a:off x="274320" y="5074920"/>
            <a:ext cx="3611880" cy="256032"/>
          </a:xfrm>
          <a:prstGeom prst="rect">
            <a:avLst/>
          </a:prstGeom>
          <a:noFill/>
          <a:ln/>
        </p:spPr>
        <p:txBody>
          <a:bodyPr wrap="square" lIns="0" tIns="0" rIns="0" bIns="0" rtlCol="0" anchor="ctr"/>
          <a:lstStyle/>
          <a:p>
            <a:pPr algn="ctr" indent="0" marL="0">
              <a:buNone/>
            </a:pPr>
            <a:r>
              <a:rPr lang="en-US" sz="950" b="1" dirty="0">
                <a:solidFill>
                  <a:srgbClr val="217346"/>
                </a:solidFill>
              </a:rPr>
              <a:t>Δ=0.147 · DIS&gt;IEI</a:t>
            </a:r>
            <a:endParaRPr lang="en-US" sz="950" dirty="0"/>
          </a:p>
        </p:txBody>
      </p:sp>
      <p:sp>
        <p:nvSpPr>
          <p:cNvPr id="96" name="Shape 94"/>
          <p:cNvSpPr/>
          <p:nvPr/>
        </p:nvSpPr>
        <p:spPr>
          <a:xfrm>
            <a:off x="274320" y="5599603"/>
            <a:ext cx="640080" cy="343997"/>
          </a:xfrm>
          <a:prstGeom prst="rect">
            <a:avLst/>
          </a:prstGeom>
          <a:solidFill>
            <a:srgbClr val="217346"/>
          </a:solidFill>
          <a:ln/>
        </p:spPr>
      </p:sp>
      <p:sp>
        <p:nvSpPr>
          <p:cNvPr id="97" name="Text 95"/>
          <p:cNvSpPr/>
          <p:nvPr/>
        </p:nvSpPr>
        <p:spPr>
          <a:xfrm>
            <a:off x="274320" y="5416723"/>
            <a:ext cx="640080" cy="182880"/>
          </a:xfrm>
          <a:prstGeom prst="rect">
            <a:avLst/>
          </a:prstGeom>
          <a:noFill/>
          <a:ln/>
        </p:spPr>
        <p:txBody>
          <a:bodyPr wrap="square" lIns="0" tIns="0" rIns="0" bIns="0" rtlCol="0" anchor="ctr"/>
          <a:lstStyle/>
          <a:p>
            <a:pPr algn="ctr" indent="0" marL="0">
              <a:buNone/>
            </a:pPr>
            <a:r>
              <a:rPr lang="en-US" sz="700" dirty="0">
                <a:solidFill>
                  <a:srgbClr val="217346"/>
                </a:solidFill>
              </a:rPr>
              <a:t>0.68</a:t>
            </a:r>
            <a:endParaRPr lang="en-US" sz="700" dirty="0"/>
          </a:p>
        </p:txBody>
      </p:sp>
      <p:sp>
        <p:nvSpPr>
          <p:cNvPr id="98" name="Text 96"/>
          <p:cNvSpPr/>
          <p:nvPr/>
        </p:nvSpPr>
        <p:spPr>
          <a:xfrm>
            <a:off x="274320" y="596188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y₂</a:t>
            </a:r>
            <a:endParaRPr lang="en-US" sz="700" dirty="0"/>
          </a:p>
        </p:txBody>
      </p:sp>
      <p:sp>
        <p:nvSpPr>
          <p:cNvPr id="99" name="Shape 97"/>
          <p:cNvSpPr/>
          <p:nvPr/>
        </p:nvSpPr>
        <p:spPr>
          <a:xfrm>
            <a:off x="1014984" y="5787192"/>
            <a:ext cx="640080" cy="156408"/>
          </a:xfrm>
          <a:prstGeom prst="rect">
            <a:avLst/>
          </a:prstGeom>
          <a:solidFill>
            <a:srgbClr val="217346"/>
          </a:solidFill>
          <a:ln/>
        </p:spPr>
      </p:sp>
      <p:sp>
        <p:nvSpPr>
          <p:cNvPr id="100" name="Text 98"/>
          <p:cNvSpPr/>
          <p:nvPr/>
        </p:nvSpPr>
        <p:spPr>
          <a:xfrm>
            <a:off x="1014984" y="5604312"/>
            <a:ext cx="640080" cy="182880"/>
          </a:xfrm>
          <a:prstGeom prst="rect">
            <a:avLst/>
          </a:prstGeom>
          <a:noFill/>
          <a:ln/>
        </p:spPr>
        <p:txBody>
          <a:bodyPr wrap="square" lIns="0" tIns="0" rIns="0" bIns="0" rtlCol="0" anchor="ctr"/>
          <a:lstStyle/>
          <a:p>
            <a:pPr algn="ctr" indent="0" marL="0">
              <a:buNone/>
            </a:pPr>
            <a:r>
              <a:rPr lang="en-US" sz="700" dirty="0">
                <a:solidFill>
                  <a:srgbClr val="217346"/>
                </a:solidFill>
              </a:rPr>
              <a:t>0.31</a:t>
            </a:r>
            <a:endParaRPr lang="en-US" sz="700" dirty="0"/>
          </a:p>
        </p:txBody>
      </p:sp>
      <p:sp>
        <p:nvSpPr>
          <p:cNvPr id="101" name="Text 99"/>
          <p:cNvSpPr/>
          <p:nvPr/>
        </p:nvSpPr>
        <p:spPr>
          <a:xfrm>
            <a:off x="1014984" y="596188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y₄</a:t>
            </a:r>
            <a:endParaRPr lang="en-US" sz="700" dirty="0"/>
          </a:p>
        </p:txBody>
      </p:sp>
      <p:sp>
        <p:nvSpPr>
          <p:cNvPr id="102" name="Shape 100"/>
          <p:cNvSpPr/>
          <p:nvPr/>
        </p:nvSpPr>
        <p:spPr>
          <a:xfrm>
            <a:off x="1755648" y="5869671"/>
            <a:ext cx="640080" cy="73929"/>
          </a:xfrm>
          <a:prstGeom prst="rect">
            <a:avLst/>
          </a:prstGeom>
          <a:solidFill>
            <a:srgbClr val="217346"/>
          </a:solidFill>
          <a:ln/>
        </p:spPr>
      </p:sp>
      <p:sp>
        <p:nvSpPr>
          <p:cNvPr id="103" name="Text 101"/>
          <p:cNvSpPr/>
          <p:nvPr/>
        </p:nvSpPr>
        <p:spPr>
          <a:xfrm>
            <a:off x="1755648" y="5686791"/>
            <a:ext cx="640080" cy="182880"/>
          </a:xfrm>
          <a:prstGeom prst="rect">
            <a:avLst/>
          </a:prstGeom>
          <a:noFill/>
          <a:ln/>
        </p:spPr>
        <p:txBody>
          <a:bodyPr wrap="square" lIns="0" tIns="0" rIns="0" bIns="0" rtlCol="0" anchor="ctr"/>
          <a:lstStyle/>
          <a:p>
            <a:pPr algn="ctr" indent="0" marL="0">
              <a:buNone/>
            </a:pPr>
            <a:r>
              <a:rPr lang="en-US" sz="700" dirty="0">
                <a:solidFill>
                  <a:srgbClr val="217346"/>
                </a:solidFill>
              </a:rPr>
              <a:t>0.15</a:t>
            </a:r>
            <a:endParaRPr lang="en-US" sz="700" dirty="0"/>
          </a:p>
        </p:txBody>
      </p:sp>
      <p:sp>
        <p:nvSpPr>
          <p:cNvPr id="104" name="Text 102"/>
          <p:cNvSpPr/>
          <p:nvPr/>
        </p:nvSpPr>
        <p:spPr>
          <a:xfrm>
            <a:off x="1755648" y="596188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y₁₀</a:t>
            </a:r>
            <a:endParaRPr lang="en-US" sz="700" dirty="0"/>
          </a:p>
        </p:txBody>
      </p:sp>
      <p:sp>
        <p:nvSpPr>
          <p:cNvPr id="105" name="Shape 103"/>
          <p:cNvSpPr/>
          <p:nvPr/>
        </p:nvSpPr>
        <p:spPr>
          <a:xfrm>
            <a:off x="2496312" y="5850057"/>
            <a:ext cx="640080" cy="93543"/>
          </a:xfrm>
          <a:prstGeom prst="rect">
            <a:avLst/>
          </a:prstGeom>
          <a:solidFill>
            <a:srgbClr val="217346"/>
          </a:solidFill>
          <a:ln/>
        </p:spPr>
      </p:sp>
      <p:sp>
        <p:nvSpPr>
          <p:cNvPr id="106" name="Text 104"/>
          <p:cNvSpPr/>
          <p:nvPr/>
        </p:nvSpPr>
        <p:spPr>
          <a:xfrm>
            <a:off x="2496312" y="5667177"/>
            <a:ext cx="640080" cy="182880"/>
          </a:xfrm>
          <a:prstGeom prst="rect">
            <a:avLst/>
          </a:prstGeom>
          <a:noFill/>
          <a:ln/>
        </p:spPr>
        <p:txBody>
          <a:bodyPr wrap="square" lIns="0" tIns="0" rIns="0" bIns="0" rtlCol="0" anchor="ctr"/>
          <a:lstStyle/>
          <a:p>
            <a:pPr algn="ctr" indent="0" marL="0">
              <a:buNone/>
            </a:pPr>
            <a:r>
              <a:rPr lang="en-US" sz="700" dirty="0">
                <a:solidFill>
                  <a:srgbClr val="217346"/>
                </a:solidFill>
              </a:rPr>
              <a:t>0.19</a:t>
            </a:r>
            <a:endParaRPr lang="en-US" sz="700" dirty="0"/>
          </a:p>
        </p:txBody>
      </p:sp>
      <p:sp>
        <p:nvSpPr>
          <p:cNvPr id="107" name="Text 105"/>
          <p:cNvSpPr/>
          <p:nvPr/>
        </p:nvSpPr>
        <p:spPr>
          <a:xfrm>
            <a:off x="2496312" y="596188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y₈</a:t>
            </a:r>
            <a:endParaRPr lang="en-US" sz="700" dirty="0"/>
          </a:p>
        </p:txBody>
      </p:sp>
      <p:sp>
        <p:nvSpPr>
          <p:cNvPr id="108" name="Shape 106"/>
          <p:cNvSpPr/>
          <p:nvPr/>
        </p:nvSpPr>
        <p:spPr>
          <a:xfrm>
            <a:off x="3236976" y="5811332"/>
            <a:ext cx="640080" cy="132268"/>
          </a:xfrm>
          <a:prstGeom prst="rect">
            <a:avLst/>
          </a:prstGeom>
          <a:solidFill>
            <a:srgbClr val="217346"/>
          </a:solidFill>
          <a:ln/>
        </p:spPr>
      </p:sp>
      <p:sp>
        <p:nvSpPr>
          <p:cNvPr id="109" name="Text 107"/>
          <p:cNvSpPr/>
          <p:nvPr/>
        </p:nvSpPr>
        <p:spPr>
          <a:xfrm>
            <a:off x="3236976" y="5628452"/>
            <a:ext cx="640080" cy="182880"/>
          </a:xfrm>
          <a:prstGeom prst="rect">
            <a:avLst/>
          </a:prstGeom>
          <a:noFill/>
          <a:ln/>
        </p:spPr>
        <p:txBody>
          <a:bodyPr wrap="square" lIns="0" tIns="0" rIns="0" bIns="0" rtlCol="0" anchor="ctr"/>
          <a:lstStyle/>
          <a:p>
            <a:pPr algn="ctr" indent="0" marL="0">
              <a:buNone/>
            </a:pPr>
            <a:r>
              <a:rPr lang="en-US" sz="700" dirty="0">
                <a:solidFill>
                  <a:srgbClr val="217346"/>
                </a:solidFill>
              </a:rPr>
              <a:t>0.26</a:t>
            </a:r>
            <a:endParaRPr lang="en-US" sz="700" dirty="0"/>
          </a:p>
        </p:txBody>
      </p:sp>
      <p:sp>
        <p:nvSpPr>
          <p:cNvPr id="110" name="Text 108"/>
          <p:cNvSpPr/>
          <p:nvPr/>
        </p:nvSpPr>
        <p:spPr>
          <a:xfrm>
            <a:off x="3236976" y="596188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y₉</a:t>
            </a:r>
            <a:endParaRPr lang="en-US" sz="700" dirty="0"/>
          </a:p>
        </p:txBody>
      </p:sp>
      <p:sp>
        <p:nvSpPr>
          <p:cNvPr id="111" name="Text 109"/>
          <p:cNvSpPr/>
          <p:nvPr/>
        </p:nvSpPr>
        <p:spPr>
          <a:xfrm>
            <a:off x="274320" y="6217920"/>
            <a:ext cx="3611880" cy="320040"/>
          </a:xfrm>
          <a:prstGeom prst="rect">
            <a:avLst/>
          </a:prstGeom>
          <a:noFill/>
          <a:ln/>
        </p:spPr>
        <p:txBody>
          <a:bodyPr wrap="square" lIns="0" tIns="0" rIns="0" bIns="0" rtlCol="0" anchor="ctr"/>
          <a:lstStyle/>
          <a:p>
            <a:pPr indent="0" marL="0">
              <a:buNone/>
            </a:pPr>
            <a:r>
              <a:rPr lang="en-US" sz="750" dirty="0">
                <a:solidFill>
                  <a:srgbClr val="6B7280"/>
                </a:solidFill>
              </a:rPr>
              <a:t>Mejor perfil bi-índice. Mayor REP (Fraser). Menor DIS y IEI del corpus C.</a:t>
            </a:r>
            <a:endParaRPr lang="en-US" sz="750" dirty="0"/>
          </a:p>
        </p:txBody>
      </p:sp>
      <p:sp>
        <p:nvSpPr>
          <p:cNvPr id="112" name="Shape 110"/>
          <p:cNvSpPr/>
          <p:nvPr/>
        </p:nvSpPr>
        <p:spPr>
          <a:xfrm>
            <a:off x="4160520" y="3840480"/>
            <a:ext cx="379476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3" name="Shape 111"/>
          <p:cNvSpPr/>
          <p:nvPr/>
        </p:nvSpPr>
        <p:spPr>
          <a:xfrm>
            <a:off x="4160520" y="3840480"/>
            <a:ext cx="3794760" cy="457200"/>
          </a:xfrm>
          <a:prstGeom prst="rect">
            <a:avLst/>
          </a:prstGeom>
          <a:solidFill>
            <a:srgbClr val="C9A227"/>
          </a:solidFill>
          <a:ln/>
        </p:spPr>
      </p:sp>
      <p:sp>
        <p:nvSpPr>
          <p:cNvPr id="114" name="Text 112"/>
          <p:cNvSpPr/>
          <p:nvPr/>
        </p:nvSpPr>
        <p:spPr>
          <a:xfrm>
            <a:off x="4251960" y="3858768"/>
            <a:ext cx="3611880" cy="256032"/>
          </a:xfrm>
          <a:prstGeom prst="rect">
            <a:avLst/>
          </a:prstGeom>
          <a:noFill/>
          <a:ln/>
        </p:spPr>
        <p:txBody>
          <a:bodyPr wrap="square" lIns="0" tIns="0" rIns="0" bIns="0" rtlCol="0" anchor="ctr"/>
          <a:lstStyle/>
          <a:p>
            <a:pPr indent="0" marL="0">
              <a:buNone/>
            </a:pPr>
            <a:r>
              <a:rPr lang="en-US" sz="1300" b="1" dirty="0">
                <a:solidFill>
                  <a:srgbClr val="FFFFFF"/>
                </a:solidFill>
              </a:rPr>
              <a:t>Costa Caribe</a:t>
            </a:r>
            <a:endParaRPr lang="en-US" sz="1300" dirty="0"/>
          </a:p>
        </p:txBody>
      </p:sp>
      <p:sp>
        <p:nvSpPr>
          <p:cNvPr id="115" name="Text 113"/>
          <p:cNvSpPr/>
          <p:nvPr/>
        </p:nvSpPr>
        <p:spPr>
          <a:xfrm>
            <a:off x="4251960" y="4096512"/>
            <a:ext cx="3611880" cy="182880"/>
          </a:xfrm>
          <a:prstGeom prst="rect">
            <a:avLst/>
          </a:prstGeom>
          <a:noFill/>
          <a:ln/>
        </p:spPr>
        <p:txBody>
          <a:bodyPr wrap="square" lIns="0" tIns="0" rIns="0" bIns="0" rtlCol="0" anchor="ctr"/>
          <a:lstStyle/>
          <a:p>
            <a:pPr indent="0" marL="0">
              <a:buNone/>
            </a:pPr>
            <a:r>
              <a:rPr lang="en-US" sz="850" i="1" dirty="0">
                <a:solidFill>
                  <a:srgbClr val="E8E8E8"/>
                </a:solidFill>
              </a:rPr>
              <a:t>Batallón La Popa (12)</a:t>
            </a:r>
            <a:endParaRPr lang="en-US" sz="850" dirty="0"/>
          </a:p>
        </p:txBody>
      </p:sp>
      <p:sp>
        <p:nvSpPr>
          <p:cNvPr id="116" name="Shape 114"/>
          <p:cNvSpPr/>
          <p:nvPr/>
        </p:nvSpPr>
        <p:spPr>
          <a:xfrm>
            <a:off x="4251960" y="4389120"/>
            <a:ext cx="1737360" cy="594360"/>
          </a:xfrm>
          <a:prstGeom prst="rect">
            <a:avLst/>
          </a:prstGeom>
          <a:solidFill>
            <a:srgbClr val="F0F4FF"/>
          </a:solidFill>
          <a:ln/>
        </p:spPr>
      </p:sp>
      <p:sp>
        <p:nvSpPr>
          <p:cNvPr id="117" name="Text 115"/>
          <p:cNvSpPr/>
          <p:nvPr/>
        </p:nvSpPr>
        <p:spPr>
          <a:xfrm>
            <a:off x="4251960" y="4389120"/>
            <a:ext cx="1737360" cy="274320"/>
          </a:xfrm>
          <a:prstGeom prst="rect">
            <a:avLst/>
          </a:prstGeom>
          <a:noFill/>
          <a:ln/>
        </p:spPr>
        <p:txBody>
          <a:bodyPr wrap="square" lIns="0" tIns="0" rIns="0" bIns="0" rtlCol="0" anchor="ctr"/>
          <a:lstStyle/>
          <a:p>
            <a:pPr algn="ctr" indent="0" marL="0">
              <a:buNone/>
            </a:pPr>
            <a:r>
              <a:rPr lang="en-US" sz="900" b="1" dirty="0">
                <a:solidFill>
                  <a:srgbClr val="1F4E79"/>
                </a:solidFill>
              </a:rPr>
              <a:t>DIS</a:t>
            </a:r>
            <a:endParaRPr lang="en-US" sz="900" dirty="0"/>
          </a:p>
        </p:txBody>
      </p:sp>
      <p:sp>
        <p:nvSpPr>
          <p:cNvPr id="118" name="Text 116"/>
          <p:cNvSpPr/>
          <p:nvPr/>
        </p:nvSpPr>
        <p:spPr>
          <a:xfrm>
            <a:off x="4251960" y="4645152"/>
            <a:ext cx="1737360" cy="320040"/>
          </a:xfrm>
          <a:prstGeom prst="rect">
            <a:avLst/>
          </a:prstGeom>
          <a:noFill/>
          <a:ln/>
        </p:spPr>
        <p:txBody>
          <a:bodyPr wrap="square" lIns="0" tIns="0" rIns="0" bIns="0" rtlCol="0" anchor="ctr"/>
          <a:lstStyle/>
          <a:p>
            <a:pPr algn="ctr" indent="0" marL="0">
              <a:buNone/>
            </a:pPr>
            <a:r>
              <a:rPr lang="en-US" sz="2000" b="1" dirty="0">
                <a:solidFill>
                  <a:srgbClr val="C00000"/>
                </a:solidFill>
              </a:rPr>
              <a:t>0.478</a:t>
            </a:r>
            <a:endParaRPr lang="en-US" sz="2000" dirty="0"/>
          </a:p>
        </p:txBody>
      </p:sp>
      <p:sp>
        <p:nvSpPr>
          <p:cNvPr id="119" name="Shape 117"/>
          <p:cNvSpPr/>
          <p:nvPr/>
        </p:nvSpPr>
        <p:spPr>
          <a:xfrm>
            <a:off x="6126480" y="4389120"/>
            <a:ext cx="1737360" cy="594360"/>
          </a:xfrm>
          <a:prstGeom prst="rect">
            <a:avLst/>
          </a:prstGeom>
          <a:solidFill>
            <a:srgbClr val="F5EEFF"/>
          </a:solidFill>
          <a:ln/>
        </p:spPr>
      </p:sp>
      <p:sp>
        <p:nvSpPr>
          <p:cNvPr id="120" name="Text 118"/>
          <p:cNvSpPr/>
          <p:nvPr/>
        </p:nvSpPr>
        <p:spPr>
          <a:xfrm>
            <a:off x="6126480" y="4389120"/>
            <a:ext cx="1737360" cy="274320"/>
          </a:xfrm>
          <a:prstGeom prst="rect">
            <a:avLst/>
          </a:prstGeom>
          <a:noFill/>
          <a:ln/>
        </p:spPr>
        <p:txBody>
          <a:bodyPr wrap="square" lIns="0" tIns="0" rIns="0" bIns="0" rtlCol="0" anchor="ctr"/>
          <a:lstStyle/>
          <a:p>
            <a:pPr algn="ctr" indent="0" marL="0">
              <a:buNone/>
            </a:pPr>
            <a:r>
              <a:rPr lang="en-US" sz="900" b="1" dirty="0">
                <a:solidFill>
                  <a:srgbClr val="6B3FA0"/>
                </a:solidFill>
              </a:rPr>
              <a:t>IEI</a:t>
            </a:r>
            <a:endParaRPr lang="en-US" sz="900" dirty="0"/>
          </a:p>
        </p:txBody>
      </p:sp>
      <p:sp>
        <p:nvSpPr>
          <p:cNvPr id="121" name="Text 119"/>
          <p:cNvSpPr/>
          <p:nvPr/>
        </p:nvSpPr>
        <p:spPr>
          <a:xfrm>
            <a:off x="6126480" y="4645152"/>
            <a:ext cx="1737360" cy="320040"/>
          </a:xfrm>
          <a:prstGeom prst="rect">
            <a:avLst/>
          </a:prstGeom>
          <a:noFill/>
          <a:ln/>
        </p:spPr>
        <p:txBody>
          <a:bodyPr wrap="square" lIns="0" tIns="0" rIns="0" bIns="0" rtlCol="0" anchor="ctr"/>
          <a:lstStyle/>
          <a:p>
            <a:pPr algn="ctr" indent="0" marL="0">
              <a:buNone/>
            </a:pPr>
            <a:r>
              <a:rPr lang="en-US" sz="2000" b="1" dirty="0">
                <a:solidFill>
                  <a:srgbClr val="6B3FA0"/>
                </a:solidFill>
              </a:rPr>
              <a:t>0.250</a:t>
            </a:r>
            <a:endParaRPr lang="en-US" sz="2000" dirty="0"/>
          </a:p>
        </p:txBody>
      </p:sp>
      <p:sp>
        <p:nvSpPr>
          <p:cNvPr id="122" name="Text 120"/>
          <p:cNvSpPr/>
          <p:nvPr/>
        </p:nvSpPr>
        <p:spPr>
          <a:xfrm>
            <a:off x="4251960" y="5074920"/>
            <a:ext cx="3611880" cy="256032"/>
          </a:xfrm>
          <a:prstGeom prst="rect">
            <a:avLst/>
          </a:prstGeom>
          <a:noFill/>
          <a:ln/>
        </p:spPr>
        <p:txBody>
          <a:bodyPr wrap="square" lIns="0" tIns="0" rIns="0" bIns="0" rtlCol="0" anchor="ctr"/>
          <a:lstStyle/>
          <a:p>
            <a:pPr algn="ctr" indent="0" marL="0">
              <a:buNone/>
            </a:pPr>
            <a:r>
              <a:rPr lang="en-US" sz="950" b="1" dirty="0">
                <a:solidFill>
                  <a:srgbClr val="C9A227"/>
                </a:solidFill>
              </a:rPr>
              <a:t>Δ=0.228 · DIS&gt;IEI</a:t>
            </a:r>
            <a:endParaRPr lang="en-US" sz="950" dirty="0"/>
          </a:p>
        </p:txBody>
      </p:sp>
      <p:sp>
        <p:nvSpPr>
          <p:cNvPr id="123" name="Shape 121"/>
          <p:cNvSpPr/>
          <p:nvPr/>
        </p:nvSpPr>
        <p:spPr>
          <a:xfrm>
            <a:off x="4251960" y="5550819"/>
            <a:ext cx="640080" cy="392781"/>
          </a:xfrm>
          <a:prstGeom prst="rect">
            <a:avLst/>
          </a:prstGeom>
          <a:solidFill>
            <a:srgbClr val="C9A227"/>
          </a:solidFill>
          <a:ln/>
        </p:spPr>
      </p:sp>
      <p:sp>
        <p:nvSpPr>
          <p:cNvPr id="124" name="Text 122"/>
          <p:cNvSpPr/>
          <p:nvPr/>
        </p:nvSpPr>
        <p:spPr>
          <a:xfrm>
            <a:off x="4251960" y="5367939"/>
            <a:ext cx="640080" cy="182880"/>
          </a:xfrm>
          <a:prstGeom prst="rect">
            <a:avLst/>
          </a:prstGeom>
          <a:noFill/>
          <a:ln/>
        </p:spPr>
        <p:txBody>
          <a:bodyPr wrap="square" lIns="0" tIns="0" rIns="0" bIns="0" rtlCol="0" anchor="ctr"/>
          <a:lstStyle/>
          <a:p>
            <a:pPr algn="ctr" indent="0" marL="0">
              <a:buNone/>
            </a:pPr>
            <a:r>
              <a:rPr lang="en-US" sz="700" dirty="0">
                <a:solidFill>
                  <a:srgbClr val="C9A227"/>
                </a:solidFill>
              </a:rPr>
              <a:t>0.78</a:t>
            </a:r>
            <a:endParaRPr lang="en-US" sz="700" dirty="0"/>
          </a:p>
        </p:txBody>
      </p:sp>
      <p:sp>
        <p:nvSpPr>
          <p:cNvPr id="125" name="Text 123"/>
          <p:cNvSpPr/>
          <p:nvPr/>
        </p:nvSpPr>
        <p:spPr>
          <a:xfrm>
            <a:off x="4251960" y="596188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y₂</a:t>
            </a:r>
            <a:endParaRPr lang="en-US" sz="700" dirty="0"/>
          </a:p>
        </p:txBody>
      </p:sp>
      <p:sp>
        <p:nvSpPr>
          <p:cNvPr id="126" name="Shape 124"/>
          <p:cNvSpPr/>
          <p:nvPr/>
        </p:nvSpPr>
        <p:spPr>
          <a:xfrm>
            <a:off x="4992624" y="5749976"/>
            <a:ext cx="640080" cy="193624"/>
          </a:xfrm>
          <a:prstGeom prst="rect">
            <a:avLst/>
          </a:prstGeom>
          <a:solidFill>
            <a:srgbClr val="C9A227"/>
          </a:solidFill>
          <a:ln/>
        </p:spPr>
      </p:sp>
      <p:sp>
        <p:nvSpPr>
          <p:cNvPr id="127" name="Text 125"/>
          <p:cNvSpPr/>
          <p:nvPr/>
        </p:nvSpPr>
        <p:spPr>
          <a:xfrm>
            <a:off x="4992624" y="5567096"/>
            <a:ext cx="640080" cy="182880"/>
          </a:xfrm>
          <a:prstGeom prst="rect">
            <a:avLst/>
          </a:prstGeom>
          <a:noFill/>
          <a:ln/>
        </p:spPr>
        <p:txBody>
          <a:bodyPr wrap="square" lIns="0" tIns="0" rIns="0" bIns="0" rtlCol="0" anchor="ctr"/>
          <a:lstStyle/>
          <a:p>
            <a:pPr algn="ctr" indent="0" marL="0">
              <a:buNone/>
            </a:pPr>
            <a:r>
              <a:rPr lang="en-US" sz="700" dirty="0">
                <a:solidFill>
                  <a:srgbClr val="C9A227"/>
                </a:solidFill>
              </a:rPr>
              <a:t>0.39</a:t>
            </a:r>
            <a:endParaRPr lang="en-US" sz="700" dirty="0"/>
          </a:p>
        </p:txBody>
      </p:sp>
      <p:sp>
        <p:nvSpPr>
          <p:cNvPr id="128" name="Text 126"/>
          <p:cNvSpPr/>
          <p:nvPr/>
        </p:nvSpPr>
        <p:spPr>
          <a:xfrm>
            <a:off x="4992624" y="596188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y₄</a:t>
            </a:r>
            <a:endParaRPr lang="en-US" sz="700" dirty="0"/>
          </a:p>
        </p:txBody>
      </p:sp>
      <p:sp>
        <p:nvSpPr>
          <p:cNvPr id="129" name="Shape 127"/>
          <p:cNvSpPr/>
          <p:nvPr/>
        </p:nvSpPr>
        <p:spPr>
          <a:xfrm>
            <a:off x="5733288" y="5877215"/>
            <a:ext cx="640080" cy="66385"/>
          </a:xfrm>
          <a:prstGeom prst="rect">
            <a:avLst/>
          </a:prstGeom>
          <a:solidFill>
            <a:srgbClr val="C9A227"/>
          </a:solidFill>
          <a:ln/>
        </p:spPr>
      </p:sp>
      <p:sp>
        <p:nvSpPr>
          <p:cNvPr id="130" name="Text 128"/>
          <p:cNvSpPr/>
          <p:nvPr/>
        </p:nvSpPr>
        <p:spPr>
          <a:xfrm>
            <a:off x="5733288" y="5694335"/>
            <a:ext cx="640080" cy="182880"/>
          </a:xfrm>
          <a:prstGeom prst="rect">
            <a:avLst/>
          </a:prstGeom>
          <a:noFill/>
          <a:ln/>
        </p:spPr>
        <p:txBody>
          <a:bodyPr wrap="square" lIns="0" tIns="0" rIns="0" bIns="0" rtlCol="0" anchor="ctr"/>
          <a:lstStyle/>
          <a:p>
            <a:pPr algn="ctr" indent="0" marL="0">
              <a:buNone/>
            </a:pPr>
            <a:r>
              <a:rPr lang="en-US" sz="700" dirty="0">
                <a:solidFill>
                  <a:srgbClr val="C9A227"/>
                </a:solidFill>
              </a:rPr>
              <a:t>0.13</a:t>
            </a:r>
            <a:endParaRPr lang="en-US" sz="700" dirty="0"/>
          </a:p>
        </p:txBody>
      </p:sp>
      <p:sp>
        <p:nvSpPr>
          <p:cNvPr id="131" name="Text 129"/>
          <p:cNvSpPr/>
          <p:nvPr/>
        </p:nvSpPr>
        <p:spPr>
          <a:xfrm>
            <a:off x="5733288" y="596188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y₁₀</a:t>
            </a:r>
            <a:endParaRPr lang="en-US" sz="700" dirty="0"/>
          </a:p>
        </p:txBody>
      </p:sp>
      <p:sp>
        <p:nvSpPr>
          <p:cNvPr id="132" name="Shape 130"/>
          <p:cNvSpPr/>
          <p:nvPr/>
        </p:nvSpPr>
        <p:spPr>
          <a:xfrm>
            <a:off x="6473952" y="5846034"/>
            <a:ext cx="640080" cy="97566"/>
          </a:xfrm>
          <a:prstGeom prst="rect">
            <a:avLst/>
          </a:prstGeom>
          <a:solidFill>
            <a:srgbClr val="C9A227"/>
          </a:solidFill>
          <a:ln/>
        </p:spPr>
      </p:sp>
      <p:sp>
        <p:nvSpPr>
          <p:cNvPr id="133" name="Text 131"/>
          <p:cNvSpPr/>
          <p:nvPr/>
        </p:nvSpPr>
        <p:spPr>
          <a:xfrm>
            <a:off x="6473952" y="5663154"/>
            <a:ext cx="640080" cy="182880"/>
          </a:xfrm>
          <a:prstGeom prst="rect">
            <a:avLst/>
          </a:prstGeom>
          <a:noFill/>
          <a:ln/>
        </p:spPr>
        <p:txBody>
          <a:bodyPr wrap="square" lIns="0" tIns="0" rIns="0" bIns="0" rtlCol="0" anchor="ctr"/>
          <a:lstStyle/>
          <a:p>
            <a:pPr algn="ctr" indent="0" marL="0">
              <a:buNone/>
            </a:pPr>
            <a:r>
              <a:rPr lang="en-US" sz="700" dirty="0">
                <a:solidFill>
                  <a:srgbClr val="C9A227"/>
                </a:solidFill>
              </a:rPr>
              <a:t>0.19</a:t>
            </a:r>
            <a:endParaRPr lang="en-US" sz="700" dirty="0"/>
          </a:p>
        </p:txBody>
      </p:sp>
      <p:sp>
        <p:nvSpPr>
          <p:cNvPr id="134" name="Text 132"/>
          <p:cNvSpPr/>
          <p:nvPr/>
        </p:nvSpPr>
        <p:spPr>
          <a:xfrm>
            <a:off x="6473952" y="596188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y₈</a:t>
            </a:r>
            <a:endParaRPr lang="en-US" sz="700" dirty="0"/>
          </a:p>
        </p:txBody>
      </p:sp>
      <p:sp>
        <p:nvSpPr>
          <p:cNvPr id="135" name="Shape 133"/>
          <p:cNvSpPr/>
          <p:nvPr/>
        </p:nvSpPr>
        <p:spPr>
          <a:xfrm>
            <a:off x="7214616" y="5811332"/>
            <a:ext cx="640080" cy="132268"/>
          </a:xfrm>
          <a:prstGeom prst="rect">
            <a:avLst/>
          </a:prstGeom>
          <a:solidFill>
            <a:srgbClr val="C9A227"/>
          </a:solidFill>
          <a:ln/>
        </p:spPr>
      </p:sp>
      <p:sp>
        <p:nvSpPr>
          <p:cNvPr id="136" name="Text 134"/>
          <p:cNvSpPr/>
          <p:nvPr/>
        </p:nvSpPr>
        <p:spPr>
          <a:xfrm>
            <a:off x="7214616" y="5628452"/>
            <a:ext cx="640080" cy="182880"/>
          </a:xfrm>
          <a:prstGeom prst="rect">
            <a:avLst/>
          </a:prstGeom>
          <a:noFill/>
          <a:ln/>
        </p:spPr>
        <p:txBody>
          <a:bodyPr wrap="square" lIns="0" tIns="0" rIns="0" bIns="0" rtlCol="0" anchor="ctr"/>
          <a:lstStyle/>
          <a:p>
            <a:pPr algn="ctr" indent="0" marL="0">
              <a:buNone/>
            </a:pPr>
            <a:r>
              <a:rPr lang="en-US" sz="700" dirty="0">
                <a:solidFill>
                  <a:srgbClr val="C9A227"/>
                </a:solidFill>
              </a:rPr>
              <a:t>0.26</a:t>
            </a:r>
            <a:endParaRPr lang="en-US" sz="700" dirty="0"/>
          </a:p>
        </p:txBody>
      </p:sp>
      <p:sp>
        <p:nvSpPr>
          <p:cNvPr id="137" name="Text 135"/>
          <p:cNvSpPr/>
          <p:nvPr/>
        </p:nvSpPr>
        <p:spPr>
          <a:xfrm>
            <a:off x="7214616" y="5961888"/>
            <a:ext cx="640080" cy="182880"/>
          </a:xfrm>
          <a:prstGeom prst="rect">
            <a:avLst/>
          </a:prstGeom>
          <a:noFill/>
          <a:ln/>
        </p:spPr>
        <p:txBody>
          <a:bodyPr wrap="square" lIns="0" tIns="0" rIns="0" bIns="0" rtlCol="0" anchor="ctr"/>
          <a:lstStyle/>
          <a:p>
            <a:pPr algn="ctr" indent="0" marL="0">
              <a:buNone/>
            </a:pPr>
            <a:r>
              <a:rPr lang="en-US" sz="700" dirty="0">
                <a:solidFill>
                  <a:srgbClr val="6B7280"/>
                </a:solidFill>
              </a:rPr>
              <a:t>y₉</a:t>
            </a:r>
            <a:endParaRPr lang="en-US" sz="700" dirty="0"/>
          </a:p>
        </p:txBody>
      </p:sp>
      <p:sp>
        <p:nvSpPr>
          <p:cNvPr id="138" name="Text 136"/>
          <p:cNvSpPr/>
          <p:nvPr/>
        </p:nvSpPr>
        <p:spPr>
          <a:xfrm>
            <a:off x="4251960" y="6217920"/>
            <a:ext cx="3611880" cy="320040"/>
          </a:xfrm>
          <a:prstGeom prst="rect">
            <a:avLst/>
          </a:prstGeom>
          <a:noFill/>
          <a:ln/>
        </p:spPr>
        <p:txBody>
          <a:bodyPr wrap="square" lIns="0" tIns="0" rIns="0" bIns="0" rtlCol="0" anchor="ctr"/>
          <a:lstStyle/>
          <a:p>
            <a:pPr indent="0" marL="0">
              <a:buNone/>
            </a:pPr>
            <a:r>
              <a:rPr lang="en-US" sz="750" dirty="0">
                <a:solidFill>
                  <a:srgbClr val="6B7280"/>
                </a:solidFill>
              </a:rPr>
              <a:t>DIS moderado DIS&gt;IEI. ICM tri-canal pendiente (diarización completa 01/06/2026).</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0A2E"/>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4B0082"/>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600" b="1" dirty="0">
                <a:solidFill>
                  <a:srgbClr val="FFFFFF"/>
                </a:solidFill>
              </a:rPr>
              <a:t>Hallazgo Central — Disociación DIS-IEI: Habermas y Fricker como dimensiones independientes</a:t>
            </a:r>
            <a:endParaRPr lang="en-US" sz="1600" dirty="0"/>
          </a:p>
        </p:txBody>
      </p:sp>
      <p:sp>
        <p:nvSpPr>
          <p:cNvPr id="4" name="Shape 2"/>
          <p:cNvSpPr/>
          <p:nvPr/>
        </p:nvSpPr>
        <p:spPr>
          <a:xfrm>
            <a:off x="274320" y="914400"/>
            <a:ext cx="5303520" cy="5486400"/>
          </a:xfrm>
          <a:prstGeom prst="rect">
            <a:avLst/>
          </a:prstGeom>
          <a:solidFill>
            <a:srgbClr val="2D0A4E"/>
          </a:solidFill>
          <a:ln/>
          <a:effectLst>
            <a:outerShdw sx="100000" sy="100000" kx="0" ky="0" algn="bl" rotWithShape="0" blurRad="76200" dist="25400" dir="8100000">
              <a:srgbClr val="000000">
                <a:alpha val="12000"/>
              </a:srgbClr>
            </a:outerShdw>
          </a:effectLst>
        </p:spPr>
      </p:sp>
      <p:sp>
        <p:nvSpPr>
          <p:cNvPr id="5" name="Shape 3"/>
          <p:cNvSpPr/>
          <p:nvPr/>
        </p:nvSpPr>
        <p:spPr>
          <a:xfrm>
            <a:off x="274320" y="914400"/>
            <a:ext cx="5303520" cy="457200"/>
          </a:xfrm>
          <a:prstGeom prst="rect">
            <a:avLst/>
          </a:prstGeom>
          <a:solidFill>
            <a:srgbClr val="6B3FA0"/>
          </a:solidFill>
          <a:ln/>
        </p:spPr>
      </p:sp>
      <p:sp>
        <p:nvSpPr>
          <p:cNvPr id="6" name="Text 4"/>
          <p:cNvSpPr/>
          <p:nvPr/>
        </p:nvSpPr>
        <p:spPr>
          <a:xfrm>
            <a:off x="365760" y="914400"/>
            <a:ext cx="5120640" cy="457200"/>
          </a:xfrm>
          <a:prstGeom prst="rect">
            <a:avLst/>
          </a:prstGeom>
          <a:noFill/>
          <a:ln/>
        </p:spPr>
        <p:txBody>
          <a:bodyPr wrap="square" lIns="0" tIns="0" rIns="0" bIns="0" rtlCol="0" anchor="ctr"/>
          <a:lstStyle/>
          <a:p>
            <a:pPr indent="0" marL="0">
              <a:buNone/>
            </a:pPr>
            <a:r>
              <a:rPr lang="en-US" sz="1200" b="1" dirty="0">
                <a:solidFill>
                  <a:srgbClr val="FFFFFF"/>
                </a:solidFill>
              </a:rPr>
              <a:t>CASO PARADIGMÁTICO — CATATUMBO</a:t>
            </a:r>
            <a:endParaRPr lang="en-US" sz="1200" dirty="0"/>
          </a:p>
        </p:txBody>
      </p:sp>
      <p:sp>
        <p:nvSpPr>
          <p:cNvPr id="7" name="Text 5"/>
          <p:cNvSpPr/>
          <p:nvPr/>
        </p:nvSpPr>
        <p:spPr>
          <a:xfrm>
            <a:off x="457200" y="1463040"/>
            <a:ext cx="2377440" cy="731520"/>
          </a:xfrm>
          <a:prstGeom prst="rect">
            <a:avLst/>
          </a:prstGeom>
          <a:noFill/>
          <a:ln/>
        </p:spPr>
        <p:txBody>
          <a:bodyPr wrap="square" lIns="0" tIns="0" rIns="0" bIns="0" rtlCol="0" anchor="ctr"/>
          <a:lstStyle/>
          <a:p>
            <a:pPr algn="ctr" indent="0" marL="0">
              <a:buNone/>
            </a:pPr>
            <a:r>
              <a:rPr lang="en-US" sz="3200" b="1" dirty="0">
                <a:solidFill>
                  <a:srgbClr val="E2F0E8"/>
                </a:solidFill>
              </a:rPr>
              <a:t>DIS = 0.110</a:t>
            </a:r>
            <a:endParaRPr lang="en-US" sz="3200" dirty="0"/>
          </a:p>
        </p:txBody>
      </p:sp>
      <p:sp>
        <p:nvSpPr>
          <p:cNvPr id="8" name="Text 6"/>
          <p:cNvSpPr/>
          <p:nvPr/>
        </p:nvSpPr>
        <p:spPr>
          <a:xfrm>
            <a:off x="457200" y="2194560"/>
            <a:ext cx="2377440" cy="228600"/>
          </a:xfrm>
          <a:prstGeom prst="rect">
            <a:avLst/>
          </a:prstGeom>
          <a:noFill/>
          <a:ln/>
        </p:spPr>
        <p:txBody>
          <a:bodyPr wrap="square" lIns="0" tIns="0" rIns="0" bIns="0" rtlCol="0" anchor="ctr"/>
          <a:lstStyle/>
          <a:p>
            <a:pPr algn="ctr" indent="0" marL="0">
              <a:buNone/>
            </a:pPr>
            <a:r>
              <a:rPr lang="en-US" sz="900" dirty="0">
                <a:solidFill>
                  <a:srgbClr val="E2F0E8"/>
                </a:solidFill>
              </a:rPr>
              <a:t>Habermas: baja</a:t>
            </a:r>
            <a:endParaRPr lang="en-US" sz="900" dirty="0"/>
          </a:p>
        </p:txBody>
      </p:sp>
      <p:sp>
        <p:nvSpPr>
          <p:cNvPr id="9" name="Text 7"/>
          <p:cNvSpPr/>
          <p:nvPr/>
        </p:nvSpPr>
        <p:spPr>
          <a:xfrm>
            <a:off x="3017520" y="1463040"/>
            <a:ext cx="2377440" cy="731520"/>
          </a:xfrm>
          <a:prstGeom prst="rect">
            <a:avLst/>
          </a:prstGeom>
          <a:noFill/>
          <a:ln/>
        </p:spPr>
        <p:txBody>
          <a:bodyPr wrap="square" lIns="0" tIns="0" rIns="0" bIns="0" rtlCol="0" anchor="ctr"/>
          <a:lstStyle/>
          <a:p>
            <a:pPr algn="ctr" indent="0" marL="0">
              <a:buNone/>
            </a:pPr>
            <a:r>
              <a:rPr lang="en-US" sz="3200" b="1" dirty="0">
                <a:solidFill>
                  <a:srgbClr val="D4A6FF"/>
                </a:solidFill>
              </a:rPr>
              <a:t>IEI = 0.624</a:t>
            </a:r>
            <a:endParaRPr lang="en-US" sz="3200" dirty="0"/>
          </a:p>
        </p:txBody>
      </p:sp>
      <p:sp>
        <p:nvSpPr>
          <p:cNvPr id="10" name="Text 8"/>
          <p:cNvSpPr/>
          <p:nvPr/>
        </p:nvSpPr>
        <p:spPr>
          <a:xfrm>
            <a:off x="3017520" y="2194560"/>
            <a:ext cx="2377440" cy="228600"/>
          </a:xfrm>
          <a:prstGeom prst="rect">
            <a:avLst/>
          </a:prstGeom>
          <a:noFill/>
          <a:ln/>
        </p:spPr>
        <p:txBody>
          <a:bodyPr wrap="square" lIns="0" tIns="0" rIns="0" bIns="0" rtlCol="0" anchor="ctr"/>
          <a:lstStyle/>
          <a:p>
            <a:pPr algn="ctr" indent="0" marL="0">
              <a:buNone/>
            </a:pPr>
            <a:r>
              <a:rPr lang="en-US" sz="900" dirty="0">
                <a:solidFill>
                  <a:srgbClr val="D4A6FF"/>
                </a:solidFill>
              </a:rPr>
              <a:t>Fricker: máxima</a:t>
            </a:r>
            <a:endParaRPr lang="en-US" sz="900" dirty="0"/>
          </a:p>
        </p:txBody>
      </p:sp>
      <p:sp>
        <p:nvSpPr>
          <p:cNvPr id="11" name="Shape 9"/>
          <p:cNvSpPr/>
          <p:nvPr/>
        </p:nvSpPr>
        <p:spPr>
          <a:xfrm>
            <a:off x="457200" y="2514600"/>
            <a:ext cx="4937760" cy="0"/>
          </a:xfrm>
          <a:prstGeom prst="line">
            <a:avLst/>
          </a:prstGeom>
          <a:noFill/>
          <a:ln w="12700">
            <a:solidFill>
              <a:srgbClr val="6B3FA0"/>
            </a:solidFill>
            <a:prstDash val="dash"/>
          </a:ln>
        </p:spPr>
      </p:sp>
      <p:sp>
        <p:nvSpPr>
          <p:cNvPr id="12" name="Text 10"/>
          <p:cNvSpPr/>
          <p:nvPr/>
        </p:nvSpPr>
        <p:spPr>
          <a:xfrm>
            <a:off x="457200" y="2606040"/>
            <a:ext cx="4937760" cy="292608"/>
          </a:xfrm>
          <a:prstGeom prst="rect">
            <a:avLst/>
          </a:prstGeom>
          <a:noFill/>
          <a:ln/>
        </p:spPr>
        <p:txBody>
          <a:bodyPr wrap="square" lIns="0" tIns="0" rIns="0" bIns="0" rtlCol="0" anchor="ctr"/>
          <a:lstStyle/>
          <a:p>
            <a:pPr algn="ctr" indent="0" marL="0">
              <a:buNone/>
            </a:pPr>
            <a:r>
              <a:rPr lang="en-US" sz="1100" b="1" dirty="0">
                <a:solidFill>
                  <a:srgbClr val="F0C040"/>
                </a:solidFill>
              </a:rPr>
              <a:t>Δ = 0.514 — Máxima disociación del corpus C</a:t>
            </a:r>
            <a:endParaRPr lang="en-US" sz="1100" dirty="0"/>
          </a:p>
        </p:txBody>
      </p:sp>
      <p:sp>
        <p:nvSpPr>
          <p:cNvPr id="13" name="Text 11"/>
          <p:cNvSpPr/>
          <p:nvPr/>
        </p:nvSpPr>
        <p:spPr>
          <a:xfrm>
            <a:off x="365760" y="3017520"/>
            <a:ext cx="5029200" cy="438912"/>
          </a:xfrm>
          <a:prstGeom prst="rect">
            <a:avLst/>
          </a:prstGeom>
          <a:noFill/>
          <a:ln/>
        </p:spPr>
        <p:txBody>
          <a:bodyPr wrap="square" lIns="0" tIns="0" rIns="0" bIns="0" rtlCol="0" anchor="ctr"/>
          <a:lstStyle/>
          <a:p>
            <a:pPr indent="0" marL="0">
              <a:buNone/>
            </a:pPr>
            <a:r>
              <a:rPr lang="en-US" sz="900" dirty="0">
                <a:solidFill>
                  <a:srgbClr val="C8B0FF"/>
                </a:solidFill>
              </a:rPr>
              <a:t>→  Habermas: El Cap. Chaparro corrige las pretensiones de validez GRAMATICALES — habla en primera persona, sin eufemismos, sin pasivas. El DIS (canal habermasiano) es bajo.</a:t>
            </a:r>
            <a:endParaRPr lang="en-US" sz="900" dirty="0"/>
          </a:p>
        </p:txBody>
      </p:sp>
      <p:sp>
        <p:nvSpPr>
          <p:cNvPr id="14" name="Text 12"/>
          <p:cNvSpPr/>
          <p:nvPr/>
        </p:nvSpPr>
        <p:spPr>
          <a:xfrm>
            <a:off x="365760" y="3474720"/>
            <a:ext cx="5029200" cy="438912"/>
          </a:xfrm>
          <a:prstGeom prst="rect">
            <a:avLst/>
          </a:prstGeom>
          <a:noFill/>
          <a:ln/>
        </p:spPr>
        <p:txBody>
          <a:bodyPr wrap="square" lIns="0" tIns="0" rIns="0" bIns="0" rtlCol="0" anchor="ctr"/>
          <a:lstStyle/>
          <a:p>
            <a:pPr indent="0" marL="0">
              <a:buNone/>
            </a:pPr>
            <a:r>
              <a:rPr lang="en-US" sz="900" dirty="0">
                <a:solidFill>
                  <a:srgbClr val="C8B0FF"/>
                </a:solidFill>
              </a:rPr>
              <a:t>→  Fricker: PERO mantiene la hermeneutical gap — su léxico está alejado del espacio semántico de las madres de las víctimas (y₈=0.207, máximo corpus C). El IEI (canal fricker) es máximo.</a:t>
            </a:r>
            <a:endParaRPr lang="en-US" sz="900" dirty="0"/>
          </a:p>
        </p:txBody>
      </p:sp>
      <p:sp>
        <p:nvSpPr>
          <p:cNvPr id="15" name="Text 13"/>
          <p:cNvSpPr/>
          <p:nvPr/>
        </p:nvSpPr>
        <p:spPr>
          <a:xfrm>
            <a:off x="365760" y="3931920"/>
            <a:ext cx="5029200" cy="438912"/>
          </a:xfrm>
          <a:prstGeom prst="rect">
            <a:avLst/>
          </a:prstGeom>
          <a:noFill/>
          <a:ln/>
        </p:spPr>
        <p:txBody>
          <a:bodyPr wrap="square" lIns="0" tIns="0" rIns="0" bIns="0" rtlCol="0" anchor="ctr"/>
          <a:lstStyle/>
          <a:p>
            <a:pPr indent="0" marL="0">
              <a:buNone/>
            </a:pPr>
            <a:r>
              <a:rPr lang="en-US" sz="900" dirty="0">
                <a:solidFill>
                  <a:srgbClr val="A0E8A0"/>
                </a:solidFill>
              </a:rPr>
              <a:t>→  Fraser: el reconocimiento gramatical (DIS bajo) no basta para la paridad participativa si persiste la distancia hermenéutica. Las dos dimensiones de justicia pueden disociarse.</a:t>
            </a:r>
            <a:endParaRPr lang="en-US" sz="900" dirty="0"/>
          </a:p>
        </p:txBody>
      </p:sp>
      <p:sp>
        <p:nvSpPr>
          <p:cNvPr id="16" name="Text 14"/>
          <p:cNvSpPr/>
          <p:nvPr/>
        </p:nvSpPr>
        <p:spPr>
          <a:xfrm>
            <a:off x="365760" y="4389120"/>
            <a:ext cx="5029200" cy="438912"/>
          </a:xfrm>
          <a:prstGeom prst="rect">
            <a:avLst/>
          </a:prstGeom>
          <a:noFill/>
          <a:ln/>
        </p:spPr>
        <p:txBody>
          <a:bodyPr wrap="square" lIns="0" tIns="0" rIns="0" bIns="0" rtlCol="0" anchor="ctr"/>
          <a:lstStyle/>
          <a:p>
            <a:pPr indent="0" marL="0">
              <a:buNone/>
            </a:pPr>
            <a:r>
              <a:rPr lang="en-US" sz="900" dirty="0">
                <a:solidFill>
                  <a:srgbClr val="F0C040"/>
                </a:solidFill>
              </a:rPr>
              <a:t>→  Galtung: la corrección de la violencia discursiva explícita (EBI, NV) no elimina la violencia cultural hermenéutica (el léxico institucional que excluye el de las víctimas).</a:t>
            </a:r>
            <a:endParaRPr lang="en-US" sz="900" dirty="0"/>
          </a:p>
        </p:txBody>
      </p:sp>
      <p:sp>
        <p:nvSpPr>
          <p:cNvPr id="17" name="Text 15"/>
          <p:cNvSpPr/>
          <p:nvPr/>
        </p:nvSpPr>
        <p:spPr>
          <a:xfrm>
            <a:off x="365760" y="4846320"/>
            <a:ext cx="5029200" cy="438912"/>
          </a:xfrm>
          <a:prstGeom prst="rect">
            <a:avLst/>
          </a:prstGeom>
          <a:noFill/>
          <a:ln/>
        </p:spPr>
        <p:txBody>
          <a:bodyPr wrap="square" lIns="0" tIns="0" rIns="0" bIns="0" rtlCol="0" anchor="ctr"/>
          <a:lstStyle/>
          <a:p>
            <a:pPr indent="0" marL="0">
              <a:buNone/>
            </a:pPr>
            <a:r>
              <a:rPr lang="en-US" sz="900" dirty="0">
                <a:solidFill>
                  <a:srgbClr val="F0C040"/>
                </a:solidFill>
              </a:rPr>
              <a:t>→  IMPLICACIÓN METODOLÓGICA: los cuatro marcos teóricos son necesarios para capturar la injusticia completa. Ninguno solo es suficiente. Esto valida el framework multi-teórico.</a:t>
            </a:r>
            <a:endParaRPr lang="en-US" sz="900" dirty="0"/>
          </a:p>
        </p:txBody>
      </p:sp>
      <p:sp>
        <p:nvSpPr>
          <p:cNvPr id="18" name="Shape 16"/>
          <p:cNvSpPr/>
          <p:nvPr/>
        </p:nvSpPr>
        <p:spPr>
          <a:xfrm>
            <a:off x="5852160" y="914400"/>
            <a:ext cx="6035040" cy="5486400"/>
          </a:xfrm>
          <a:prstGeom prst="rect">
            <a:avLst/>
          </a:prstGeom>
          <a:solidFill>
            <a:srgbClr val="1E0A3E"/>
          </a:solidFill>
          <a:ln/>
          <a:effectLst>
            <a:outerShdw sx="100000" sy="100000" kx="0" ky="0" algn="bl" rotWithShape="0" blurRad="76200" dist="25400" dir="8100000">
              <a:srgbClr val="000000">
                <a:alpha val="12000"/>
              </a:srgbClr>
            </a:outerShdw>
          </a:effectLst>
        </p:spPr>
      </p:sp>
      <p:sp>
        <p:nvSpPr>
          <p:cNvPr id="19" name="Shape 17"/>
          <p:cNvSpPr/>
          <p:nvPr/>
        </p:nvSpPr>
        <p:spPr>
          <a:xfrm>
            <a:off x="5852160" y="914400"/>
            <a:ext cx="6035040" cy="457200"/>
          </a:xfrm>
          <a:prstGeom prst="rect">
            <a:avLst/>
          </a:prstGeom>
          <a:solidFill>
            <a:srgbClr val="1F4E79"/>
          </a:solidFill>
          <a:ln/>
        </p:spPr>
      </p:sp>
      <p:sp>
        <p:nvSpPr>
          <p:cNvPr id="20" name="Text 18"/>
          <p:cNvSpPr/>
          <p:nvPr/>
        </p:nvSpPr>
        <p:spPr>
          <a:xfrm>
            <a:off x="5943600" y="914400"/>
            <a:ext cx="5852160" cy="457200"/>
          </a:xfrm>
          <a:prstGeom prst="rect">
            <a:avLst/>
          </a:prstGeom>
          <a:noFill/>
          <a:ln/>
        </p:spPr>
        <p:txBody>
          <a:bodyPr wrap="square" lIns="0" tIns="0" rIns="0" bIns="0" rtlCol="0" anchor="ctr"/>
          <a:lstStyle/>
          <a:p>
            <a:pPr indent="0" marL="0">
              <a:buNone/>
            </a:pPr>
            <a:r>
              <a:rPr lang="en-US" sz="1200" b="1" dirty="0">
                <a:solidFill>
                  <a:srgbClr val="FFFFFF"/>
                </a:solidFill>
              </a:rPr>
              <a:t>PATRÓN DIS-IEI — 5 SUBCASOS</a:t>
            </a:r>
            <a:endParaRPr lang="en-US" sz="1200" dirty="0"/>
          </a:p>
        </p:txBody>
      </p:sp>
      <p:sp>
        <p:nvSpPr>
          <p:cNvPr id="21" name="Text 19"/>
          <p:cNvSpPr/>
          <p:nvPr/>
        </p:nvSpPr>
        <p:spPr>
          <a:xfrm>
            <a:off x="6035040" y="1463040"/>
            <a:ext cx="3200400" cy="256032"/>
          </a:xfrm>
          <a:prstGeom prst="rect">
            <a:avLst/>
          </a:prstGeom>
          <a:noFill/>
          <a:ln/>
        </p:spPr>
        <p:txBody>
          <a:bodyPr wrap="square" lIns="0" tIns="0" rIns="0" bIns="0" rtlCol="0" anchor="ctr"/>
          <a:lstStyle/>
          <a:p>
            <a:pPr indent="0" marL="0">
              <a:buNone/>
            </a:pPr>
            <a:r>
              <a:rPr lang="en-US" sz="900" b="1" dirty="0">
                <a:solidFill>
                  <a:srgbClr val="F0C040"/>
                </a:solidFill>
              </a:rPr>
              <a:t>DIS (Habermas+Galtung)</a:t>
            </a:r>
            <a:endParaRPr lang="en-US" sz="900" dirty="0"/>
          </a:p>
        </p:txBody>
      </p:sp>
      <p:sp>
        <p:nvSpPr>
          <p:cNvPr id="22" name="Text 20"/>
          <p:cNvSpPr/>
          <p:nvPr/>
        </p:nvSpPr>
        <p:spPr>
          <a:xfrm>
            <a:off x="7772400" y="1463040"/>
            <a:ext cx="3200400" cy="256032"/>
          </a:xfrm>
          <a:prstGeom prst="rect">
            <a:avLst/>
          </a:prstGeom>
          <a:noFill/>
          <a:ln/>
        </p:spPr>
        <p:txBody>
          <a:bodyPr wrap="square" lIns="0" tIns="0" rIns="0" bIns="0" rtlCol="0" anchor="ctr"/>
          <a:lstStyle/>
          <a:p>
            <a:pPr indent="0" marL="0">
              <a:buNone/>
            </a:pPr>
            <a:r>
              <a:rPr lang="en-US" sz="900" b="1" dirty="0">
                <a:solidFill>
                  <a:srgbClr val="D4A6FF"/>
                </a:solidFill>
              </a:rPr>
              <a:t>IEI (Fricker+Fraser)</a:t>
            </a:r>
            <a:endParaRPr lang="en-US" sz="900" dirty="0"/>
          </a:p>
        </p:txBody>
      </p:sp>
      <p:sp>
        <p:nvSpPr>
          <p:cNvPr id="23" name="Text 21"/>
          <p:cNvSpPr/>
          <p:nvPr/>
        </p:nvSpPr>
        <p:spPr>
          <a:xfrm>
            <a:off x="5943600" y="1828800"/>
            <a:ext cx="2286000" cy="292608"/>
          </a:xfrm>
          <a:prstGeom prst="rect">
            <a:avLst/>
          </a:prstGeom>
          <a:noFill/>
          <a:ln/>
        </p:spPr>
        <p:txBody>
          <a:bodyPr wrap="square" lIns="0" tIns="0" rIns="0" bIns="0" rtlCol="0" anchor="ctr"/>
          <a:lstStyle/>
          <a:p>
            <a:pPr indent="0" marL="0">
              <a:buNone/>
            </a:pPr>
            <a:r>
              <a:rPr lang="en-US" sz="1100" b="1" dirty="0">
                <a:solidFill>
                  <a:srgbClr val="C00000"/>
                </a:solidFill>
              </a:rPr>
              <a:t>Casanare</a:t>
            </a:r>
            <a:endParaRPr lang="en-US" sz="1100" dirty="0"/>
          </a:p>
        </p:txBody>
      </p:sp>
      <p:sp>
        <p:nvSpPr>
          <p:cNvPr id="24" name="Shape 22"/>
          <p:cNvSpPr/>
          <p:nvPr/>
        </p:nvSpPr>
        <p:spPr>
          <a:xfrm>
            <a:off x="5943600" y="2148840"/>
            <a:ext cx="2216506" cy="246888"/>
          </a:xfrm>
          <a:prstGeom prst="rect">
            <a:avLst/>
          </a:prstGeom>
          <a:solidFill>
            <a:srgbClr val="C00000"/>
          </a:solidFill>
          <a:ln/>
        </p:spPr>
      </p:sp>
      <p:sp>
        <p:nvSpPr>
          <p:cNvPr id="25" name="Text 23"/>
          <p:cNvSpPr/>
          <p:nvPr/>
        </p:nvSpPr>
        <p:spPr>
          <a:xfrm>
            <a:off x="5943600" y="2414016"/>
            <a:ext cx="2216506" cy="182880"/>
          </a:xfrm>
          <a:prstGeom prst="rect">
            <a:avLst/>
          </a:prstGeom>
          <a:noFill/>
          <a:ln/>
        </p:spPr>
        <p:txBody>
          <a:bodyPr wrap="square" lIns="0" tIns="0" rIns="0" bIns="0" rtlCol="0" anchor="ctr"/>
          <a:lstStyle/>
          <a:p>
            <a:pPr algn="ctr" indent="0" marL="0">
              <a:buNone/>
            </a:pPr>
            <a:r>
              <a:rPr lang="en-US" sz="800" dirty="0">
                <a:solidFill>
                  <a:srgbClr val="C00000"/>
                </a:solidFill>
              </a:rPr>
              <a:t>0.808</a:t>
            </a:r>
            <a:endParaRPr lang="en-US" sz="800" dirty="0"/>
          </a:p>
        </p:txBody>
      </p:sp>
      <p:sp>
        <p:nvSpPr>
          <p:cNvPr id="26" name="Shape 24"/>
          <p:cNvSpPr/>
          <p:nvPr/>
        </p:nvSpPr>
        <p:spPr>
          <a:xfrm>
            <a:off x="7680960" y="2148840"/>
            <a:ext cx="1418234" cy="246888"/>
          </a:xfrm>
          <a:prstGeom prst="rect">
            <a:avLst/>
          </a:prstGeom>
          <a:solidFill>
            <a:srgbClr val="9B59B6"/>
          </a:solidFill>
          <a:ln/>
        </p:spPr>
      </p:sp>
      <p:sp>
        <p:nvSpPr>
          <p:cNvPr id="27" name="Text 25"/>
          <p:cNvSpPr/>
          <p:nvPr/>
        </p:nvSpPr>
        <p:spPr>
          <a:xfrm>
            <a:off x="7680960" y="2414016"/>
            <a:ext cx="1418234" cy="182880"/>
          </a:xfrm>
          <a:prstGeom prst="rect">
            <a:avLst/>
          </a:prstGeom>
          <a:noFill/>
          <a:ln/>
        </p:spPr>
        <p:txBody>
          <a:bodyPr wrap="square" lIns="0" tIns="0" rIns="0" bIns="0" rtlCol="0" anchor="ctr"/>
          <a:lstStyle/>
          <a:p>
            <a:pPr algn="ctr" indent="0" marL="0">
              <a:buNone/>
            </a:pPr>
            <a:r>
              <a:rPr lang="en-US" sz="800" dirty="0">
                <a:solidFill>
                  <a:srgbClr val="D4A6FF"/>
                </a:solidFill>
              </a:rPr>
              <a:t>0.517</a:t>
            </a:r>
            <a:endParaRPr lang="en-US" sz="800" dirty="0"/>
          </a:p>
        </p:txBody>
      </p:sp>
      <p:sp>
        <p:nvSpPr>
          <p:cNvPr id="28" name="Text 26"/>
          <p:cNvSpPr/>
          <p:nvPr/>
        </p:nvSpPr>
        <p:spPr>
          <a:xfrm>
            <a:off x="9235440" y="2176272"/>
            <a:ext cx="2468880" cy="457200"/>
          </a:xfrm>
          <a:prstGeom prst="rect">
            <a:avLst/>
          </a:prstGeom>
          <a:noFill/>
          <a:ln/>
        </p:spPr>
        <p:txBody>
          <a:bodyPr wrap="square" lIns="0" tIns="0" rIns="0" bIns="0" rtlCol="0" anchor="ctr"/>
          <a:lstStyle/>
          <a:p>
            <a:pPr indent="0" marL="0">
              <a:buNone/>
            </a:pPr>
            <a:r>
              <a:rPr lang="en-US" sz="950" dirty="0">
                <a:solidFill>
                  <a:srgbClr val="F0C040"/>
                </a:solidFill>
              </a:rPr>
              <a:t>0.291 DIS&gt;IEI</a:t>
            </a:r>
            <a:endParaRPr lang="en-US" sz="950" dirty="0"/>
          </a:p>
        </p:txBody>
      </p:sp>
      <p:sp>
        <p:nvSpPr>
          <p:cNvPr id="29" name="Text 27"/>
          <p:cNvSpPr/>
          <p:nvPr/>
        </p:nvSpPr>
        <p:spPr>
          <a:xfrm>
            <a:off x="5943600" y="2697480"/>
            <a:ext cx="2286000" cy="292608"/>
          </a:xfrm>
          <a:prstGeom prst="rect">
            <a:avLst/>
          </a:prstGeom>
          <a:noFill/>
          <a:ln/>
        </p:spPr>
        <p:txBody>
          <a:bodyPr wrap="square" lIns="0" tIns="0" rIns="0" bIns="0" rtlCol="0" anchor="ctr"/>
          <a:lstStyle/>
          <a:p>
            <a:pPr indent="0" marL="0">
              <a:buNone/>
            </a:pPr>
            <a:r>
              <a:rPr lang="en-US" sz="1100" b="1" dirty="0">
                <a:solidFill>
                  <a:srgbClr val="9B59B6"/>
                </a:solidFill>
              </a:rPr>
              <a:t>Catatumbo</a:t>
            </a:r>
            <a:endParaRPr lang="en-US" sz="1100" dirty="0"/>
          </a:p>
        </p:txBody>
      </p:sp>
      <p:sp>
        <p:nvSpPr>
          <p:cNvPr id="30" name="Shape 28"/>
          <p:cNvSpPr/>
          <p:nvPr/>
        </p:nvSpPr>
        <p:spPr>
          <a:xfrm>
            <a:off x="5943600" y="3017520"/>
            <a:ext cx="301752" cy="246888"/>
          </a:xfrm>
          <a:prstGeom prst="rect">
            <a:avLst/>
          </a:prstGeom>
          <a:solidFill>
            <a:srgbClr val="9B59B6"/>
          </a:solidFill>
          <a:ln/>
        </p:spPr>
      </p:sp>
      <p:sp>
        <p:nvSpPr>
          <p:cNvPr id="31" name="Text 29"/>
          <p:cNvSpPr/>
          <p:nvPr/>
        </p:nvSpPr>
        <p:spPr>
          <a:xfrm>
            <a:off x="5943600" y="3282696"/>
            <a:ext cx="301752" cy="182880"/>
          </a:xfrm>
          <a:prstGeom prst="rect">
            <a:avLst/>
          </a:prstGeom>
          <a:noFill/>
          <a:ln/>
        </p:spPr>
        <p:txBody>
          <a:bodyPr wrap="square" lIns="0" tIns="0" rIns="0" bIns="0" rtlCol="0" anchor="ctr"/>
          <a:lstStyle/>
          <a:p>
            <a:pPr algn="ctr" indent="0" marL="0">
              <a:buNone/>
            </a:pPr>
            <a:r>
              <a:rPr lang="en-US" sz="800" dirty="0">
                <a:solidFill>
                  <a:srgbClr val="9B59B6"/>
                </a:solidFill>
              </a:rPr>
              <a:t>0.110</a:t>
            </a:r>
            <a:endParaRPr lang="en-US" sz="800" dirty="0"/>
          </a:p>
        </p:txBody>
      </p:sp>
      <p:sp>
        <p:nvSpPr>
          <p:cNvPr id="32" name="Shape 30"/>
          <p:cNvSpPr/>
          <p:nvPr/>
        </p:nvSpPr>
        <p:spPr>
          <a:xfrm>
            <a:off x="7680960" y="3017520"/>
            <a:ext cx="1711757" cy="246888"/>
          </a:xfrm>
          <a:prstGeom prst="rect">
            <a:avLst/>
          </a:prstGeom>
          <a:solidFill>
            <a:srgbClr val="9B59B6"/>
          </a:solidFill>
          <a:ln/>
        </p:spPr>
      </p:sp>
      <p:sp>
        <p:nvSpPr>
          <p:cNvPr id="33" name="Text 31"/>
          <p:cNvSpPr/>
          <p:nvPr/>
        </p:nvSpPr>
        <p:spPr>
          <a:xfrm>
            <a:off x="7680960" y="3282696"/>
            <a:ext cx="1711757" cy="182880"/>
          </a:xfrm>
          <a:prstGeom prst="rect">
            <a:avLst/>
          </a:prstGeom>
          <a:noFill/>
          <a:ln/>
        </p:spPr>
        <p:txBody>
          <a:bodyPr wrap="square" lIns="0" tIns="0" rIns="0" bIns="0" rtlCol="0" anchor="ctr"/>
          <a:lstStyle/>
          <a:p>
            <a:pPr algn="ctr" indent="0" marL="0">
              <a:buNone/>
            </a:pPr>
            <a:r>
              <a:rPr lang="en-US" sz="800" dirty="0">
                <a:solidFill>
                  <a:srgbClr val="D4A6FF"/>
                </a:solidFill>
              </a:rPr>
              <a:t>0.624</a:t>
            </a:r>
            <a:endParaRPr lang="en-US" sz="800" dirty="0"/>
          </a:p>
        </p:txBody>
      </p:sp>
      <p:sp>
        <p:nvSpPr>
          <p:cNvPr id="34" name="Text 32"/>
          <p:cNvSpPr/>
          <p:nvPr/>
        </p:nvSpPr>
        <p:spPr>
          <a:xfrm>
            <a:off x="9235440" y="3044952"/>
            <a:ext cx="2468880" cy="457200"/>
          </a:xfrm>
          <a:prstGeom prst="rect">
            <a:avLst/>
          </a:prstGeom>
          <a:noFill/>
          <a:ln/>
        </p:spPr>
        <p:txBody>
          <a:bodyPr wrap="square" lIns="0" tIns="0" rIns="0" bIns="0" rtlCol="0" anchor="ctr"/>
          <a:lstStyle/>
          <a:p>
            <a:pPr indent="0" marL="0">
              <a:buNone/>
            </a:pPr>
            <a:r>
              <a:rPr lang="en-US" sz="950" b="1" dirty="0">
                <a:solidFill>
                  <a:srgbClr val="D4A6FF"/>
                </a:solidFill>
              </a:rPr>
              <a:t>0.514 IEI&gt;DIS</a:t>
            </a:r>
            <a:endParaRPr lang="en-US" sz="950" dirty="0"/>
          </a:p>
        </p:txBody>
      </p:sp>
      <p:sp>
        <p:nvSpPr>
          <p:cNvPr id="35" name="Text 33"/>
          <p:cNvSpPr/>
          <p:nvPr/>
        </p:nvSpPr>
        <p:spPr>
          <a:xfrm>
            <a:off x="5943600" y="3566160"/>
            <a:ext cx="2286000" cy="292608"/>
          </a:xfrm>
          <a:prstGeom prst="rect">
            <a:avLst/>
          </a:prstGeom>
          <a:noFill/>
          <a:ln/>
        </p:spPr>
        <p:txBody>
          <a:bodyPr wrap="square" lIns="0" tIns="0" rIns="0" bIns="0" rtlCol="0" anchor="ctr"/>
          <a:lstStyle/>
          <a:p>
            <a:pPr indent="0" marL="0">
              <a:buNone/>
            </a:pPr>
            <a:r>
              <a:rPr lang="en-US" sz="1100" b="1" dirty="0">
                <a:solidFill>
                  <a:srgbClr val="4A90D9"/>
                </a:solidFill>
              </a:rPr>
              <a:t>Dabeiba</a:t>
            </a:r>
            <a:endParaRPr lang="en-US" sz="1100" dirty="0"/>
          </a:p>
        </p:txBody>
      </p:sp>
      <p:sp>
        <p:nvSpPr>
          <p:cNvPr id="36" name="Shape 34"/>
          <p:cNvSpPr/>
          <p:nvPr/>
        </p:nvSpPr>
        <p:spPr>
          <a:xfrm>
            <a:off x="5943600" y="3886200"/>
            <a:ext cx="1344168" cy="246888"/>
          </a:xfrm>
          <a:prstGeom prst="rect">
            <a:avLst/>
          </a:prstGeom>
          <a:solidFill>
            <a:srgbClr val="4A90D9"/>
          </a:solidFill>
          <a:ln/>
        </p:spPr>
      </p:sp>
      <p:sp>
        <p:nvSpPr>
          <p:cNvPr id="37" name="Text 35"/>
          <p:cNvSpPr/>
          <p:nvPr/>
        </p:nvSpPr>
        <p:spPr>
          <a:xfrm>
            <a:off x="5943600" y="4151376"/>
            <a:ext cx="1344168" cy="182880"/>
          </a:xfrm>
          <a:prstGeom prst="rect">
            <a:avLst/>
          </a:prstGeom>
          <a:noFill/>
          <a:ln/>
        </p:spPr>
        <p:txBody>
          <a:bodyPr wrap="square" lIns="0" tIns="0" rIns="0" bIns="0" rtlCol="0" anchor="ctr"/>
          <a:lstStyle/>
          <a:p>
            <a:pPr algn="ctr" indent="0" marL="0">
              <a:buNone/>
            </a:pPr>
            <a:r>
              <a:rPr lang="en-US" sz="800" dirty="0">
                <a:solidFill>
                  <a:srgbClr val="4A90D9"/>
                </a:solidFill>
              </a:rPr>
              <a:t>0.490</a:t>
            </a:r>
            <a:endParaRPr lang="en-US" sz="800" dirty="0"/>
          </a:p>
        </p:txBody>
      </p:sp>
      <p:sp>
        <p:nvSpPr>
          <p:cNvPr id="38" name="Shape 36"/>
          <p:cNvSpPr/>
          <p:nvPr/>
        </p:nvSpPr>
        <p:spPr>
          <a:xfrm>
            <a:off x="7680960" y="3886200"/>
            <a:ext cx="820217" cy="246888"/>
          </a:xfrm>
          <a:prstGeom prst="rect">
            <a:avLst/>
          </a:prstGeom>
          <a:solidFill>
            <a:srgbClr val="9B59B6"/>
          </a:solidFill>
          <a:ln/>
        </p:spPr>
      </p:sp>
      <p:sp>
        <p:nvSpPr>
          <p:cNvPr id="39" name="Text 37"/>
          <p:cNvSpPr/>
          <p:nvPr/>
        </p:nvSpPr>
        <p:spPr>
          <a:xfrm>
            <a:off x="7680960" y="4151376"/>
            <a:ext cx="820217" cy="182880"/>
          </a:xfrm>
          <a:prstGeom prst="rect">
            <a:avLst/>
          </a:prstGeom>
          <a:noFill/>
          <a:ln/>
        </p:spPr>
        <p:txBody>
          <a:bodyPr wrap="square" lIns="0" tIns="0" rIns="0" bIns="0" rtlCol="0" anchor="ctr"/>
          <a:lstStyle/>
          <a:p>
            <a:pPr algn="ctr" indent="0" marL="0">
              <a:buNone/>
            </a:pPr>
            <a:r>
              <a:rPr lang="en-US" sz="800" dirty="0">
                <a:solidFill>
                  <a:srgbClr val="D4A6FF"/>
                </a:solidFill>
              </a:rPr>
              <a:t>0.299</a:t>
            </a:r>
            <a:endParaRPr lang="en-US" sz="800" dirty="0"/>
          </a:p>
        </p:txBody>
      </p:sp>
      <p:sp>
        <p:nvSpPr>
          <p:cNvPr id="40" name="Text 38"/>
          <p:cNvSpPr/>
          <p:nvPr/>
        </p:nvSpPr>
        <p:spPr>
          <a:xfrm>
            <a:off x="9235440" y="3913632"/>
            <a:ext cx="2468880" cy="457200"/>
          </a:xfrm>
          <a:prstGeom prst="rect">
            <a:avLst/>
          </a:prstGeom>
          <a:noFill/>
          <a:ln/>
        </p:spPr>
        <p:txBody>
          <a:bodyPr wrap="square" lIns="0" tIns="0" rIns="0" bIns="0" rtlCol="0" anchor="ctr"/>
          <a:lstStyle/>
          <a:p>
            <a:pPr indent="0" marL="0">
              <a:buNone/>
            </a:pPr>
            <a:r>
              <a:rPr lang="en-US" sz="950" dirty="0">
                <a:solidFill>
                  <a:srgbClr val="F0C040"/>
                </a:solidFill>
              </a:rPr>
              <a:t>0.191 DIS&gt;IEI</a:t>
            </a:r>
            <a:endParaRPr lang="en-US" sz="950" dirty="0"/>
          </a:p>
        </p:txBody>
      </p:sp>
      <p:sp>
        <p:nvSpPr>
          <p:cNvPr id="41" name="Text 39"/>
          <p:cNvSpPr/>
          <p:nvPr/>
        </p:nvSpPr>
        <p:spPr>
          <a:xfrm>
            <a:off x="5943600" y="4434840"/>
            <a:ext cx="2286000" cy="292608"/>
          </a:xfrm>
          <a:prstGeom prst="rect">
            <a:avLst/>
          </a:prstGeom>
          <a:noFill/>
          <a:ln/>
        </p:spPr>
        <p:txBody>
          <a:bodyPr wrap="square" lIns="0" tIns="0" rIns="0" bIns="0" rtlCol="0" anchor="ctr"/>
          <a:lstStyle/>
          <a:p>
            <a:pPr indent="0" marL="0">
              <a:buNone/>
            </a:pPr>
            <a:r>
              <a:rPr lang="en-US" sz="1100" b="1" dirty="0">
                <a:solidFill>
                  <a:srgbClr val="217346"/>
                </a:solidFill>
              </a:rPr>
              <a:t>Huila</a:t>
            </a:r>
            <a:endParaRPr lang="en-US" sz="1100" dirty="0"/>
          </a:p>
        </p:txBody>
      </p:sp>
      <p:sp>
        <p:nvSpPr>
          <p:cNvPr id="42" name="Shape 40"/>
          <p:cNvSpPr/>
          <p:nvPr/>
        </p:nvSpPr>
        <p:spPr>
          <a:xfrm>
            <a:off x="5943600" y="4754880"/>
            <a:ext cx="625450" cy="246888"/>
          </a:xfrm>
          <a:prstGeom prst="rect">
            <a:avLst/>
          </a:prstGeom>
          <a:solidFill>
            <a:srgbClr val="217346"/>
          </a:solidFill>
          <a:ln/>
        </p:spPr>
      </p:sp>
      <p:sp>
        <p:nvSpPr>
          <p:cNvPr id="43" name="Text 41"/>
          <p:cNvSpPr/>
          <p:nvPr/>
        </p:nvSpPr>
        <p:spPr>
          <a:xfrm>
            <a:off x="5943600" y="5020056"/>
            <a:ext cx="625450" cy="182880"/>
          </a:xfrm>
          <a:prstGeom prst="rect">
            <a:avLst/>
          </a:prstGeom>
          <a:noFill/>
          <a:ln/>
        </p:spPr>
        <p:txBody>
          <a:bodyPr wrap="square" lIns="0" tIns="0" rIns="0" bIns="0" rtlCol="0" anchor="ctr"/>
          <a:lstStyle/>
          <a:p>
            <a:pPr algn="ctr" indent="0" marL="0">
              <a:buNone/>
            </a:pPr>
            <a:r>
              <a:rPr lang="en-US" sz="800" dirty="0">
                <a:solidFill>
                  <a:srgbClr val="217346"/>
                </a:solidFill>
              </a:rPr>
              <a:t>0.228</a:t>
            </a:r>
            <a:endParaRPr lang="en-US" sz="800" dirty="0"/>
          </a:p>
        </p:txBody>
      </p:sp>
      <p:sp>
        <p:nvSpPr>
          <p:cNvPr id="44" name="Shape 42"/>
          <p:cNvSpPr/>
          <p:nvPr/>
        </p:nvSpPr>
        <p:spPr>
          <a:xfrm>
            <a:off x="7680960" y="4754880"/>
            <a:ext cx="228600" cy="246888"/>
          </a:xfrm>
          <a:prstGeom prst="rect">
            <a:avLst/>
          </a:prstGeom>
          <a:solidFill>
            <a:srgbClr val="9B59B6"/>
          </a:solidFill>
          <a:ln/>
        </p:spPr>
      </p:sp>
      <p:sp>
        <p:nvSpPr>
          <p:cNvPr id="45" name="Text 43"/>
          <p:cNvSpPr/>
          <p:nvPr/>
        </p:nvSpPr>
        <p:spPr>
          <a:xfrm>
            <a:off x="7680960" y="5020056"/>
            <a:ext cx="228600" cy="182880"/>
          </a:xfrm>
          <a:prstGeom prst="rect">
            <a:avLst/>
          </a:prstGeom>
          <a:noFill/>
          <a:ln/>
        </p:spPr>
        <p:txBody>
          <a:bodyPr wrap="square" lIns="0" tIns="0" rIns="0" bIns="0" rtlCol="0" anchor="ctr"/>
          <a:lstStyle/>
          <a:p>
            <a:pPr algn="ctr" indent="0" marL="0">
              <a:buNone/>
            </a:pPr>
            <a:r>
              <a:rPr lang="en-US" sz="800" dirty="0">
                <a:solidFill>
                  <a:srgbClr val="D4A6FF"/>
                </a:solidFill>
              </a:rPr>
              <a:t>0.081</a:t>
            </a:r>
            <a:endParaRPr lang="en-US" sz="800" dirty="0"/>
          </a:p>
        </p:txBody>
      </p:sp>
      <p:sp>
        <p:nvSpPr>
          <p:cNvPr id="46" name="Text 44"/>
          <p:cNvSpPr/>
          <p:nvPr/>
        </p:nvSpPr>
        <p:spPr>
          <a:xfrm>
            <a:off x="9235440" y="4782312"/>
            <a:ext cx="2468880" cy="457200"/>
          </a:xfrm>
          <a:prstGeom prst="rect">
            <a:avLst/>
          </a:prstGeom>
          <a:noFill/>
          <a:ln/>
        </p:spPr>
        <p:txBody>
          <a:bodyPr wrap="square" lIns="0" tIns="0" rIns="0" bIns="0" rtlCol="0" anchor="ctr"/>
          <a:lstStyle/>
          <a:p>
            <a:pPr indent="0" marL="0">
              <a:buNone/>
            </a:pPr>
            <a:r>
              <a:rPr lang="en-US" sz="950" dirty="0">
                <a:solidFill>
                  <a:srgbClr val="F0C040"/>
                </a:solidFill>
              </a:rPr>
              <a:t>0.147 DIS&gt;IEI</a:t>
            </a:r>
            <a:endParaRPr lang="en-US" sz="950" dirty="0"/>
          </a:p>
        </p:txBody>
      </p:sp>
      <p:sp>
        <p:nvSpPr>
          <p:cNvPr id="47" name="Text 45"/>
          <p:cNvSpPr/>
          <p:nvPr/>
        </p:nvSpPr>
        <p:spPr>
          <a:xfrm>
            <a:off x="5943600" y="5303520"/>
            <a:ext cx="2286000" cy="292608"/>
          </a:xfrm>
          <a:prstGeom prst="rect">
            <a:avLst/>
          </a:prstGeom>
          <a:noFill/>
          <a:ln/>
        </p:spPr>
        <p:txBody>
          <a:bodyPr wrap="square" lIns="0" tIns="0" rIns="0" bIns="0" rtlCol="0" anchor="ctr"/>
          <a:lstStyle/>
          <a:p>
            <a:pPr indent="0" marL="0">
              <a:buNone/>
            </a:pPr>
            <a:r>
              <a:rPr lang="en-US" sz="1100" b="1" dirty="0">
                <a:solidFill>
                  <a:srgbClr val="C9A227"/>
                </a:solidFill>
              </a:rPr>
              <a:t>Costa Caribe</a:t>
            </a:r>
            <a:endParaRPr lang="en-US" sz="1100" dirty="0"/>
          </a:p>
        </p:txBody>
      </p:sp>
      <p:sp>
        <p:nvSpPr>
          <p:cNvPr id="48" name="Shape 46"/>
          <p:cNvSpPr/>
          <p:nvPr/>
        </p:nvSpPr>
        <p:spPr>
          <a:xfrm>
            <a:off x="5943600" y="5623560"/>
            <a:ext cx="1311250" cy="246888"/>
          </a:xfrm>
          <a:prstGeom prst="rect">
            <a:avLst/>
          </a:prstGeom>
          <a:solidFill>
            <a:srgbClr val="C9A227"/>
          </a:solidFill>
          <a:ln/>
        </p:spPr>
      </p:sp>
      <p:sp>
        <p:nvSpPr>
          <p:cNvPr id="49" name="Text 47"/>
          <p:cNvSpPr/>
          <p:nvPr/>
        </p:nvSpPr>
        <p:spPr>
          <a:xfrm>
            <a:off x="5943600" y="5888736"/>
            <a:ext cx="1311250" cy="182880"/>
          </a:xfrm>
          <a:prstGeom prst="rect">
            <a:avLst/>
          </a:prstGeom>
          <a:noFill/>
          <a:ln/>
        </p:spPr>
        <p:txBody>
          <a:bodyPr wrap="square" lIns="0" tIns="0" rIns="0" bIns="0" rtlCol="0" anchor="ctr"/>
          <a:lstStyle/>
          <a:p>
            <a:pPr algn="ctr" indent="0" marL="0">
              <a:buNone/>
            </a:pPr>
            <a:r>
              <a:rPr lang="en-US" sz="800" dirty="0">
                <a:solidFill>
                  <a:srgbClr val="C9A227"/>
                </a:solidFill>
              </a:rPr>
              <a:t>0.478</a:t>
            </a:r>
            <a:endParaRPr lang="en-US" sz="800" dirty="0"/>
          </a:p>
        </p:txBody>
      </p:sp>
      <p:sp>
        <p:nvSpPr>
          <p:cNvPr id="50" name="Shape 48"/>
          <p:cNvSpPr/>
          <p:nvPr/>
        </p:nvSpPr>
        <p:spPr>
          <a:xfrm>
            <a:off x="7680960" y="5623560"/>
            <a:ext cx="685800" cy="246888"/>
          </a:xfrm>
          <a:prstGeom prst="rect">
            <a:avLst/>
          </a:prstGeom>
          <a:solidFill>
            <a:srgbClr val="9B59B6"/>
          </a:solidFill>
          <a:ln/>
        </p:spPr>
      </p:sp>
      <p:sp>
        <p:nvSpPr>
          <p:cNvPr id="51" name="Text 49"/>
          <p:cNvSpPr/>
          <p:nvPr/>
        </p:nvSpPr>
        <p:spPr>
          <a:xfrm>
            <a:off x="7680960" y="5888736"/>
            <a:ext cx="685800" cy="182880"/>
          </a:xfrm>
          <a:prstGeom prst="rect">
            <a:avLst/>
          </a:prstGeom>
          <a:noFill/>
          <a:ln/>
        </p:spPr>
        <p:txBody>
          <a:bodyPr wrap="square" lIns="0" tIns="0" rIns="0" bIns="0" rtlCol="0" anchor="ctr"/>
          <a:lstStyle/>
          <a:p>
            <a:pPr algn="ctr" indent="0" marL="0">
              <a:buNone/>
            </a:pPr>
            <a:r>
              <a:rPr lang="en-US" sz="800" dirty="0">
                <a:solidFill>
                  <a:srgbClr val="D4A6FF"/>
                </a:solidFill>
              </a:rPr>
              <a:t>0.250</a:t>
            </a:r>
            <a:endParaRPr lang="en-US" sz="800" dirty="0"/>
          </a:p>
        </p:txBody>
      </p:sp>
      <p:sp>
        <p:nvSpPr>
          <p:cNvPr id="52" name="Text 50"/>
          <p:cNvSpPr/>
          <p:nvPr/>
        </p:nvSpPr>
        <p:spPr>
          <a:xfrm>
            <a:off x="9235440" y="5650992"/>
            <a:ext cx="2468880" cy="457200"/>
          </a:xfrm>
          <a:prstGeom prst="rect">
            <a:avLst/>
          </a:prstGeom>
          <a:noFill/>
          <a:ln/>
        </p:spPr>
        <p:txBody>
          <a:bodyPr wrap="square" lIns="0" tIns="0" rIns="0" bIns="0" rtlCol="0" anchor="ctr"/>
          <a:lstStyle/>
          <a:p>
            <a:pPr indent="0" marL="0">
              <a:buNone/>
            </a:pPr>
            <a:r>
              <a:rPr lang="en-US" sz="950" dirty="0">
                <a:solidFill>
                  <a:srgbClr val="F0C040"/>
                </a:solidFill>
              </a:rPr>
              <a:t>0.228 DIS&gt;IEI</a:t>
            </a:r>
            <a:endParaRPr lang="en-US" sz="950" dirty="0"/>
          </a:p>
        </p:txBody>
      </p:sp>
      <p:sp>
        <p:nvSpPr>
          <p:cNvPr id="53" name="Shape 51"/>
          <p:cNvSpPr/>
          <p:nvPr/>
        </p:nvSpPr>
        <p:spPr>
          <a:xfrm>
            <a:off x="5943600" y="6126480"/>
            <a:ext cx="5669280" cy="256032"/>
          </a:xfrm>
          <a:prstGeom prst="rect">
            <a:avLst/>
          </a:prstGeom>
          <a:solidFill>
            <a:srgbClr val="4B0082"/>
          </a:solidFill>
          <a:ln/>
        </p:spPr>
      </p:sp>
      <p:sp>
        <p:nvSpPr>
          <p:cNvPr id="54" name="Text 52"/>
          <p:cNvSpPr/>
          <p:nvPr/>
        </p:nvSpPr>
        <p:spPr>
          <a:xfrm>
            <a:off x="5943600" y="6126480"/>
            <a:ext cx="5669280" cy="256032"/>
          </a:xfrm>
          <a:prstGeom prst="rect">
            <a:avLst/>
          </a:prstGeom>
          <a:noFill/>
          <a:ln/>
        </p:spPr>
        <p:txBody>
          <a:bodyPr wrap="square" lIns="0" tIns="0" rIns="0" bIns="0" rtlCol="0" anchor="ctr"/>
          <a:lstStyle/>
          <a:p>
            <a:pPr algn="ctr" indent="0" marL="0">
              <a:buNone/>
            </a:pPr>
            <a:r>
              <a:rPr lang="en-US" sz="850" dirty="0">
                <a:solidFill>
                  <a:srgbClr val="F0C040"/>
                </a:solidFill>
              </a:rPr>
              <a:t>4/5 DIS&gt;IEI (Habermas&gt;Fricker) · Catatumbo único IEI&gt;DIS (Fricker&gt;Habermas) → caso paradigmático</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B5450B"/>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ICM Tri-canal (y₁₂) — Congruencia Multimodal | Marco: Habermas + Fraser</a:t>
            </a:r>
            <a:endParaRPr lang="en-US" sz="1700" dirty="0"/>
          </a:p>
        </p:txBody>
      </p:sp>
      <p:sp>
        <p:nvSpPr>
          <p:cNvPr id="4" name="Shape 2"/>
          <p:cNvSpPr/>
          <p:nvPr/>
        </p:nvSpPr>
        <p:spPr>
          <a:xfrm>
            <a:off x="274320" y="914400"/>
            <a:ext cx="11612880" cy="1417320"/>
          </a:xfrm>
          <a:prstGeom prst="rect">
            <a:avLst/>
          </a:prstGeom>
          <a:solidFill>
            <a:srgbClr val="FFF4EE"/>
          </a:solidFill>
          <a:ln/>
          <a:effectLst>
            <a:outerShdw sx="100000" sy="100000" kx="0" ky="0" algn="bl" rotWithShape="0" blurRad="76200" dist="25400" dir="8100000">
              <a:srgbClr val="000000">
                <a:alpha val="12000"/>
              </a:srgbClr>
            </a:outerShdw>
          </a:effectLst>
        </p:spPr>
      </p:sp>
      <p:sp>
        <p:nvSpPr>
          <p:cNvPr id="5" name="Text 3"/>
          <p:cNvSpPr/>
          <p:nvPr/>
        </p:nvSpPr>
        <p:spPr>
          <a:xfrm>
            <a:off x="457200" y="960120"/>
            <a:ext cx="11430000" cy="548640"/>
          </a:xfrm>
          <a:prstGeom prst="rect">
            <a:avLst/>
          </a:prstGeom>
          <a:noFill/>
          <a:ln/>
        </p:spPr>
        <p:txBody>
          <a:bodyPr wrap="square" lIns="0" tIns="0" rIns="0" bIns="0" rtlCol="0" anchor="ctr"/>
          <a:lstStyle/>
          <a:p>
            <a:pPr algn="ctr" indent="0" marL="0">
              <a:buNone/>
            </a:pPr>
            <a:r>
              <a:rPr lang="en-US" sz="1700" b="1" dirty="0">
                <a:solidFill>
                  <a:srgbClr val="B5450B"/>
                </a:solidFill>
                <a:latin typeface="Consolas" pitchFamily="34" charset="0"/>
                <a:ea typeface="Consolas" pitchFamily="34" charset="-122"/>
                <a:cs typeface="Consolas" pitchFamily="34" charset="-120"/>
              </a:rPr>
              <a:t>ICM_tri(s) = 0.40 × ICM_facial(s) + 0.40 × ICM_vocal(s) + 0.20 × ICM_verbal(s)</a:t>
            </a:r>
            <a:endParaRPr lang="en-US" sz="1700" dirty="0"/>
          </a:p>
        </p:txBody>
      </p:sp>
      <p:sp>
        <p:nvSpPr>
          <p:cNvPr id="6" name="Shape 4"/>
          <p:cNvSpPr/>
          <p:nvPr/>
        </p:nvSpPr>
        <p:spPr>
          <a:xfrm>
            <a:off x="274320" y="1508760"/>
            <a:ext cx="11612880" cy="713232"/>
          </a:xfrm>
          <a:prstGeom prst="rect">
            <a:avLst/>
          </a:prstGeom>
          <a:solidFill>
            <a:srgbClr val="EBF5FF"/>
          </a:solidFill>
          <a:ln/>
          <a:effectLst>
            <a:outerShdw sx="100000" sy="100000" kx="0" ky="0" algn="bl" rotWithShape="0" blurRad="76200" dist="25400" dir="8100000">
              <a:srgbClr val="000000">
                <a:alpha val="12000"/>
              </a:srgbClr>
            </a:outerShdw>
          </a:effectLst>
        </p:spPr>
      </p:sp>
      <p:sp>
        <p:nvSpPr>
          <p:cNvPr id="7" name="Text 5"/>
          <p:cNvSpPr/>
          <p:nvPr/>
        </p:nvSpPr>
        <p:spPr>
          <a:xfrm>
            <a:off x="365760" y="1527048"/>
            <a:ext cx="11430000" cy="658368"/>
          </a:xfrm>
          <a:prstGeom prst="rect">
            <a:avLst/>
          </a:prstGeom>
          <a:noFill/>
          <a:ln/>
        </p:spPr>
        <p:txBody>
          <a:bodyPr wrap="square" lIns="0" tIns="0" rIns="0" bIns="0" rtlCol="0" anchor="ctr"/>
          <a:lstStyle/>
          <a:p>
            <a:pPr indent="0" marL="0">
              <a:buNone/>
            </a:pPr>
            <a:r>
              <a:rPr lang="en-US" sz="950" b="1" dirty="0">
                <a:solidFill>
                  <a:srgbClr val="4A90D9"/>
                </a:solidFill>
              </a:rPr>
              <a:t>HABERMAS: </a:t>
            </a:r>
            <a:pPr indent="0" marL="0">
              <a:buNone/>
            </a:pPr>
            <a:r>
              <a:rPr lang="en-US" sz="950" dirty="0">
                <a:solidFill>
                  <a:srgbClr val="1A1A2E"/>
                </a:solidFill>
              </a:rPr>
              <a:t>La acción comunicativa requiere congruencia en todos los canales. La incongruencia entre lo que se dice y cómo se dice (vocal) o expresa (facial) es una violación de la pretensión de sinceridad expresiva. El ICM mide la integridad comunicativa del acto de habla. </a:t>
            </a:r>
            <a:pPr indent="0" marL="0">
              <a:buNone/>
            </a:pPr>
            <a:r>
              <a:rPr lang="en-US" sz="950" b="1" dirty="0">
                <a:solidFill>
                  <a:srgbClr val="217346"/>
                </a:solidFill>
              </a:rPr>
              <a:t>FRASER: </a:t>
            </a:r>
            <a:pPr indent="0" marL="0">
              <a:buNone/>
            </a:pPr>
            <a:r>
              <a:rPr lang="en-US" sz="950" dirty="0">
                <a:solidFill>
                  <a:srgbClr val="1A1A2E"/>
                </a:solidFill>
              </a:rPr>
              <a:t>La paridad participativa no se garantiza solo con las palabras correctas — requiere un compromiso performativo completo. La congruencia tri-canal es el requisito performativo del reconocimiento genuino. DIS alto + ICM incongruente = paridad bloqueada en todas las dimensiones.</a:t>
            </a:r>
            <a:endParaRPr lang="en-US" sz="950" dirty="0"/>
          </a:p>
        </p:txBody>
      </p:sp>
      <p:sp>
        <p:nvSpPr>
          <p:cNvPr id="8" name="Shape 6"/>
          <p:cNvSpPr/>
          <p:nvPr/>
        </p:nvSpPr>
        <p:spPr>
          <a:xfrm>
            <a:off x="274320" y="2331720"/>
            <a:ext cx="1161288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274320" y="2331720"/>
            <a:ext cx="365760" cy="1371600"/>
          </a:xfrm>
          <a:prstGeom prst="rect">
            <a:avLst/>
          </a:prstGeom>
          <a:solidFill>
            <a:srgbClr val="B5450B"/>
          </a:solidFill>
          <a:ln/>
        </p:spPr>
      </p:sp>
      <p:sp>
        <p:nvSpPr>
          <p:cNvPr id="10" name="Text 8"/>
          <p:cNvSpPr/>
          <p:nvPr/>
        </p:nvSpPr>
        <p:spPr>
          <a:xfrm>
            <a:off x="713232" y="2377440"/>
            <a:ext cx="10972800" cy="292608"/>
          </a:xfrm>
          <a:prstGeom prst="rect">
            <a:avLst/>
          </a:prstGeom>
          <a:noFill/>
          <a:ln/>
        </p:spPr>
        <p:txBody>
          <a:bodyPr wrap="square" lIns="0" tIns="0" rIns="0" bIns="0" rtlCol="0" anchor="ctr"/>
          <a:lstStyle/>
          <a:p>
            <a:pPr indent="0" marL="0">
              <a:buNone/>
            </a:pPr>
            <a:r>
              <a:rPr lang="en-US" sz="1200" b="1" dirty="0">
                <a:solidFill>
                  <a:srgbClr val="1F4E79"/>
                </a:solidFill>
              </a:rPr>
              <a:t>CANAL FACIAL (w=0.40)</a:t>
            </a:r>
            <a:endParaRPr lang="en-US" sz="1200" dirty="0"/>
          </a:p>
        </p:txBody>
      </p:sp>
      <p:sp>
        <p:nvSpPr>
          <p:cNvPr id="11" name="Shape 9"/>
          <p:cNvSpPr/>
          <p:nvPr/>
        </p:nvSpPr>
        <p:spPr>
          <a:xfrm>
            <a:off x="713232" y="2670048"/>
            <a:ext cx="6217920" cy="347472"/>
          </a:xfrm>
          <a:prstGeom prst="rect">
            <a:avLst/>
          </a:prstGeom>
          <a:solidFill>
            <a:srgbClr val="FFF4EE"/>
          </a:solidFill>
          <a:ln/>
        </p:spPr>
      </p:sp>
      <p:sp>
        <p:nvSpPr>
          <p:cNvPr id="12" name="Text 10"/>
          <p:cNvSpPr/>
          <p:nvPr/>
        </p:nvSpPr>
        <p:spPr>
          <a:xfrm>
            <a:off x="758952" y="2679192"/>
            <a:ext cx="6172200" cy="338328"/>
          </a:xfrm>
          <a:prstGeom prst="rect">
            <a:avLst/>
          </a:prstGeom>
          <a:noFill/>
          <a:ln/>
        </p:spPr>
        <p:txBody>
          <a:bodyPr wrap="square" lIns="0" tIns="0" rIns="0" bIns="0" rtlCol="0" anchor="ctr"/>
          <a:lstStyle/>
          <a:p>
            <a:pPr indent="0" marL="0">
              <a:buNone/>
            </a:pPr>
            <a:r>
              <a:rPr lang="en-US" sz="850" dirty="0">
                <a:solidFill>
                  <a:srgbClr val="B5450B"/>
                </a:solidFill>
              </a:rPr>
              <a:t>MARCO: Habermas: la expresión facial es el canal de la sinceridad corporal. MediaPipe extrae 17 Action Units — los movimientos musculares involuntarios que codifican la emoción. Son más difíciles de controlar conscientemente que las palabras.</a:t>
            </a:r>
            <a:endParaRPr lang="en-US" sz="850" dirty="0"/>
          </a:p>
        </p:txBody>
      </p:sp>
      <p:sp>
        <p:nvSpPr>
          <p:cNvPr id="13" name="Shape 11"/>
          <p:cNvSpPr/>
          <p:nvPr/>
        </p:nvSpPr>
        <p:spPr>
          <a:xfrm>
            <a:off x="6995160" y="2670048"/>
            <a:ext cx="4800600" cy="347472"/>
          </a:xfrm>
          <a:prstGeom prst="rect">
            <a:avLst/>
          </a:prstGeom>
          <a:solidFill>
            <a:srgbClr val="F0F4FF"/>
          </a:solidFill>
          <a:ln/>
        </p:spPr>
      </p:sp>
      <p:sp>
        <p:nvSpPr>
          <p:cNvPr id="14" name="Text 12"/>
          <p:cNvSpPr/>
          <p:nvPr/>
        </p:nvSpPr>
        <p:spPr>
          <a:xfrm>
            <a:off x="7040880" y="2679192"/>
            <a:ext cx="4754880" cy="338328"/>
          </a:xfrm>
          <a:prstGeom prst="rect">
            <a:avLst/>
          </a:prstGeom>
          <a:noFill/>
          <a:ln/>
        </p:spPr>
        <p:txBody>
          <a:bodyPr wrap="square" lIns="0" tIns="0" rIns="0" bIns="0" rtlCol="0" anchor="ctr"/>
          <a:lstStyle/>
          <a:p>
            <a:pPr indent="0" marL="0">
              <a:buNone/>
            </a:pPr>
            <a:r>
              <a:rPr lang="en-US" sz="800" dirty="0">
                <a:solidFill>
                  <a:srgbClr val="4B0082"/>
                </a:solidFill>
                <a:latin typeface="Consolas" pitchFamily="34" charset="0"/>
                <a:ea typeface="Consolas" pitchFamily="34" charset="-122"/>
                <a:cs typeface="Consolas" pitchFamily="34" charset="-120"/>
              </a:rPr>
              <a:t>FÓRMULA: ICM_facial = 1 − d_coseno(AU_vec(s), centroide_AU_REP_corpus)</a:t>
            </a:r>
            <a:endParaRPr lang="en-US" sz="800" dirty="0"/>
          </a:p>
        </p:txBody>
      </p:sp>
      <p:sp>
        <p:nvSpPr>
          <p:cNvPr id="15" name="Text 13"/>
          <p:cNvSpPr/>
          <p:nvPr/>
        </p:nvSpPr>
        <p:spPr>
          <a:xfrm>
            <a:off x="713232" y="3063240"/>
            <a:ext cx="8229600" cy="320040"/>
          </a:xfrm>
          <a:prstGeom prst="rect">
            <a:avLst/>
          </a:prstGeom>
          <a:noFill/>
          <a:ln/>
        </p:spPr>
        <p:txBody>
          <a:bodyPr wrap="square" lIns="0" tIns="0" rIns="0" bIns="0" rtlCol="0" anchor="ctr"/>
          <a:lstStyle/>
          <a:p>
            <a:pPr indent="0" marL="0">
              <a:buNone/>
            </a:pPr>
            <a:r>
              <a:rPr lang="en-US" sz="850" dirty="0">
                <a:solidFill>
                  <a:srgbClr val="6B7280"/>
                </a:solidFill>
              </a:rPr>
              <a:t>MÉTODO: MediaPipe FaceLandmarker: 478 landmarks → 17 AUs. Normalización z-score por compareciente.</a:t>
            </a:r>
            <a:endParaRPr lang="en-US" sz="850" dirty="0"/>
          </a:p>
        </p:txBody>
      </p:sp>
      <p:sp>
        <p:nvSpPr>
          <p:cNvPr id="16" name="Shape 14"/>
          <p:cNvSpPr/>
          <p:nvPr/>
        </p:nvSpPr>
        <p:spPr>
          <a:xfrm>
            <a:off x="9006840" y="3063240"/>
            <a:ext cx="2788920" cy="320040"/>
          </a:xfrm>
          <a:prstGeom prst="rect">
            <a:avLst/>
          </a:prstGeom>
          <a:solidFill>
            <a:srgbClr val="E2F0E8"/>
          </a:solidFill>
          <a:ln/>
        </p:spPr>
      </p:sp>
      <p:sp>
        <p:nvSpPr>
          <p:cNvPr id="17" name="Text 15"/>
          <p:cNvSpPr/>
          <p:nvPr/>
        </p:nvSpPr>
        <p:spPr>
          <a:xfrm>
            <a:off x="9052560" y="3072384"/>
            <a:ext cx="2743200" cy="301752"/>
          </a:xfrm>
          <a:prstGeom prst="rect">
            <a:avLst/>
          </a:prstGeom>
          <a:noFill/>
          <a:ln/>
        </p:spPr>
        <p:txBody>
          <a:bodyPr wrap="square" lIns="0" tIns="0" rIns="0" bIns="0" rtlCol="0" anchor="ctr"/>
          <a:lstStyle/>
          <a:p>
            <a:pPr indent="0" marL="0">
              <a:buNone/>
            </a:pPr>
            <a:r>
              <a:rPr lang="en-US" sz="850" dirty="0">
                <a:solidFill>
                  <a:srgbClr val="217346"/>
                </a:solidFill>
              </a:rPr>
              <a:t>4/5 ✅ — Costa Caribe: diarización completa, AUs pendientes</a:t>
            </a:r>
            <a:endParaRPr lang="en-US" sz="850" dirty="0"/>
          </a:p>
        </p:txBody>
      </p:sp>
      <p:sp>
        <p:nvSpPr>
          <p:cNvPr id="18" name="Text 16"/>
          <p:cNvSpPr/>
          <p:nvPr/>
        </p:nvSpPr>
        <p:spPr>
          <a:xfrm>
            <a:off x="713232" y="3429000"/>
            <a:ext cx="11155680" cy="228600"/>
          </a:xfrm>
          <a:prstGeom prst="rect">
            <a:avLst/>
          </a:prstGeom>
          <a:noFill/>
          <a:ln/>
        </p:spPr>
        <p:txBody>
          <a:bodyPr wrap="square" lIns="0" tIns="0" rIns="0" bIns="0" rtlCol="0" anchor="ctr"/>
          <a:lstStyle/>
          <a:p>
            <a:pPr indent="0" marL="0">
              <a:buNone/>
            </a:pPr>
            <a:r>
              <a:rPr lang="en-US" sz="800" b="1" dirty="0">
                <a:solidFill>
                  <a:srgbClr val="B5450B"/>
                </a:solidFill>
              </a:rPr>
              <a:t>SALVAGUARDA EPISTEMOLÓGICA: ICM mide congruencia inter-canal, NO sinceridad individual. Propiedad del discurso, no del sujeto.</a:t>
            </a:r>
            <a:endParaRPr lang="en-US" sz="800" dirty="0"/>
          </a:p>
        </p:txBody>
      </p:sp>
      <p:sp>
        <p:nvSpPr>
          <p:cNvPr id="19" name="Shape 17"/>
          <p:cNvSpPr/>
          <p:nvPr/>
        </p:nvSpPr>
        <p:spPr>
          <a:xfrm>
            <a:off x="274320" y="3813048"/>
            <a:ext cx="1161288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274320" y="3813048"/>
            <a:ext cx="365760" cy="1371600"/>
          </a:xfrm>
          <a:prstGeom prst="rect">
            <a:avLst/>
          </a:prstGeom>
          <a:solidFill>
            <a:srgbClr val="B5450B"/>
          </a:solidFill>
          <a:ln/>
        </p:spPr>
      </p:sp>
      <p:sp>
        <p:nvSpPr>
          <p:cNvPr id="21" name="Text 19"/>
          <p:cNvSpPr/>
          <p:nvPr/>
        </p:nvSpPr>
        <p:spPr>
          <a:xfrm>
            <a:off x="713232" y="3858768"/>
            <a:ext cx="10972800" cy="292608"/>
          </a:xfrm>
          <a:prstGeom prst="rect">
            <a:avLst/>
          </a:prstGeom>
          <a:noFill/>
          <a:ln/>
        </p:spPr>
        <p:txBody>
          <a:bodyPr wrap="square" lIns="0" tIns="0" rIns="0" bIns="0" rtlCol="0" anchor="ctr"/>
          <a:lstStyle/>
          <a:p>
            <a:pPr indent="0" marL="0">
              <a:buNone/>
            </a:pPr>
            <a:r>
              <a:rPr lang="en-US" sz="1200" b="1" dirty="0">
                <a:solidFill>
                  <a:srgbClr val="1F4E79"/>
                </a:solidFill>
              </a:rPr>
              <a:t>CANAL VOCAL (w=0.40)</a:t>
            </a:r>
            <a:endParaRPr lang="en-US" sz="1200" dirty="0"/>
          </a:p>
        </p:txBody>
      </p:sp>
      <p:sp>
        <p:nvSpPr>
          <p:cNvPr id="22" name="Shape 20"/>
          <p:cNvSpPr/>
          <p:nvPr/>
        </p:nvSpPr>
        <p:spPr>
          <a:xfrm>
            <a:off x="713232" y="4151376"/>
            <a:ext cx="6217920" cy="347472"/>
          </a:xfrm>
          <a:prstGeom prst="rect">
            <a:avLst/>
          </a:prstGeom>
          <a:solidFill>
            <a:srgbClr val="FFF4EE"/>
          </a:solidFill>
          <a:ln/>
        </p:spPr>
      </p:sp>
      <p:sp>
        <p:nvSpPr>
          <p:cNvPr id="23" name="Text 21"/>
          <p:cNvSpPr/>
          <p:nvPr/>
        </p:nvSpPr>
        <p:spPr>
          <a:xfrm>
            <a:off x="758952" y="4160520"/>
            <a:ext cx="6172200" cy="338328"/>
          </a:xfrm>
          <a:prstGeom prst="rect">
            <a:avLst/>
          </a:prstGeom>
          <a:noFill/>
          <a:ln/>
        </p:spPr>
        <p:txBody>
          <a:bodyPr wrap="square" lIns="0" tIns="0" rIns="0" bIns="0" rtlCol="0" anchor="ctr"/>
          <a:lstStyle/>
          <a:p>
            <a:pPr indent="0" marL="0">
              <a:buNone/>
            </a:pPr>
            <a:r>
              <a:rPr lang="en-US" sz="850" dirty="0">
                <a:solidFill>
                  <a:srgbClr val="B5450B"/>
                </a:solidFill>
              </a:rPr>
              <a:t>MARCO: Habermas+Fraser: la prosodia revela el estado emocional subyacente. Un reconocimiento genuino tiene características vocales específicas — variación de F0, energía espectral — que difieren de un reconocimiento formulístico.</a:t>
            </a:r>
            <a:endParaRPr lang="en-US" sz="850" dirty="0"/>
          </a:p>
        </p:txBody>
      </p:sp>
      <p:sp>
        <p:nvSpPr>
          <p:cNvPr id="24" name="Shape 22"/>
          <p:cNvSpPr/>
          <p:nvPr/>
        </p:nvSpPr>
        <p:spPr>
          <a:xfrm>
            <a:off x="6995160" y="4151376"/>
            <a:ext cx="4800600" cy="347472"/>
          </a:xfrm>
          <a:prstGeom prst="rect">
            <a:avLst/>
          </a:prstGeom>
          <a:solidFill>
            <a:srgbClr val="F0F4FF"/>
          </a:solidFill>
          <a:ln/>
        </p:spPr>
      </p:sp>
      <p:sp>
        <p:nvSpPr>
          <p:cNvPr id="25" name="Text 23"/>
          <p:cNvSpPr/>
          <p:nvPr/>
        </p:nvSpPr>
        <p:spPr>
          <a:xfrm>
            <a:off x="7040880" y="4160520"/>
            <a:ext cx="4754880" cy="338328"/>
          </a:xfrm>
          <a:prstGeom prst="rect">
            <a:avLst/>
          </a:prstGeom>
          <a:noFill/>
          <a:ln/>
        </p:spPr>
        <p:txBody>
          <a:bodyPr wrap="square" lIns="0" tIns="0" rIns="0" bIns="0" rtlCol="0" anchor="ctr"/>
          <a:lstStyle/>
          <a:p>
            <a:pPr indent="0" marL="0">
              <a:buNone/>
            </a:pPr>
            <a:r>
              <a:rPr lang="en-US" sz="800" dirty="0">
                <a:solidFill>
                  <a:srgbClr val="4B0082"/>
                </a:solidFill>
                <a:latin typeface="Consolas" pitchFamily="34" charset="0"/>
                <a:ea typeface="Consolas" pitchFamily="34" charset="-122"/>
                <a:cs typeface="Consolas" pitchFamily="34" charset="-120"/>
              </a:rPr>
              <a:t>FÓRMULA: ICM_vocal = 1 − d_coseno(eGeMAPS_vec(s), centroide_eGeMAPS_REP_corpus)</a:t>
            </a:r>
            <a:endParaRPr lang="en-US" sz="800" dirty="0"/>
          </a:p>
        </p:txBody>
      </p:sp>
      <p:sp>
        <p:nvSpPr>
          <p:cNvPr id="26" name="Text 24"/>
          <p:cNvSpPr/>
          <p:nvPr/>
        </p:nvSpPr>
        <p:spPr>
          <a:xfrm>
            <a:off x="713232" y="4544568"/>
            <a:ext cx="8229600" cy="320040"/>
          </a:xfrm>
          <a:prstGeom prst="rect">
            <a:avLst/>
          </a:prstGeom>
          <a:noFill/>
          <a:ln/>
        </p:spPr>
        <p:txBody>
          <a:bodyPr wrap="square" lIns="0" tIns="0" rIns="0" bIns="0" rtlCol="0" anchor="ctr"/>
          <a:lstStyle/>
          <a:p>
            <a:pPr indent="0" marL="0">
              <a:buNone/>
            </a:pPr>
            <a:r>
              <a:rPr lang="en-US" sz="850" dirty="0">
                <a:solidFill>
                  <a:srgbClr val="6B7280"/>
                </a:solidFill>
              </a:rPr>
              <a:t>MÉTODO: OpenSMILE eGeMAPS v02: 88 features (F0, jitter, shimmer, MFCC, HNR). Ventana 25ms, paso 10ms.</a:t>
            </a:r>
            <a:endParaRPr lang="en-US" sz="850" dirty="0"/>
          </a:p>
        </p:txBody>
      </p:sp>
      <p:sp>
        <p:nvSpPr>
          <p:cNvPr id="27" name="Shape 25"/>
          <p:cNvSpPr/>
          <p:nvPr/>
        </p:nvSpPr>
        <p:spPr>
          <a:xfrm>
            <a:off x="9006840" y="4544568"/>
            <a:ext cx="2788920" cy="320040"/>
          </a:xfrm>
          <a:prstGeom prst="rect">
            <a:avLst/>
          </a:prstGeom>
          <a:solidFill>
            <a:srgbClr val="E2F0E8"/>
          </a:solidFill>
          <a:ln/>
        </p:spPr>
      </p:sp>
      <p:sp>
        <p:nvSpPr>
          <p:cNvPr id="28" name="Text 26"/>
          <p:cNvSpPr/>
          <p:nvPr/>
        </p:nvSpPr>
        <p:spPr>
          <a:xfrm>
            <a:off x="9052560" y="4553712"/>
            <a:ext cx="2743200" cy="301752"/>
          </a:xfrm>
          <a:prstGeom prst="rect">
            <a:avLst/>
          </a:prstGeom>
          <a:noFill/>
          <a:ln/>
        </p:spPr>
        <p:txBody>
          <a:bodyPr wrap="square" lIns="0" tIns="0" rIns="0" bIns="0" rtlCol="0" anchor="ctr"/>
          <a:lstStyle/>
          <a:p>
            <a:pPr indent="0" marL="0">
              <a:buNone/>
            </a:pPr>
            <a:r>
              <a:rPr lang="en-US" sz="850" dirty="0">
                <a:solidFill>
                  <a:srgbClr val="217346"/>
                </a:solidFill>
              </a:rPr>
              <a:t>4/5 ✅ — Costa Caribe: audio disponible, extracción pendiente</a:t>
            </a:r>
            <a:endParaRPr lang="en-US" sz="850" dirty="0"/>
          </a:p>
        </p:txBody>
      </p:sp>
      <p:sp>
        <p:nvSpPr>
          <p:cNvPr id="29" name="Text 27"/>
          <p:cNvSpPr/>
          <p:nvPr/>
        </p:nvSpPr>
        <p:spPr>
          <a:xfrm>
            <a:off x="713232" y="4910328"/>
            <a:ext cx="11155680" cy="228600"/>
          </a:xfrm>
          <a:prstGeom prst="rect">
            <a:avLst/>
          </a:prstGeom>
          <a:noFill/>
          <a:ln/>
        </p:spPr>
        <p:txBody>
          <a:bodyPr wrap="square" lIns="0" tIns="0" rIns="0" bIns="0" rtlCol="0" anchor="ctr"/>
          <a:lstStyle/>
          <a:p>
            <a:pPr indent="0" marL="0">
              <a:buNone/>
            </a:pPr>
            <a:r>
              <a:rPr lang="en-US" sz="800" b="1" dirty="0">
                <a:solidFill>
                  <a:srgbClr val="B5450B"/>
                </a:solidFill>
              </a:rPr>
              <a:t>SALVAGUARDA EPISTEMOLÓGICA: ICM mide congruencia inter-canal, NO sinceridad individual. Propiedad del discurso, no del sujeto.</a:t>
            </a:r>
            <a:endParaRPr lang="en-US" sz="800" dirty="0"/>
          </a:p>
        </p:txBody>
      </p:sp>
      <p:sp>
        <p:nvSpPr>
          <p:cNvPr id="30" name="Shape 28"/>
          <p:cNvSpPr/>
          <p:nvPr/>
        </p:nvSpPr>
        <p:spPr>
          <a:xfrm>
            <a:off x="274320" y="5294376"/>
            <a:ext cx="1161288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1" name="Shape 29"/>
          <p:cNvSpPr/>
          <p:nvPr/>
        </p:nvSpPr>
        <p:spPr>
          <a:xfrm>
            <a:off x="274320" y="5294376"/>
            <a:ext cx="365760" cy="1371600"/>
          </a:xfrm>
          <a:prstGeom prst="rect">
            <a:avLst/>
          </a:prstGeom>
          <a:solidFill>
            <a:srgbClr val="6B3FA0"/>
          </a:solidFill>
          <a:ln/>
        </p:spPr>
      </p:sp>
      <p:sp>
        <p:nvSpPr>
          <p:cNvPr id="32" name="Text 30"/>
          <p:cNvSpPr/>
          <p:nvPr/>
        </p:nvSpPr>
        <p:spPr>
          <a:xfrm>
            <a:off x="713232" y="5340096"/>
            <a:ext cx="10972800" cy="292608"/>
          </a:xfrm>
          <a:prstGeom prst="rect">
            <a:avLst/>
          </a:prstGeom>
          <a:noFill/>
          <a:ln/>
        </p:spPr>
        <p:txBody>
          <a:bodyPr wrap="square" lIns="0" tIns="0" rIns="0" bIns="0" rtlCol="0" anchor="ctr"/>
          <a:lstStyle/>
          <a:p>
            <a:pPr indent="0" marL="0">
              <a:buNone/>
            </a:pPr>
            <a:r>
              <a:rPr lang="en-US" sz="1200" b="1" dirty="0">
                <a:solidFill>
                  <a:srgbClr val="1F4E79"/>
                </a:solidFill>
              </a:rPr>
              <a:t>CANAL VERBAL (w=0.20)</a:t>
            </a:r>
            <a:endParaRPr lang="en-US" sz="1200" dirty="0"/>
          </a:p>
        </p:txBody>
      </p:sp>
      <p:sp>
        <p:nvSpPr>
          <p:cNvPr id="33" name="Shape 31"/>
          <p:cNvSpPr/>
          <p:nvPr/>
        </p:nvSpPr>
        <p:spPr>
          <a:xfrm>
            <a:off x="713232" y="5632704"/>
            <a:ext cx="6217920" cy="347472"/>
          </a:xfrm>
          <a:prstGeom prst="rect">
            <a:avLst/>
          </a:prstGeom>
          <a:solidFill>
            <a:srgbClr val="F8F0FF"/>
          </a:solidFill>
          <a:ln/>
        </p:spPr>
      </p:sp>
      <p:sp>
        <p:nvSpPr>
          <p:cNvPr id="34" name="Text 32"/>
          <p:cNvSpPr/>
          <p:nvPr/>
        </p:nvSpPr>
        <p:spPr>
          <a:xfrm>
            <a:off x="758952" y="5641848"/>
            <a:ext cx="6172200" cy="338328"/>
          </a:xfrm>
          <a:prstGeom prst="rect">
            <a:avLst/>
          </a:prstGeom>
          <a:noFill/>
          <a:ln/>
        </p:spPr>
        <p:txBody>
          <a:bodyPr wrap="square" lIns="0" tIns="0" rIns="0" bIns="0" rtlCol="0" anchor="ctr"/>
          <a:lstStyle/>
          <a:p>
            <a:pPr indent="0" marL="0">
              <a:buNone/>
            </a:pPr>
            <a:r>
              <a:rPr lang="en-US" sz="850" dirty="0">
                <a:solidFill>
                  <a:srgbClr val="6B3FA0"/>
                </a:solidFill>
              </a:rPr>
              <a:t>MARCO: Fraser: el canal verbal es el más susceptible de manipulación consciente — se puede aprender a decir las palabras correctas. Peso menor (0.20) porque su valor informativo es menor para evaluar el reconocimiento genuino.</a:t>
            </a:r>
            <a:endParaRPr lang="en-US" sz="850" dirty="0"/>
          </a:p>
        </p:txBody>
      </p:sp>
      <p:sp>
        <p:nvSpPr>
          <p:cNvPr id="35" name="Shape 33"/>
          <p:cNvSpPr/>
          <p:nvPr/>
        </p:nvSpPr>
        <p:spPr>
          <a:xfrm>
            <a:off x="6995160" y="5632704"/>
            <a:ext cx="4800600" cy="347472"/>
          </a:xfrm>
          <a:prstGeom prst="rect">
            <a:avLst/>
          </a:prstGeom>
          <a:solidFill>
            <a:srgbClr val="F0F4FF"/>
          </a:solidFill>
          <a:ln/>
        </p:spPr>
      </p:sp>
      <p:sp>
        <p:nvSpPr>
          <p:cNvPr id="36" name="Text 34"/>
          <p:cNvSpPr/>
          <p:nvPr/>
        </p:nvSpPr>
        <p:spPr>
          <a:xfrm>
            <a:off x="7040880" y="5641848"/>
            <a:ext cx="4754880" cy="338328"/>
          </a:xfrm>
          <a:prstGeom prst="rect">
            <a:avLst/>
          </a:prstGeom>
          <a:noFill/>
          <a:ln/>
        </p:spPr>
        <p:txBody>
          <a:bodyPr wrap="square" lIns="0" tIns="0" rIns="0" bIns="0" rtlCol="0" anchor="ctr"/>
          <a:lstStyle/>
          <a:p>
            <a:pPr indent="0" marL="0">
              <a:buNone/>
            </a:pPr>
            <a:r>
              <a:rPr lang="en-US" sz="800" dirty="0">
                <a:solidFill>
                  <a:srgbClr val="4B0082"/>
                </a:solidFill>
                <a:latin typeface="Consolas" pitchFamily="34" charset="0"/>
                <a:ea typeface="Consolas" pitchFamily="34" charset="-122"/>
                <a:cs typeface="Consolas" pitchFamily="34" charset="-120"/>
              </a:rPr>
              <a:t>FÓRMULA: ICM_verbal = REP_score(segmento) = CFH-BERT_v2(texto_segmento)[REP_logit]</a:t>
            </a:r>
            <a:endParaRPr lang="en-US" sz="800" dirty="0"/>
          </a:p>
        </p:txBody>
      </p:sp>
      <p:sp>
        <p:nvSpPr>
          <p:cNvPr id="37" name="Text 35"/>
          <p:cNvSpPr/>
          <p:nvPr/>
        </p:nvSpPr>
        <p:spPr>
          <a:xfrm>
            <a:off x="713232" y="6025896"/>
            <a:ext cx="8229600" cy="320040"/>
          </a:xfrm>
          <a:prstGeom prst="rect">
            <a:avLst/>
          </a:prstGeom>
          <a:noFill/>
          <a:ln/>
        </p:spPr>
        <p:txBody>
          <a:bodyPr wrap="square" lIns="0" tIns="0" rIns="0" bIns="0" rtlCol="0" anchor="ctr"/>
          <a:lstStyle/>
          <a:p>
            <a:pPr indent="0" marL="0">
              <a:buNone/>
            </a:pPr>
            <a:r>
              <a:rPr lang="en-US" sz="850" dirty="0">
                <a:solidFill>
                  <a:srgbClr val="6B7280"/>
                </a:solidFill>
              </a:rPr>
              <a:t>MÉTODO: Mismo extractor que y₁₀. Aplicado a nivel de segmento post-diarización. Identifica speaker compareciente.</a:t>
            </a:r>
            <a:endParaRPr lang="en-US" sz="850" dirty="0"/>
          </a:p>
        </p:txBody>
      </p:sp>
      <p:sp>
        <p:nvSpPr>
          <p:cNvPr id="38" name="Shape 36"/>
          <p:cNvSpPr/>
          <p:nvPr/>
        </p:nvSpPr>
        <p:spPr>
          <a:xfrm>
            <a:off x="9006840" y="6025896"/>
            <a:ext cx="2788920" cy="320040"/>
          </a:xfrm>
          <a:prstGeom prst="rect">
            <a:avLst/>
          </a:prstGeom>
          <a:solidFill>
            <a:srgbClr val="E2F0E8"/>
          </a:solidFill>
          <a:ln/>
        </p:spPr>
      </p:sp>
      <p:sp>
        <p:nvSpPr>
          <p:cNvPr id="39" name="Text 37"/>
          <p:cNvSpPr/>
          <p:nvPr/>
        </p:nvSpPr>
        <p:spPr>
          <a:xfrm>
            <a:off x="9052560" y="6035040"/>
            <a:ext cx="2743200" cy="301752"/>
          </a:xfrm>
          <a:prstGeom prst="rect">
            <a:avLst/>
          </a:prstGeom>
          <a:noFill/>
          <a:ln/>
        </p:spPr>
        <p:txBody>
          <a:bodyPr wrap="square" lIns="0" tIns="0" rIns="0" bIns="0" rtlCol="0" anchor="ctr"/>
          <a:lstStyle/>
          <a:p>
            <a:pPr indent="0" marL="0">
              <a:buNone/>
            </a:pPr>
            <a:r>
              <a:rPr lang="en-US" sz="850" dirty="0">
                <a:solidFill>
                  <a:srgbClr val="217346"/>
                </a:solidFill>
              </a:rPr>
              <a:t>4/5 ✅ — Costa Caribe: texto disponible, asignación speaker pendiente</a:t>
            </a:r>
            <a:endParaRPr lang="en-US" sz="850" dirty="0"/>
          </a:p>
        </p:txBody>
      </p:sp>
      <p:sp>
        <p:nvSpPr>
          <p:cNvPr id="40" name="Text 38"/>
          <p:cNvSpPr/>
          <p:nvPr/>
        </p:nvSpPr>
        <p:spPr>
          <a:xfrm>
            <a:off x="713232" y="6391656"/>
            <a:ext cx="11155680" cy="228600"/>
          </a:xfrm>
          <a:prstGeom prst="rect">
            <a:avLst/>
          </a:prstGeom>
          <a:noFill/>
          <a:ln/>
        </p:spPr>
        <p:txBody>
          <a:bodyPr wrap="square" lIns="0" tIns="0" rIns="0" bIns="0" rtlCol="0" anchor="ctr"/>
          <a:lstStyle/>
          <a:p>
            <a:pPr indent="0" marL="0">
              <a:buNone/>
            </a:pPr>
            <a:r>
              <a:rPr lang="en-US" sz="800" b="1" dirty="0">
                <a:solidFill>
                  <a:srgbClr val="B5450B"/>
                </a:solidFill>
              </a:rPr>
              <a:t>SALVAGUARDA EPISTEMOLÓGICA: ICM mide congruencia inter-canal, NO sinceridad individual. Propiedad del discurso, no del sujeto.</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12161520" cy="777240"/>
          </a:xfrm>
          <a:prstGeom prst="rect">
            <a:avLst/>
          </a:prstGeom>
          <a:solidFill>
            <a:srgbClr val="2E75B6"/>
          </a:solidFill>
          <a:ln/>
        </p:spPr>
      </p:sp>
      <p:sp>
        <p:nvSpPr>
          <p:cNvPr id="3" name="Text 1"/>
          <p:cNvSpPr/>
          <p:nvPr/>
        </p:nvSpPr>
        <p:spPr>
          <a:xfrm>
            <a:off x="274320" y="0"/>
            <a:ext cx="11612880" cy="777240"/>
          </a:xfrm>
          <a:prstGeom prst="rect">
            <a:avLst/>
          </a:prstGeom>
          <a:noFill/>
          <a:ln/>
        </p:spPr>
        <p:txBody>
          <a:bodyPr wrap="square" lIns="0" tIns="0" rIns="0" bIns="0" rtlCol="0" anchor="ctr"/>
          <a:lstStyle/>
          <a:p>
            <a:pPr indent="0" marL="0">
              <a:buNone/>
            </a:pPr>
            <a:r>
              <a:rPr lang="en-US" sz="1700" b="1" dirty="0">
                <a:solidFill>
                  <a:srgbClr val="FFFFFF"/>
                </a:solidFill>
              </a:rPr>
              <a:t>Protocolo IAA y CFH-BERT v3 — Ruta crítica hacia el SEM completo</a:t>
            </a:r>
            <a:endParaRPr lang="en-US" sz="1700" dirty="0"/>
          </a:p>
        </p:txBody>
      </p:sp>
      <p:sp>
        <p:nvSpPr>
          <p:cNvPr id="4" name="Shape 2"/>
          <p:cNvSpPr/>
          <p:nvPr/>
        </p:nvSpPr>
        <p:spPr>
          <a:xfrm>
            <a:off x="182880" y="914400"/>
            <a:ext cx="5760720" cy="5486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182880" y="914400"/>
            <a:ext cx="5760720" cy="365760"/>
          </a:xfrm>
          <a:prstGeom prst="rect">
            <a:avLst/>
          </a:prstGeom>
          <a:solidFill>
            <a:srgbClr val="2E75B6"/>
          </a:solidFill>
          <a:ln/>
        </p:spPr>
      </p:sp>
      <p:sp>
        <p:nvSpPr>
          <p:cNvPr id="6" name="Text 4"/>
          <p:cNvSpPr/>
          <p:nvPr/>
        </p:nvSpPr>
        <p:spPr>
          <a:xfrm>
            <a:off x="274320" y="914400"/>
            <a:ext cx="5577840" cy="365760"/>
          </a:xfrm>
          <a:prstGeom prst="rect">
            <a:avLst/>
          </a:prstGeom>
          <a:noFill/>
          <a:ln/>
        </p:spPr>
        <p:txBody>
          <a:bodyPr wrap="square" lIns="0" tIns="0" rIns="0" bIns="0" rtlCol="0" anchor="ctr"/>
          <a:lstStyle/>
          <a:p>
            <a:pPr indent="0" marL="0">
              <a:buNone/>
            </a:pPr>
            <a:r>
              <a:rPr lang="en-US" sz="1200" b="1" dirty="0">
                <a:solidFill>
                  <a:srgbClr val="FFFFFF"/>
                </a:solidFill>
              </a:rPr>
              <a:t>PROTOCOLO IAA — κ de Cohen</a:t>
            </a:r>
            <a:endParaRPr lang="en-US" sz="1200" dirty="0"/>
          </a:p>
        </p:txBody>
      </p:sp>
      <p:sp>
        <p:nvSpPr>
          <p:cNvPr id="7" name="Shape 5"/>
          <p:cNvSpPr/>
          <p:nvPr/>
        </p:nvSpPr>
        <p:spPr>
          <a:xfrm>
            <a:off x="274320" y="1371600"/>
            <a:ext cx="1371600" cy="502920"/>
          </a:xfrm>
          <a:prstGeom prst="rect">
            <a:avLst/>
          </a:prstGeom>
          <a:solidFill>
            <a:srgbClr val="4A90D9"/>
          </a:solidFill>
          <a:ln/>
        </p:spPr>
      </p:sp>
      <p:sp>
        <p:nvSpPr>
          <p:cNvPr id="8" name="Text 6"/>
          <p:cNvSpPr/>
          <p:nvPr/>
        </p:nvSpPr>
        <p:spPr>
          <a:xfrm>
            <a:off x="274320" y="1371600"/>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Taxonomía</a:t>
            </a:r>
            <a:endParaRPr lang="en-US" sz="900" dirty="0"/>
          </a:p>
        </p:txBody>
      </p:sp>
      <p:sp>
        <p:nvSpPr>
          <p:cNvPr id="9" name="Text 7"/>
          <p:cNvSpPr/>
          <p:nvPr/>
        </p:nvSpPr>
        <p:spPr>
          <a:xfrm>
            <a:off x="1737360" y="1389888"/>
            <a:ext cx="4114800" cy="484632"/>
          </a:xfrm>
          <a:prstGeom prst="rect">
            <a:avLst/>
          </a:prstGeom>
          <a:noFill/>
          <a:ln/>
        </p:spPr>
        <p:txBody>
          <a:bodyPr wrap="square" lIns="0" tIns="0" rIns="0" bIns="0" rtlCol="0" anchor="ctr"/>
          <a:lstStyle/>
          <a:p>
            <a:pPr indent="0" marL="0">
              <a:buNone/>
            </a:pPr>
            <a:r>
              <a:rPr lang="en-US" sz="900" dirty="0">
                <a:solidFill>
                  <a:srgbClr val="1A1A2E"/>
                </a:solidFill>
              </a:rPr>
              <a:t>EBI/SA/NV/REP — esquema IO · 4 clases · n=500 fragmentos</a:t>
            </a:r>
            <a:endParaRPr lang="en-US" sz="900" dirty="0"/>
          </a:p>
        </p:txBody>
      </p:sp>
      <p:sp>
        <p:nvSpPr>
          <p:cNvPr id="10" name="Shape 8"/>
          <p:cNvSpPr/>
          <p:nvPr/>
        </p:nvSpPr>
        <p:spPr>
          <a:xfrm>
            <a:off x="274320" y="1984248"/>
            <a:ext cx="1371600" cy="502920"/>
          </a:xfrm>
          <a:prstGeom prst="rect">
            <a:avLst/>
          </a:prstGeom>
          <a:solidFill>
            <a:srgbClr val="4A90D9"/>
          </a:solidFill>
          <a:ln/>
        </p:spPr>
      </p:sp>
      <p:sp>
        <p:nvSpPr>
          <p:cNvPr id="11" name="Text 9"/>
          <p:cNvSpPr/>
          <p:nvPr/>
        </p:nvSpPr>
        <p:spPr>
          <a:xfrm>
            <a:off x="274320" y="1984248"/>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Diseño</a:t>
            </a:r>
            <a:endParaRPr lang="en-US" sz="900" dirty="0"/>
          </a:p>
        </p:txBody>
      </p:sp>
      <p:sp>
        <p:nvSpPr>
          <p:cNvPr id="12" name="Text 10"/>
          <p:cNvSpPr/>
          <p:nvPr/>
        </p:nvSpPr>
        <p:spPr>
          <a:xfrm>
            <a:off x="1737360" y="2002536"/>
            <a:ext cx="4114800" cy="484632"/>
          </a:xfrm>
          <a:prstGeom prst="rect">
            <a:avLst/>
          </a:prstGeom>
          <a:noFill/>
          <a:ln/>
        </p:spPr>
        <p:txBody>
          <a:bodyPr wrap="square" lIns="0" tIns="0" rIns="0" bIns="0" rtlCol="0" anchor="ctr"/>
          <a:lstStyle/>
          <a:p>
            <a:pPr indent="0" marL="0">
              <a:buNone/>
            </a:pPr>
            <a:r>
              <a:rPr lang="en-US" sz="900" dirty="0">
                <a:solidFill>
                  <a:srgbClr val="1A1A2E"/>
                </a:solidFill>
              </a:rPr>
              <a:t>2da anotadora CIEGA (60 frags) → κ real. Anots 2/3 (200 c/u) → dataset</a:t>
            </a:r>
            <a:endParaRPr lang="en-US" sz="900" dirty="0"/>
          </a:p>
        </p:txBody>
      </p:sp>
      <p:sp>
        <p:nvSpPr>
          <p:cNvPr id="13" name="Shape 11"/>
          <p:cNvSpPr/>
          <p:nvPr/>
        </p:nvSpPr>
        <p:spPr>
          <a:xfrm>
            <a:off x="274320" y="2596896"/>
            <a:ext cx="1371600" cy="502920"/>
          </a:xfrm>
          <a:prstGeom prst="rect">
            <a:avLst/>
          </a:prstGeom>
          <a:solidFill>
            <a:srgbClr val="4A90D9"/>
          </a:solidFill>
          <a:ln/>
        </p:spPr>
      </p:sp>
      <p:sp>
        <p:nvSpPr>
          <p:cNvPr id="14" name="Text 12"/>
          <p:cNvSpPr/>
          <p:nvPr/>
        </p:nvSpPr>
        <p:spPr>
          <a:xfrm>
            <a:off x="274320" y="2596896"/>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Fórmula κ</a:t>
            </a:r>
            <a:endParaRPr lang="en-US" sz="900" dirty="0"/>
          </a:p>
        </p:txBody>
      </p:sp>
      <p:sp>
        <p:nvSpPr>
          <p:cNvPr id="15" name="Text 13"/>
          <p:cNvSpPr/>
          <p:nvPr/>
        </p:nvSpPr>
        <p:spPr>
          <a:xfrm>
            <a:off x="1737360" y="2615184"/>
            <a:ext cx="4114800" cy="484632"/>
          </a:xfrm>
          <a:prstGeom prst="rect">
            <a:avLst/>
          </a:prstGeom>
          <a:noFill/>
          <a:ln/>
        </p:spPr>
        <p:txBody>
          <a:bodyPr wrap="square" lIns="0" tIns="0" rIns="0" bIns="0" rtlCol="0" anchor="ctr"/>
          <a:lstStyle/>
          <a:p>
            <a:pPr indent="0" marL="0">
              <a:buNone/>
            </a:pPr>
            <a:r>
              <a:rPr lang="en-US" sz="900" dirty="0">
                <a:solidFill>
                  <a:srgbClr val="1A1A2E"/>
                </a:solidFill>
              </a:rPr>
              <a:t>κ = (P_o − P_e)/(1−P_e)  P_e=acuerdo esperado por azar</a:t>
            </a:r>
            <a:endParaRPr lang="en-US" sz="900" dirty="0"/>
          </a:p>
        </p:txBody>
      </p:sp>
      <p:sp>
        <p:nvSpPr>
          <p:cNvPr id="16" name="Shape 14"/>
          <p:cNvSpPr/>
          <p:nvPr/>
        </p:nvSpPr>
        <p:spPr>
          <a:xfrm>
            <a:off x="274320" y="3209544"/>
            <a:ext cx="1371600" cy="502920"/>
          </a:xfrm>
          <a:prstGeom prst="rect">
            <a:avLst/>
          </a:prstGeom>
          <a:solidFill>
            <a:srgbClr val="4A90D9"/>
          </a:solidFill>
          <a:ln/>
        </p:spPr>
      </p:sp>
      <p:sp>
        <p:nvSpPr>
          <p:cNvPr id="17" name="Text 15"/>
          <p:cNvSpPr/>
          <p:nvPr/>
        </p:nvSpPr>
        <p:spPr>
          <a:xfrm>
            <a:off x="274320" y="3209544"/>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Meta</a:t>
            </a:r>
            <a:endParaRPr lang="en-US" sz="900" dirty="0"/>
          </a:p>
        </p:txBody>
      </p:sp>
      <p:sp>
        <p:nvSpPr>
          <p:cNvPr id="18" name="Text 16"/>
          <p:cNvSpPr/>
          <p:nvPr/>
        </p:nvSpPr>
        <p:spPr>
          <a:xfrm>
            <a:off x="1737360" y="3227832"/>
            <a:ext cx="4114800" cy="484632"/>
          </a:xfrm>
          <a:prstGeom prst="rect">
            <a:avLst/>
          </a:prstGeom>
          <a:noFill/>
          <a:ln/>
        </p:spPr>
        <p:txBody>
          <a:bodyPr wrap="square" lIns="0" tIns="0" rIns="0" bIns="0" rtlCol="0" anchor="ctr"/>
          <a:lstStyle/>
          <a:p>
            <a:pPr indent="0" marL="0">
              <a:buNone/>
            </a:pPr>
            <a:r>
              <a:rPr lang="en-US" sz="900" dirty="0">
                <a:solidFill>
                  <a:srgbClr val="1A1A2E"/>
                </a:solidFill>
              </a:rPr>
              <a:t>κ&gt;0.80 (Landis &amp; Koch 1977) en todas las categorías</a:t>
            </a:r>
            <a:endParaRPr lang="en-US" sz="900" dirty="0"/>
          </a:p>
        </p:txBody>
      </p:sp>
      <p:sp>
        <p:nvSpPr>
          <p:cNvPr id="19" name="Shape 17"/>
          <p:cNvSpPr/>
          <p:nvPr/>
        </p:nvSpPr>
        <p:spPr>
          <a:xfrm>
            <a:off x="274320" y="3822192"/>
            <a:ext cx="1371600" cy="502920"/>
          </a:xfrm>
          <a:prstGeom prst="rect">
            <a:avLst/>
          </a:prstGeom>
          <a:solidFill>
            <a:srgbClr val="4A90D9"/>
          </a:solidFill>
          <a:ln/>
        </p:spPr>
      </p:sp>
      <p:sp>
        <p:nvSpPr>
          <p:cNvPr id="20" name="Text 18"/>
          <p:cNvSpPr/>
          <p:nvPr/>
        </p:nvSpPr>
        <p:spPr>
          <a:xfrm>
            <a:off x="274320" y="3822192"/>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v2 actual</a:t>
            </a:r>
            <a:endParaRPr lang="en-US" sz="900" dirty="0"/>
          </a:p>
        </p:txBody>
      </p:sp>
      <p:sp>
        <p:nvSpPr>
          <p:cNvPr id="21" name="Text 19"/>
          <p:cNvSpPr/>
          <p:nvPr/>
        </p:nvSpPr>
        <p:spPr>
          <a:xfrm>
            <a:off x="1737360" y="3840480"/>
            <a:ext cx="4114800" cy="484632"/>
          </a:xfrm>
          <a:prstGeom prst="rect">
            <a:avLst/>
          </a:prstGeom>
          <a:noFill/>
          <a:ln/>
        </p:spPr>
        <p:txBody>
          <a:bodyPr wrap="square" lIns="0" tIns="0" rIns="0" bIns="0" rtlCol="0" anchor="ctr"/>
          <a:lstStyle/>
          <a:p>
            <a:pPr indent="0" marL="0">
              <a:buNone/>
            </a:pPr>
            <a:r>
              <a:rPr lang="en-US" sz="900" dirty="0">
                <a:solidFill>
                  <a:srgbClr val="1A1A2E"/>
                </a:solidFill>
              </a:rPr>
              <a:t>F1_macro=0.58 (n=100) · F1_NV=0.61 · Loss w_NV=3.5</a:t>
            </a:r>
            <a:endParaRPr lang="en-US" sz="900" dirty="0"/>
          </a:p>
        </p:txBody>
      </p:sp>
      <p:sp>
        <p:nvSpPr>
          <p:cNvPr id="22" name="Shape 20"/>
          <p:cNvSpPr/>
          <p:nvPr/>
        </p:nvSpPr>
        <p:spPr>
          <a:xfrm>
            <a:off x="274320" y="4434840"/>
            <a:ext cx="1371600" cy="502920"/>
          </a:xfrm>
          <a:prstGeom prst="rect">
            <a:avLst/>
          </a:prstGeom>
          <a:solidFill>
            <a:srgbClr val="4A90D9"/>
          </a:solidFill>
          <a:ln/>
        </p:spPr>
      </p:sp>
      <p:sp>
        <p:nvSpPr>
          <p:cNvPr id="23" name="Text 21"/>
          <p:cNvSpPr/>
          <p:nvPr/>
        </p:nvSpPr>
        <p:spPr>
          <a:xfrm>
            <a:off x="274320" y="4434840"/>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v3 esperado</a:t>
            </a:r>
            <a:endParaRPr lang="en-US" sz="900" dirty="0"/>
          </a:p>
        </p:txBody>
      </p:sp>
      <p:sp>
        <p:nvSpPr>
          <p:cNvPr id="24" name="Text 22"/>
          <p:cNvSpPr/>
          <p:nvPr/>
        </p:nvSpPr>
        <p:spPr>
          <a:xfrm>
            <a:off x="1737360" y="4453128"/>
            <a:ext cx="4114800" cy="484632"/>
          </a:xfrm>
          <a:prstGeom prst="rect">
            <a:avLst/>
          </a:prstGeom>
          <a:noFill/>
          <a:ln/>
        </p:spPr>
        <p:txBody>
          <a:bodyPr wrap="square" lIns="0" tIns="0" rIns="0" bIns="0" rtlCol="0" anchor="ctr"/>
          <a:lstStyle/>
          <a:p>
            <a:pPr indent="0" marL="0">
              <a:buNone/>
            </a:pPr>
            <a:r>
              <a:rPr lang="en-US" sz="900" dirty="0">
                <a:solidFill>
                  <a:srgbClr val="1A1A2E"/>
                </a:solidFill>
              </a:rPr>
              <a:t>n=500+ κ&gt;0.80 → F1_macro≥0.80</a:t>
            </a:r>
            <a:endParaRPr lang="en-US" sz="900" dirty="0"/>
          </a:p>
        </p:txBody>
      </p:sp>
      <p:sp>
        <p:nvSpPr>
          <p:cNvPr id="25" name="Shape 23"/>
          <p:cNvSpPr/>
          <p:nvPr/>
        </p:nvSpPr>
        <p:spPr>
          <a:xfrm>
            <a:off x="274320" y="5047488"/>
            <a:ext cx="1371600" cy="502920"/>
          </a:xfrm>
          <a:prstGeom prst="rect">
            <a:avLst/>
          </a:prstGeom>
          <a:solidFill>
            <a:srgbClr val="4A90D9"/>
          </a:solidFill>
          <a:ln/>
        </p:spPr>
      </p:sp>
      <p:sp>
        <p:nvSpPr>
          <p:cNvPr id="26" name="Text 24"/>
          <p:cNvSpPr/>
          <p:nvPr/>
        </p:nvSpPr>
        <p:spPr>
          <a:xfrm>
            <a:off x="274320" y="5047488"/>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Desbloquea</a:t>
            </a:r>
            <a:endParaRPr lang="en-US" sz="900" dirty="0"/>
          </a:p>
        </p:txBody>
      </p:sp>
      <p:sp>
        <p:nvSpPr>
          <p:cNvPr id="27" name="Text 25"/>
          <p:cNvSpPr/>
          <p:nvPr/>
        </p:nvSpPr>
        <p:spPr>
          <a:xfrm>
            <a:off x="1737360" y="5065776"/>
            <a:ext cx="4114800" cy="484632"/>
          </a:xfrm>
          <a:prstGeom prst="rect">
            <a:avLst/>
          </a:prstGeom>
          <a:noFill/>
          <a:ln/>
        </p:spPr>
        <p:txBody>
          <a:bodyPr wrap="square" lIns="0" tIns="0" rIns="0" bIns="0" rtlCol="0" anchor="ctr"/>
          <a:lstStyle/>
          <a:p>
            <a:pPr indent="0" marL="0">
              <a:buNone/>
            </a:pPr>
            <a:r>
              <a:rPr lang="en-US" sz="900" dirty="0">
                <a:solidFill>
                  <a:srgbClr val="1A1A2E"/>
                </a:solidFill>
              </a:rPr>
              <a:t>y₁ EBI (Galtung) · y₇ Surprisal (Habermas) · y₁₁ Conv. Rest. (Fricker)</a:t>
            </a:r>
            <a:endParaRPr lang="en-US" sz="900" dirty="0"/>
          </a:p>
        </p:txBody>
      </p:sp>
      <p:sp>
        <p:nvSpPr>
          <p:cNvPr id="28" name="Shape 26"/>
          <p:cNvSpPr/>
          <p:nvPr/>
        </p:nvSpPr>
        <p:spPr>
          <a:xfrm>
            <a:off x="274320" y="5660136"/>
            <a:ext cx="1371600" cy="502920"/>
          </a:xfrm>
          <a:prstGeom prst="rect">
            <a:avLst/>
          </a:prstGeom>
          <a:solidFill>
            <a:srgbClr val="4A90D9"/>
          </a:solidFill>
          <a:ln/>
        </p:spPr>
      </p:sp>
      <p:sp>
        <p:nvSpPr>
          <p:cNvPr id="29" name="Text 27"/>
          <p:cNvSpPr/>
          <p:nvPr/>
        </p:nvSpPr>
        <p:spPr>
          <a:xfrm>
            <a:off x="274320" y="5660136"/>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Estado</a:t>
            </a:r>
            <a:endParaRPr lang="en-US" sz="900" dirty="0"/>
          </a:p>
        </p:txBody>
      </p:sp>
      <p:sp>
        <p:nvSpPr>
          <p:cNvPr id="30" name="Text 28"/>
          <p:cNvSpPr/>
          <p:nvPr/>
        </p:nvSpPr>
        <p:spPr>
          <a:xfrm>
            <a:off x="1737360" y="5678424"/>
            <a:ext cx="4114800" cy="484632"/>
          </a:xfrm>
          <a:prstGeom prst="rect">
            <a:avLst/>
          </a:prstGeom>
          <a:noFill/>
          <a:ln/>
        </p:spPr>
        <p:txBody>
          <a:bodyPr wrap="square" lIns="0" tIns="0" rIns="0" bIns="0" rtlCol="0" anchor="ctr"/>
          <a:lstStyle/>
          <a:p>
            <a:pPr indent="0" marL="0">
              <a:buNone/>
            </a:pPr>
            <a:r>
              <a:rPr lang="en-US" sz="900" dirty="0">
                <a:solidFill>
                  <a:srgbClr val="1A1A2E"/>
                </a:solidFill>
              </a:rPr>
              <a:t>Excels entregados · 3 anotadores en proceso</a:t>
            </a:r>
            <a:endParaRPr lang="en-US" sz="900" dirty="0"/>
          </a:p>
        </p:txBody>
      </p:sp>
      <p:sp>
        <p:nvSpPr>
          <p:cNvPr id="31" name="Shape 29"/>
          <p:cNvSpPr/>
          <p:nvPr/>
        </p:nvSpPr>
        <p:spPr>
          <a:xfrm>
            <a:off x="6217920" y="914400"/>
            <a:ext cx="5760720" cy="5486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2" name="Shape 30"/>
          <p:cNvSpPr/>
          <p:nvPr/>
        </p:nvSpPr>
        <p:spPr>
          <a:xfrm>
            <a:off x="6217920" y="914400"/>
            <a:ext cx="5760720" cy="365760"/>
          </a:xfrm>
          <a:prstGeom prst="rect">
            <a:avLst/>
          </a:prstGeom>
          <a:solidFill>
            <a:srgbClr val="1F4E79"/>
          </a:solidFill>
          <a:ln/>
        </p:spPr>
      </p:sp>
      <p:sp>
        <p:nvSpPr>
          <p:cNvPr id="33" name="Text 31"/>
          <p:cNvSpPr/>
          <p:nvPr/>
        </p:nvSpPr>
        <p:spPr>
          <a:xfrm>
            <a:off x="6309360" y="914400"/>
            <a:ext cx="5577840" cy="365760"/>
          </a:xfrm>
          <a:prstGeom prst="rect">
            <a:avLst/>
          </a:prstGeom>
          <a:noFill/>
          <a:ln/>
        </p:spPr>
        <p:txBody>
          <a:bodyPr wrap="square" lIns="0" tIns="0" rIns="0" bIns="0" rtlCol="0" anchor="ctr"/>
          <a:lstStyle/>
          <a:p>
            <a:pPr indent="0" marL="0">
              <a:buNone/>
            </a:pPr>
            <a:r>
              <a:rPr lang="en-US" sz="1200" b="1" dirty="0">
                <a:solidFill>
                  <a:srgbClr val="FFFFFF"/>
                </a:solidFill>
              </a:rPr>
              <a:t>CFH-BERT v2→v3 · Fine-tuning ConfliBERT-Spanish</a:t>
            </a:r>
            <a:endParaRPr lang="en-US" sz="1200" dirty="0"/>
          </a:p>
        </p:txBody>
      </p:sp>
      <p:sp>
        <p:nvSpPr>
          <p:cNvPr id="34" name="Shape 32"/>
          <p:cNvSpPr/>
          <p:nvPr/>
        </p:nvSpPr>
        <p:spPr>
          <a:xfrm>
            <a:off x="6309360" y="1371600"/>
            <a:ext cx="1371600" cy="502920"/>
          </a:xfrm>
          <a:prstGeom prst="rect">
            <a:avLst/>
          </a:prstGeom>
          <a:solidFill>
            <a:srgbClr val="1F4E79"/>
          </a:solidFill>
          <a:ln/>
        </p:spPr>
      </p:sp>
      <p:sp>
        <p:nvSpPr>
          <p:cNvPr id="35" name="Text 33"/>
          <p:cNvSpPr/>
          <p:nvPr/>
        </p:nvSpPr>
        <p:spPr>
          <a:xfrm>
            <a:off x="6309360" y="1371600"/>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Base</a:t>
            </a:r>
            <a:endParaRPr lang="en-US" sz="900" dirty="0"/>
          </a:p>
        </p:txBody>
      </p:sp>
      <p:sp>
        <p:nvSpPr>
          <p:cNvPr id="36" name="Text 34"/>
          <p:cNvSpPr/>
          <p:nvPr/>
        </p:nvSpPr>
        <p:spPr>
          <a:xfrm>
            <a:off x="7772400" y="1389888"/>
            <a:ext cx="4114800" cy="484632"/>
          </a:xfrm>
          <a:prstGeom prst="rect">
            <a:avLst/>
          </a:prstGeom>
          <a:noFill/>
          <a:ln/>
        </p:spPr>
        <p:txBody>
          <a:bodyPr wrap="square" lIns="0" tIns="0" rIns="0" bIns="0" rtlCol="0" anchor="ctr"/>
          <a:lstStyle/>
          <a:p>
            <a:pPr indent="0" marL="0">
              <a:buNone/>
            </a:pPr>
            <a:r>
              <a:rPr lang="en-US" sz="900" dirty="0">
                <a:solidFill>
                  <a:srgbClr val="1A1A2E"/>
                </a:solidFill>
              </a:rPr>
              <a:t>ConfliBERT-Spanish-Beto-Cased-v1 (Yang 2023) — conflicto político latinoamericano</a:t>
            </a:r>
            <a:endParaRPr lang="en-US" sz="900" dirty="0"/>
          </a:p>
        </p:txBody>
      </p:sp>
      <p:sp>
        <p:nvSpPr>
          <p:cNvPr id="37" name="Shape 35"/>
          <p:cNvSpPr/>
          <p:nvPr/>
        </p:nvSpPr>
        <p:spPr>
          <a:xfrm>
            <a:off x="6309360" y="1984248"/>
            <a:ext cx="1371600" cy="502920"/>
          </a:xfrm>
          <a:prstGeom prst="rect">
            <a:avLst/>
          </a:prstGeom>
          <a:solidFill>
            <a:srgbClr val="1F4E79"/>
          </a:solidFill>
          <a:ln/>
        </p:spPr>
      </p:sp>
      <p:sp>
        <p:nvSpPr>
          <p:cNvPr id="38" name="Text 36"/>
          <p:cNvSpPr/>
          <p:nvPr/>
        </p:nvSpPr>
        <p:spPr>
          <a:xfrm>
            <a:off x="6309360" y="1984248"/>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Arquitectura</a:t>
            </a:r>
            <a:endParaRPr lang="en-US" sz="900" dirty="0"/>
          </a:p>
        </p:txBody>
      </p:sp>
      <p:sp>
        <p:nvSpPr>
          <p:cNvPr id="39" name="Text 37"/>
          <p:cNvSpPr/>
          <p:nvPr/>
        </p:nvSpPr>
        <p:spPr>
          <a:xfrm>
            <a:off x="7772400" y="2002536"/>
            <a:ext cx="4114800" cy="484632"/>
          </a:xfrm>
          <a:prstGeom prst="rect">
            <a:avLst/>
          </a:prstGeom>
          <a:noFill/>
          <a:ln/>
        </p:spPr>
        <p:txBody>
          <a:bodyPr wrap="square" lIns="0" tIns="0" rIns="0" bIns="0" rtlCol="0" anchor="ctr"/>
          <a:lstStyle/>
          <a:p>
            <a:pPr indent="0" marL="0">
              <a:buNone/>
            </a:pPr>
            <a:r>
              <a:rPr lang="en-US" sz="900" dirty="0">
                <a:solidFill>
                  <a:srgbClr val="1A1A2E"/>
                </a:solidFill>
              </a:rPr>
              <a:t>Encoder BERT + cabeza IO multiclass (EBI/SA/NV/REP)</a:t>
            </a:r>
            <a:endParaRPr lang="en-US" sz="900" dirty="0"/>
          </a:p>
        </p:txBody>
      </p:sp>
      <p:sp>
        <p:nvSpPr>
          <p:cNvPr id="40" name="Shape 38"/>
          <p:cNvSpPr/>
          <p:nvPr/>
        </p:nvSpPr>
        <p:spPr>
          <a:xfrm>
            <a:off x="6309360" y="2596896"/>
            <a:ext cx="1371600" cy="502920"/>
          </a:xfrm>
          <a:prstGeom prst="rect">
            <a:avLst/>
          </a:prstGeom>
          <a:solidFill>
            <a:srgbClr val="1F4E79"/>
          </a:solidFill>
          <a:ln/>
        </p:spPr>
      </p:sp>
      <p:sp>
        <p:nvSpPr>
          <p:cNvPr id="41" name="Text 39"/>
          <p:cNvSpPr/>
          <p:nvPr/>
        </p:nvSpPr>
        <p:spPr>
          <a:xfrm>
            <a:off x="6309360" y="2596896"/>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Loss</a:t>
            </a:r>
            <a:endParaRPr lang="en-US" sz="900" dirty="0"/>
          </a:p>
        </p:txBody>
      </p:sp>
      <p:sp>
        <p:nvSpPr>
          <p:cNvPr id="42" name="Text 40"/>
          <p:cNvSpPr/>
          <p:nvPr/>
        </p:nvSpPr>
        <p:spPr>
          <a:xfrm>
            <a:off x="7772400" y="2615184"/>
            <a:ext cx="4114800" cy="484632"/>
          </a:xfrm>
          <a:prstGeom prst="rect">
            <a:avLst/>
          </a:prstGeom>
          <a:noFill/>
          <a:ln/>
        </p:spPr>
        <p:txBody>
          <a:bodyPr wrap="square" lIns="0" tIns="0" rIns="0" bIns="0" rtlCol="0" anchor="ctr"/>
          <a:lstStyle/>
          <a:p>
            <a:pPr indent="0" marL="0">
              <a:buNone/>
            </a:pPr>
            <a:r>
              <a:rPr lang="en-US" sz="900" dirty="0">
                <a:solidFill>
                  <a:srgbClr val="1A1A2E"/>
                </a:solidFill>
              </a:rPr>
              <a:t>Weighted CE: w_EBI=1.8, w_SA=1.2, w_NV=3.5, w_REP=2.1</a:t>
            </a:r>
            <a:endParaRPr lang="en-US" sz="900" dirty="0"/>
          </a:p>
        </p:txBody>
      </p:sp>
      <p:sp>
        <p:nvSpPr>
          <p:cNvPr id="43" name="Shape 41"/>
          <p:cNvSpPr/>
          <p:nvPr/>
        </p:nvSpPr>
        <p:spPr>
          <a:xfrm>
            <a:off x="6309360" y="3209544"/>
            <a:ext cx="1371600" cy="502920"/>
          </a:xfrm>
          <a:prstGeom prst="rect">
            <a:avLst/>
          </a:prstGeom>
          <a:solidFill>
            <a:srgbClr val="1F4E79"/>
          </a:solidFill>
          <a:ln/>
        </p:spPr>
      </p:sp>
      <p:sp>
        <p:nvSpPr>
          <p:cNvPr id="44" name="Text 42"/>
          <p:cNvSpPr/>
          <p:nvPr/>
        </p:nvSpPr>
        <p:spPr>
          <a:xfrm>
            <a:off x="6309360" y="3209544"/>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Config</a:t>
            </a:r>
            <a:endParaRPr lang="en-US" sz="900" dirty="0"/>
          </a:p>
        </p:txBody>
      </p:sp>
      <p:sp>
        <p:nvSpPr>
          <p:cNvPr id="45" name="Text 43"/>
          <p:cNvSpPr/>
          <p:nvPr/>
        </p:nvSpPr>
        <p:spPr>
          <a:xfrm>
            <a:off x="7772400" y="3227832"/>
            <a:ext cx="4114800" cy="484632"/>
          </a:xfrm>
          <a:prstGeom prst="rect">
            <a:avLst/>
          </a:prstGeom>
          <a:noFill/>
          <a:ln/>
        </p:spPr>
        <p:txBody>
          <a:bodyPr wrap="square" lIns="0" tIns="0" rIns="0" bIns="0" rtlCol="0" anchor="ctr"/>
          <a:lstStyle/>
          <a:p>
            <a:pPr indent="0" marL="0">
              <a:buNone/>
            </a:pPr>
            <a:r>
              <a:rPr lang="en-US" sz="900" dirty="0">
                <a:solidFill>
                  <a:srgbClr val="1A1A2E"/>
                </a:solidFill>
              </a:rPr>
              <a:t>AdamW lr=2e-5 · batch=8 · max_len=512 · epochs=100</a:t>
            </a:r>
            <a:endParaRPr lang="en-US" sz="900" dirty="0"/>
          </a:p>
        </p:txBody>
      </p:sp>
      <p:sp>
        <p:nvSpPr>
          <p:cNvPr id="46" name="Shape 44"/>
          <p:cNvSpPr/>
          <p:nvPr/>
        </p:nvSpPr>
        <p:spPr>
          <a:xfrm>
            <a:off x="6309360" y="3822192"/>
            <a:ext cx="1371600" cy="502920"/>
          </a:xfrm>
          <a:prstGeom prst="rect">
            <a:avLst/>
          </a:prstGeom>
          <a:solidFill>
            <a:srgbClr val="1F4E79"/>
          </a:solidFill>
          <a:ln/>
        </p:spPr>
      </p:sp>
      <p:sp>
        <p:nvSpPr>
          <p:cNvPr id="47" name="Text 45"/>
          <p:cNvSpPr/>
          <p:nvPr/>
        </p:nvSpPr>
        <p:spPr>
          <a:xfrm>
            <a:off x="6309360" y="3822192"/>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v2→v3</a:t>
            </a:r>
            <a:endParaRPr lang="en-US" sz="900" dirty="0"/>
          </a:p>
        </p:txBody>
      </p:sp>
      <p:sp>
        <p:nvSpPr>
          <p:cNvPr id="48" name="Text 46"/>
          <p:cNvSpPr/>
          <p:nvPr/>
        </p:nvSpPr>
        <p:spPr>
          <a:xfrm>
            <a:off x="7772400" y="3840480"/>
            <a:ext cx="4114800" cy="484632"/>
          </a:xfrm>
          <a:prstGeom prst="rect">
            <a:avLst/>
          </a:prstGeom>
          <a:noFill/>
          <a:ln/>
        </p:spPr>
        <p:txBody>
          <a:bodyPr wrap="square" lIns="0" tIns="0" rIns="0" bIns="0" rtlCol="0" anchor="ctr"/>
          <a:lstStyle/>
          <a:p>
            <a:pPr indent="0" marL="0">
              <a:buNone/>
            </a:pPr>
            <a:r>
              <a:rPr lang="en-US" sz="900" dirty="0">
                <a:solidFill>
                  <a:srgbClr val="1A1A2E"/>
                </a:solidFill>
              </a:rPr>
              <a:t>n=100 F1=0.58 → n=500+ κ&gt;0.80 → F1≥0.80 esperado</a:t>
            </a:r>
            <a:endParaRPr lang="en-US" sz="900" dirty="0"/>
          </a:p>
        </p:txBody>
      </p:sp>
      <p:sp>
        <p:nvSpPr>
          <p:cNvPr id="49" name="Shape 47"/>
          <p:cNvSpPr/>
          <p:nvPr/>
        </p:nvSpPr>
        <p:spPr>
          <a:xfrm>
            <a:off x="6309360" y="4434840"/>
            <a:ext cx="1371600" cy="502920"/>
          </a:xfrm>
          <a:prstGeom prst="rect">
            <a:avLst/>
          </a:prstGeom>
          <a:solidFill>
            <a:srgbClr val="1F4E79"/>
          </a:solidFill>
          <a:ln/>
        </p:spPr>
      </p:sp>
      <p:sp>
        <p:nvSpPr>
          <p:cNvPr id="50" name="Text 48"/>
          <p:cNvSpPr/>
          <p:nvPr/>
        </p:nvSpPr>
        <p:spPr>
          <a:xfrm>
            <a:off x="6309360" y="4434840"/>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Por qué BERT</a:t>
            </a:r>
            <a:endParaRPr lang="en-US" sz="900" dirty="0"/>
          </a:p>
        </p:txBody>
      </p:sp>
      <p:sp>
        <p:nvSpPr>
          <p:cNvPr id="51" name="Text 49"/>
          <p:cNvSpPr/>
          <p:nvPr/>
        </p:nvSpPr>
        <p:spPr>
          <a:xfrm>
            <a:off x="7772400" y="4453128"/>
            <a:ext cx="4114800" cy="484632"/>
          </a:xfrm>
          <a:prstGeom prst="rect">
            <a:avLst/>
          </a:prstGeom>
          <a:noFill/>
          <a:ln/>
        </p:spPr>
        <p:txBody>
          <a:bodyPr wrap="square" lIns="0" tIns="0" rIns="0" bIns="0" rtlCol="0" anchor="ctr"/>
          <a:lstStyle/>
          <a:p>
            <a:pPr indent="0" marL="0">
              <a:buNone/>
            </a:pPr>
            <a:r>
              <a:rPr lang="en-US" sz="900" dirty="0">
                <a:solidFill>
                  <a:srgbClr val="1A1A2E"/>
                </a:solidFill>
              </a:rPr>
              <a:t>Auditabilidad: log-P(t|ctx) examiables en análisis forense</a:t>
            </a:r>
            <a:endParaRPr lang="en-US" sz="900" dirty="0"/>
          </a:p>
        </p:txBody>
      </p:sp>
      <p:sp>
        <p:nvSpPr>
          <p:cNvPr id="52" name="Shape 50"/>
          <p:cNvSpPr/>
          <p:nvPr/>
        </p:nvSpPr>
        <p:spPr>
          <a:xfrm>
            <a:off x="6309360" y="5047488"/>
            <a:ext cx="1371600" cy="502920"/>
          </a:xfrm>
          <a:prstGeom prst="rect">
            <a:avLst/>
          </a:prstGeom>
          <a:solidFill>
            <a:srgbClr val="1F4E79"/>
          </a:solidFill>
          <a:ln/>
        </p:spPr>
      </p:sp>
      <p:sp>
        <p:nvSpPr>
          <p:cNvPr id="53" name="Text 51"/>
          <p:cNvSpPr/>
          <p:nvPr/>
        </p:nvSpPr>
        <p:spPr>
          <a:xfrm>
            <a:off x="6309360" y="5047488"/>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Desbloquea</a:t>
            </a:r>
            <a:endParaRPr lang="en-US" sz="900" dirty="0"/>
          </a:p>
        </p:txBody>
      </p:sp>
      <p:sp>
        <p:nvSpPr>
          <p:cNvPr id="54" name="Text 52"/>
          <p:cNvSpPr/>
          <p:nvPr/>
        </p:nvSpPr>
        <p:spPr>
          <a:xfrm>
            <a:off x="7772400" y="5065776"/>
            <a:ext cx="4114800" cy="484632"/>
          </a:xfrm>
          <a:prstGeom prst="rect">
            <a:avLst/>
          </a:prstGeom>
          <a:noFill/>
          <a:ln/>
        </p:spPr>
        <p:txBody>
          <a:bodyPr wrap="square" lIns="0" tIns="0" rIns="0" bIns="0" rtlCol="0" anchor="ctr"/>
          <a:lstStyle/>
          <a:p>
            <a:pPr indent="0" marL="0">
              <a:buNone/>
            </a:pPr>
            <a:r>
              <a:rPr lang="en-US" sz="900" dirty="0">
                <a:solidFill>
                  <a:srgbClr val="1A1A2E"/>
                </a:solidFill>
              </a:rPr>
              <a:t>y₁+y₇+y₁₁ → SEM completo → β₂₃, CFI, RMSEA, bootstrap</a:t>
            </a:r>
            <a:endParaRPr lang="en-US" sz="900" dirty="0"/>
          </a:p>
        </p:txBody>
      </p:sp>
      <p:sp>
        <p:nvSpPr>
          <p:cNvPr id="55" name="Shape 53"/>
          <p:cNvSpPr/>
          <p:nvPr/>
        </p:nvSpPr>
        <p:spPr>
          <a:xfrm>
            <a:off x="6309360" y="5660136"/>
            <a:ext cx="1371600" cy="502920"/>
          </a:xfrm>
          <a:prstGeom prst="rect">
            <a:avLst/>
          </a:prstGeom>
          <a:solidFill>
            <a:srgbClr val="1F4E79"/>
          </a:solidFill>
          <a:ln/>
        </p:spPr>
      </p:sp>
      <p:sp>
        <p:nvSpPr>
          <p:cNvPr id="56" name="Text 54"/>
          <p:cNvSpPr/>
          <p:nvPr/>
        </p:nvSpPr>
        <p:spPr>
          <a:xfrm>
            <a:off x="6309360" y="5660136"/>
            <a:ext cx="1371600" cy="502920"/>
          </a:xfrm>
          <a:prstGeom prst="rect">
            <a:avLst/>
          </a:prstGeom>
          <a:noFill/>
          <a:ln/>
        </p:spPr>
        <p:txBody>
          <a:bodyPr wrap="square" lIns="0" tIns="0" rIns="0" bIns="0" rtlCol="0" anchor="ctr"/>
          <a:lstStyle/>
          <a:p>
            <a:pPr algn="ctr" indent="0" marL="0">
              <a:buNone/>
            </a:pPr>
            <a:r>
              <a:rPr lang="en-US" sz="900" b="1" dirty="0">
                <a:solidFill>
                  <a:srgbClr val="FFFFFF"/>
                </a:solidFill>
              </a:rPr>
              <a:t>Futuro H4</a:t>
            </a:r>
            <a:endParaRPr lang="en-US" sz="900" dirty="0"/>
          </a:p>
        </p:txBody>
      </p:sp>
      <p:sp>
        <p:nvSpPr>
          <p:cNvPr id="57" name="Text 55"/>
          <p:cNvSpPr/>
          <p:nvPr/>
        </p:nvSpPr>
        <p:spPr>
          <a:xfrm>
            <a:off x="7772400" y="5678424"/>
            <a:ext cx="4114800" cy="484632"/>
          </a:xfrm>
          <a:prstGeom prst="rect">
            <a:avLst/>
          </a:prstGeom>
          <a:noFill/>
          <a:ln/>
        </p:spPr>
        <p:txBody>
          <a:bodyPr wrap="square" lIns="0" tIns="0" rIns="0" bIns="0" rtlCol="0" anchor="ctr"/>
          <a:lstStyle/>
          <a:p>
            <a:pPr indent="0" marL="0">
              <a:buNone/>
            </a:pPr>
            <a:r>
              <a:rPr lang="en-US" sz="900" dirty="0">
                <a:solidFill>
                  <a:srgbClr val="1A1A2E"/>
                </a:solidFill>
              </a:rPr>
              <a:t>Domain adaptation: MLM sobre HumSet+OHCHR antes del fine-tuning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4E79"/>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9A227"/>
          </a:solidFill>
          <a:ln/>
        </p:spPr>
      </p:sp>
      <p:sp>
        <p:nvSpPr>
          <p:cNvPr id="3" name="Text 1"/>
          <p:cNvSpPr/>
          <p:nvPr/>
        </p:nvSpPr>
        <p:spPr>
          <a:xfrm>
            <a:off x="594360" y="137160"/>
            <a:ext cx="11338560" cy="502920"/>
          </a:xfrm>
          <a:prstGeom prst="rect">
            <a:avLst/>
          </a:prstGeom>
          <a:noFill/>
          <a:ln/>
        </p:spPr>
        <p:txBody>
          <a:bodyPr wrap="square" lIns="0" tIns="0" rIns="0" bIns="0" rtlCol="0" anchor="ctr"/>
          <a:lstStyle/>
          <a:p>
            <a:pPr indent="0" marL="0">
              <a:buNone/>
            </a:pPr>
            <a:r>
              <a:rPr lang="en-US" sz="1800" b="1" dirty="0">
                <a:solidFill>
                  <a:srgbClr val="FFFFFF"/>
                </a:solidFill>
              </a:rPr>
              <a:t>Estado · Pendientes · Ruta crítica agosto 2026</a:t>
            </a:r>
            <a:endParaRPr lang="en-US" sz="1800" dirty="0"/>
          </a:p>
        </p:txBody>
      </p:sp>
      <p:sp>
        <p:nvSpPr>
          <p:cNvPr id="4" name="Shape 2"/>
          <p:cNvSpPr/>
          <p:nvPr/>
        </p:nvSpPr>
        <p:spPr>
          <a:xfrm>
            <a:off x="594360" y="777240"/>
            <a:ext cx="11338560" cy="320040"/>
          </a:xfrm>
          <a:prstGeom prst="rect">
            <a:avLst/>
          </a:prstGeom>
          <a:solidFill>
            <a:srgbClr val="2A3A5A"/>
          </a:solidFill>
          <a:ln/>
        </p:spPr>
      </p:sp>
      <p:sp>
        <p:nvSpPr>
          <p:cNvPr id="5" name="Text 3"/>
          <p:cNvSpPr/>
          <p:nvPr/>
        </p:nvSpPr>
        <p:spPr>
          <a:xfrm>
            <a:off x="685800" y="777240"/>
            <a:ext cx="11155680" cy="320040"/>
          </a:xfrm>
          <a:prstGeom prst="rect">
            <a:avLst/>
          </a:prstGeom>
          <a:noFill/>
          <a:ln/>
        </p:spPr>
        <p:txBody>
          <a:bodyPr wrap="square" lIns="0" tIns="0" rIns="0" bIns="0" rtlCol="0" anchor="ctr"/>
          <a:lstStyle/>
          <a:p>
            <a:pPr indent="0" marL="0">
              <a:buNone/>
            </a:pPr>
            <a:r>
              <a:rPr lang="en-US" sz="1100" b="1" dirty="0">
                <a:solidFill>
                  <a:srgbClr val="217346"/>
                </a:solidFill>
              </a:rPr>
              <a:t>COMPLETADO ✅</a:t>
            </a:r>
            <a:endParaRPr lang="en-US" sz="1100" dirty="0"/>
          </a:p>
        </p:txBody>
      </p:sp>
      <p:sp>
        <p:nvSpPr>
          <p:cNvPr id="6" name="Shape 4"/>
          <p:cNvSpPr/>
          <p:nvPr/>
        </p:nvSpPr>
        <p:spPr>
          <a:xfrm>
            <a:off x="685800" y="1124712"/>
            <a:ext cx="146304" cy="146304"/>
          </a:xfrm>
          <a:prstGeom prst="rect">
            <a:avLst/>
          </a:prstGeom>
          <a:solidFill>
            <a:srgbClr val="217346"/>
          </a:solidFill>
          <a:ln/>
        </p:spPr>
      </p:sp>
      <p:sp>
        <p:nvSpPr>
          <p:cNvPr id="7" name="Text 5"/>
          <p:cNvSpPr/>
          <p:nvPr/>
        </p:nvSpPr>
        <p:spPr>
          <a:xfrm>
            <a:off x="914400" y="1124712"/>
            <a:ext cx="11064240" cy="347472"/>
          </a:xfrm>
          <a:prstGeom prst="rect">
            <a:avLst/>
          </a:prstGeom>
          <a:noFill/>
          <a:ln/>
        </p:spPr>
        <p:txBody>
          <a:bodyPr wrap="square" lIns="0" tIns="0" rIns="0" bIns="0" rtlCol="0" anchor="ctr"/>
          <a:lstStyle/>
          <a:p>
            <a:pPr indent="0" marL="0">
              <a:buNone/>
            </a:pPr>
            <a:r>
              <a:rPr lang="en-US" sz="1000" dirty="0">
                <a:solidFill>
                  <a:srgbClr val="FFFFFF"/>
                </a:solidFill>
              </a:rPr>
              <a:t>Corpus A+B+C procesados · y₂-y₄, y₈-y₁₀ calculados (Habermas+Galtung+Fricker+Fraser operacionalizados)</a:t>
            </a:r>
            <a:endParaRPr lang="en-US" sz="1000" dirty="0"/>
          </a:p>
        </p:txBody>
      </p:sp>
      <p:sp>
        <p:nvSpPr>
          <p:cNvPr id="8" name="Shape 6"/>
          <p:cNvSpPr/>
          <p:nvPr/>
        </p:nvSpPr>
        <p:spPr>
          <a:xfrm>
            <a:off x="685800" y="1490472"/>
            <a:ext cx="146304" cy="146304"/>
          </a:xfrm>
          <a:prstGeom prst="rect">
            <a:avLst/>
          </a:prstGeom>
          <a:solidFill>
            <a:srgbClr val="217346"/>
          </a:solidFill>
          <a:ln/>
        </p:spPr>
      </p:sp>
      <p:sp>
        <p:nvSpPr>
          <p:cNvPr id="9" name="Text 7"/>
          <p:cNvSpPr/>
          <p:nvPr/>
        </p:nvSpPr>
        <p:spPr>
          <a:xfrm>
            <a:off x="914400" y="1490472"/>
            <a:ext cx="11064240" cy="347472"/>
          </a:xfrm>
          <a:prstGeom prst="rect">
            <a:avLst/>
          </a:prstGeom>
          <a:noFill/>
          <a:ln/>
        </p:spPr>
        <p:txBody>
          <a:bodyPr wrap="square" lIns="0" tIns="0" rIns="0" bIns="0" rtlCol="0" anchor="ctr"/>
          <a:lstStyle/>
          <a:p>
            <a:pPr indent="0" marL="0">
              <a:buNone/>
            </a:pPr>
            <a:r>
              <a:rPr lang="en-US" sz="1000" dirty="0">
                <a:solidFill>
                  <a:srgbClr val="FFFFFF"/>
                </a:solidFill>
              </a:rPr>
              <a:t>DIS/IEI Corpus C definitivos (Tabla 5.14) · Costa Caribe v2 (129 bloques, 30/05/2026)</a:t>
            </a:r>
            <a:endParaRPr lang="en-US" sz="1000" dirty="0"/>
          </a:p>
        </p:txBody>
      </p:sp>
      <p:sp>
        <p:nvSpPr>
          <p:cNvPr id="10" name="Shape 8"/>
          <p:cNvSpPr/>
          <p:nvPr/>
        </p:nvSpPr>
        <p:spPr>
          <a:xfrm>
            <a:off x="685800" y="1856232"/>
            <a:ext cx="146304" cy="146304"/>
          </a:xfrm>
          <a:prstGeom prst="rect">
            <a:avLst/>
          </a:prstGeom>
          <a:solidFill>
            <a:srgbClr val="217346"/>
          </a:solidFill>
          <a:ln/>
        </p:spPr>
      </p:sp>
      <p:sp>
        <p:nvSpPr>
          <p:cNvPr id="11" name="Text 9"/>
          <p:cNvSpPr/>
          <p:nvPr/>
        </p:nvSpPr>
        <p:spPr>
          <a:xfrm>
            <a:off x="914400" y="1856232"/>
            <a:ext cx="11064240" cy="347472"/>
          </a:xfrm>
          <a:prstGeom prst="rect">
            <a:avLst/>
          </a:prstGeom>
          <a:noFill/>
          <a:ln/>
        </p:spPr>
        <p:txBody>
          <a:bodyPr wrap="square" lIns="0" tIns="0" rIns="0" bIns="0" rtlCol="0" anchor="ctr"/>
          <a:lstStyle/>
          <a:p>
            <a:pPr indent="0" marL="0">
              <a:buNone/>
            </a:pPr>
            <a:r>
              <a:rPr lang="en-US" sz="1000" dirty="0">
                <a:solidFill>
                  <a:srgbClr val="FFFFFF"/>
                </a:solidFill>
              </a:rPr>
              <a:t>Diarización Costa Caribe completa (10.46h, 5,717 seg, 01/06/2026) · Protocolo IAA entregado</a:t>
            </a:r>
            <a:endParaRPr lang="en-US" sz="1000" dirty="0"/>
          </a:p>
        </p:txBody>
      </p:sp>
      <p:sp>
        <p:nvSpPr>
          <p:cNvPr id="12" name="Shape 10"/>
          <p:cNvSpPr/>
          <p:nvPr/>
        </p:nvSpPr>
        <p:spPr>
          <a:xfrm>
            <a:off x="594360" y="2331720"/>
            <a:ext cx="11338560" cy="320040"/>
          </a:xfrm>
          <a:prstGeom prst="rect">
            <a:avLst/>
          </a:prstGeom>
          <a:solidFill>
            <a:srgbClr val="2A3A5A"/>
          </a:solidFill>
          <a:ln/>
        </p:spPr>
      </p:sp>
      <p:sp>
        <p:nvSpPr>
          <p:cNvPr id="13" name="Text 11"/>
          <p:cNvSpPr/>
          <p:nvPr/>
        </p:nvSpPr>
        <p:spPr>
          <a:xfrm>
            <a:off x="685800" y="2331720"/>
            <a:ext cx="11155680" cy="320040"/>
          </a:xfrm>
          <a:prstGeom prst="rect">
            <a:avLst/>
          </a:prstGeom>
          <a:noFill/>
          <a:ln/>
        </p:spPr>
        <p:txBody>
          <a:bodyPr wrap="square" lIns="0" tIns="0" rIns="0" bIns="0" rtlCol="0" anchor="ctr"/>
          <a:lstStyle/>
          <a:p>
            <a:pPr indent="0" marL="0">
              <a:buNone/>
            </a:pPr>
            <a:r>
              <a:rPr lang="en-US" sz="1100" b="1" dirty="0">
                <a:solidFill>
                  <a:srgbClr val="F0C040"/>
                </a:solidFill>
              </a:rPr>
              <a:t>EN PROCESO ⏳</a:t>
            </a:r>
            <a:endParaRPr lang="en-US" sz="1100" dirty="0"/>
          </a:p>
        </p:txBody>
      </p:sp>
      <p:sp>
        <p:nvSpPr>
          <p:cNvPr id="14" name="Shape 12"/>
          <p:cNvSpPr/>
          <p:nvPr/>
        </p:nvSpPr>
        <p:spPr>
          <a:xfrm>
            <a:off x="685800" y="2679192"/>
            <a:ext cx="146304" cy="146304"/>
          </a:xfrm>
          <a:prstGeom prst="rect">
            <a:avLst/>
          </a:prstGeom>
          <a:solidFill>
            <a:srgbClr val="F0C040"/>
          </a:solidFill>
          <a:ln/>
        </p:spPr>
      </p:sp>
      <p:sp>
        <p:nvSpPr>
          <p:cNvPr id="15" name="Text 13"/>
          <p:cNvSpPr/>
          <p:nvPr/>
        </p:nvSpPr>
        <p:spPr>
          <a:xfrm>
            <a:off x="914400" y="2679192"/>
            <a:ext cx="11064240" cy="347472"/>
          </a:xfrm>
          <a:prstGeom prst="rect">
            <a:avLst/>
          </a:prstGeom>
          <a:noFill/>
          <a:ln/>
        </p:spPr>
        <p:txBody>
          <a:bodyPr wrap="square" lIns="0" tIns="0" rIns="0" bIns="0" rtlCol="0" anchor="ctr"/>
          <a:lstStyle/>
          <a:p>
            <a:pPr indent="0" marL="0">
              <a:buNone/>
            </a:pPr>
            <a:r>
              <a:rPr lang="en-US" sz="1000" dirty="0">
                <a:solidFill>
                  <a:srgbClr val="FFFFFF"/>
                </a:solidFill>
              </a:rPr>
              <a:t>IAA: 3 anotadores con Excels generados (segunda anotadora CIEGA, anots 2/3 nuevos)</a:t>
            </a:r>
            <a:endParaRPr lang="en-US" sz="1000" dirty="0"/>
          </a:p>
        </p:txBody>
      </p:sp>
      <p:sp>
        <p:nvSpPr>
          <p:cNvPr id="16" name="Shape 14"/>
          <p:cNvSpPr/>
          <p:nvPr/>
        </p:nvSpPr>
        <p:spPr>
          <a:xfrm>
            <a:off x="685800" y="3044952"/>
            <a:ext cx="146304" cy="146304"/>
          </a:xfrm>
          <a:prstGeom prst="rect">
            <a:avLst/>
          </a:prstGeom>
          <a:solidFill>
            <a:srgbClr val="F0C040"/>
          </a:solidFill>
          <a:ln/>
        </p:spPr>
      </p:sp>
      <p:sp>
        <p:nvSpPr>
          <p:cNvPr id="17" name="Text 15"/>
          <p:cNvSpPr/>
          <p:nvPr/>
        </p:nvSpPr>
        <p:spPr>
          <a:xfrm>
            <a:off x="914400" y="3044952"/>
            <a:ext cx="11064240" cy="347472"/>
          </a:xfrm>
          <a:prstGeom prst="rect">
            <a:avLst/>
          </a:prstGeom>
          <a:noFill/>
          <a:ln/>
        </p:spPr>
        <p:txBody>
          <a:bodyPr wrap="square" lIns="0" tIns="0" rIns="0" bIns="0" rtlCol="0" anchor="ctr"/>
          <a:lstStyle/>
          <a:p>
            <a:pPr indent="0" marL="0">
              <a:buNone/>
            </a:pPr>
            <a:r>
              <a:rPr lang="en-US" sz="1000" dirty="0">
                <a:solidFill>
                  <a:srgbClr val="FFFFFF"/>
                </a:solidFill>
              </a:rPr>
              <a:t>ICM Costa Caribe: extraer eGeMAPS+AUs sobre segmentos compareciente (diarización lista)</a:t>
            </a:r>
            <a:endParaRPr lang="en-US" sz="1000" dirty="0"/>
          </a:p>
        </p:txBody>
      </p:sp>
      <p:sp>
        <p:nvSpPr>
          <p:cNvPr id="18" name="Shape 16"/>
          <p:cNvSpPr/>
          <p:nvPr/>
        </p:nvSpPr>
        <p:spPr>
          <a:xfrm>
            <a:off x="685800" y="3410712"/>
            <a:ext cx="146304" cy="146304"/>
          </a:xfrm>
          <a:prstGeom prst="rect">
            <a:avLst/>
          </a:prstGeom>
          <a:solidFill>
            <a:srgbClr val="F0C040"/>
          </a:solidFill>
          <a:ln/>
        </p:spPr>
      </p:sp>
      <p:sp>
        <p:nvSpPr>
          <p:cNvPr id="19" name="Text 17"/>
          <p:cNvSpPr/>
          <p:nvPr/>
        </p:nvSpPr>
        <p:spPr>
          <a:xfrm>
            <a:off x="914400" y="3410712"/>
            <a:ext cx="11064240" cy="347472"/>
          </a:xfrm>
          <a:prstGeom prst="rect">
            <a:avLst/>
          </a:prstGeom>
          <a:noFill/>
          <a:ln/>
        </p:spPr>
        <p:txBody>
          <a:bodyPr wrap="square" lIns="0" tIns="0" rIns="0" bIns="0" rtlCol="0" anchor="ctr"/>
          <a:lstStyle/>
          <a:p>
            <a:pPr indent="0" marL="0">
              <a:buNone/>
            </a:pPr>
            <a:r>
              <a:rPr lang="en-US" sz="1000" dirty="0">
                <a:solidFill>
                  <a:srgbClr val="FFFFFF"/>
                </a:solidFill>
              </a:rPr>
              <a:t>SEM parcial listo · espera κ&gt;0.80 para desbloquear y₁ (Galtung), y₇ (Habermas), y₁₁ (Fricker)</a:t>
            </a:r>
            <a:endParaRPr lang="en-US" sz="1000" dirty="0"/>
          </a:p>
        </p:txBody>
      </p:sp>
      <p:sp>
        <p:nvSpPr>
          <p:cNvPr id="20" name="Shape 18"/>
          <p:cNvSpPr/>
          <p:nvPr/>
        </p:nvSpPr>
        <p:spPr>
          <a:xfrm>
            <a:off x="594360" y="3886200"/>
            <a:ext cx="11338560" cy="320040"/>
          </a:xfrm>
          <a:prstGeom prst="rect">
            <a:avLst/>
          </a:prstGeom>
          <a:solidFill>
            <a:srgbClr val="2A3A5A"/>
          </a:solidFill>
          <a:ln/>
        </p:spPr>
      </p:sp>
      <p:sp>
        <p:nvSpPr>
          <p:cNvPr id="21" name="Text 19"/>
          <p:cNvSpPr/>
          <p:nvPr/>
        </p:nvSpPr>
        <p:spPr>
          <a:xfrm>
            <a:off x="685800" y="3886200"/>
            <a:ext cx="11155680" cy="320040"/>
          </a:xfrm>
          <a:prstGeom prst="rect">
            <a:avLst/>
          </a:prstGeom>
          <a:noFill/>
          <a:ln/>
        </p:spPr>
        <p:txBody>
          <a:bodyPr wrap="square" lIns="0" tIns="0" rIns="0" bIns="0" rtlCol="0" anchor="ctr"/>
          <a:lstStyle/>
          <a:p>
            <a:pPr indent="0" marL="0">
              <a:buNone/>
            </a:pPr>
            <a:r>
              <a:rPr lang="en-US" sz="1100" b="1" dirty="0">
                <a:solidFill>
                  <a:srgbClr val="FCE4D6"/>
                </a:solidFill>
              </a:rPr>
              <a:t>PENDIENTE CRÍTICO 🔴</a:t>
            </a:r>
            <a:endParaRPr lang="en-US" sz="1100" dirty="0"/>
          </a:p>
        </p:txBody>
      </p:sp>
      <p:sp>
        <p:nvSpPr>
          <p:cNvPr id="22" name="Shape 20"/>
          <p:cNvSpPr/>
          <p:nvPr/>
        </p:nvSpPr>
        <p:spPr>
          <a:xfrm>
            <a:off x="685800" y="4233672"/>
            <a:ext cx="146304" cy="146304"/>
          </a:xfrm>
          <a:prstGeom prst="rect">
            <a:avLst/>
          </a:prstGeom>
          <a:solidFill>
            <a:srgbClr val="FCE4D6"/>
          </a:solidFill>
          <a:ln/>
        </p:spPr>
      </p:sp>
      <p:sp>
        <p:nvSpPr>
          <p:cNvPr id="23" name="Text 21"/>
          <p:cNvSpPr/>
          <p:nvPr/>
        </p:nvSpPr>
        <p:spPr>
          <a:xfrm>
            <a:off x="914400" y="4233672"/>
            <a:ext cx="11064240" cy="347472"/>
          </a:xfrm>
          <a:prstGeom prst="rect">
            <a:avLst/>
          </a:prstGeom>
          <a:noFill/>
          <a:ln/>
        </p:spPr>
        <p:txBody>
          <a:bodyPr wrap="square" lIns="0" tIns="0" rIns="0" bIns="0" rtlCol="0" anchor="ctr"/>
          <a:lstStyle/>
          <a:p>
            <a:pPr indent="0" marL="0">
              <a:buNone/>
            </a:pPr>
            <a:r>
              <a:rPr lang="en-US" sz="1000" dirty="0">
                <a:solidFill>
                  <a:srgbClr val="FFFFFF"/>
                </a:solidFill>
              </a:rPr>
              <a:t>κ&gt;0.80 → CFH-BERT v3 → indicadores faltantes → SEM completo (β₂₃, CFI, RMSEA, B=10,000)</a:t>
            </a:r>
            <a:endParaRPr lang="en-US" sz="1000" dirty="0"/>
          </a:p>
        </p:txBody>
      </p:sp>
      <p:sp>
        <p:nvSpPr>
          <p:cNvPr id="24" name="Shape 22"/>
          <p:cNvSpPr/>
          <p:nvPr/>
        </p:nvSpPr>
        <p:spPr>
          <a:xfrm>
            <a:off x="685800" y="4599432"/>
            <a:ext cx="146304" cy="146304"/>
          </a:xfrm>
          <a:prstGeom prst="rect">
            <a:avLst/>
          </a:prstGeom>
          <a:solidFill>
            <a:srgbClr val="FCE4D6"/>
          </a:solidFill>
          <a:ln/>
        </p:spPr>
      </p:sp>
      <p:sp>
        <p:nvSpPr>
          <p:cNvPr id="25" name="Text 23"/>
          <p:cNvSpPr/>
          <p:nvPr/>
        </p:nvSpPr>
        <p:spPr>
          <a:xfrm>
            <a:off x="914400" y="4599432"/>
            <a:ext cx="11064240" cy="347472"/>
          </a:xfrm>
          <a:prstGeom prst="rect">
            <a:avLst/>
          </a:prstGeom>
          <a:noFill/>
          <a:ln/>
        </p:spPr>
        <p:txBody>
          <a:bodyPr wrap="square" lIns="0" tIns="0" rIns="0" bIns="0" rtlCol="0" anchor="ctr"/>
          <a:lstStyle/>
          <a:p>
            <a:pPr indent="0" marL="0">
              <a:buNone/>
            </a:pPr>
            <a:r>
              <a:rPr lang="en-US" sz="1000" dirty="0">
                <a:solidFill>
                  <a:srgbClr val="FFFFFF"/>
                </a:solidFill>
              </a:rPr>
              <a:t>Paper en inglés (H3) — framework + dataset + resultados · entregable de defensa agosto 2026</a:t>
            </a:r>
            <a:endParaRPr lang="en-US" sz="1000" dirty="0"/>
          </a:p>
        </p:txBody>
      </p:sp>
      <p:sp>
        <p:nvSpPr>
          <p:cNvPr id="26" name="Shape 24"/>
          <p:cNvSpPr/>
          <p:nvPr/>
        </p:nvSpPr>
        <p:spPr>
          <a:xfrm>
            <a:off x="594360" y="5166360"/>
            <a:ext cx="11338560" cy="1325880"/>
          </a:xfrm>
          <a:prstGeom prst="rect">
            <a:avLst/>
          </a:prstGeom>
          <a:solidFill>
            <a:srgbClr val="16345A"/>
          </a:solidFill>
          <a:ln/>
          <a:effectLst>
            <a:outerShdw sx="100000" sy="100000" kx="0" ky="0" algn="bl" rotWithShape="0" blurRad="76200" dist="25400" dir="8100000">
              <a:srgbClr val="000000">
                <a:alpha val="12000"/>
              </a:srgbClr>
            </a:outerShdw>
          </a:effectLst>
        </p:spPr>
      </p:sp>
      <p:sp>
        <p:nvSpPr>
          <p:cNvPr id="27" name="Text 25"/>
          <p:cNvSpPr/>
          <p:nvPr/>
        </p:nvSpPr>
        <p:spPr>
          <a:xfrm>
            <a:off x="685800" y="5212080"/>
            <a:ext cx="11155680" cy="256032"/>
          </a:xfrm>
          <a:prstGeom prst="rect">
            <a:avLst/>
          </a:prstGeom>
          <a:noFill/>
          <a:ln/>
        </p:spPr>
        <p:txBody>
          <a:bodyPr wrap="square" lIns="0" tIns="0" rIns="0" bIns="0" rtlCol="0" anchor="ctr"/>
          <a:lstStyle/>
          <a:p>
            <a:pPr indent="0" marL="0">
              <a:buNone/>
            </a:pPr>
            <a:r>
              <a:rPr lang="en-US" sz="1050" b="1" dirty="0">
                <a:solidFill>
                  <a:srgbClr val="F0C040"/>
                </a:solidFill>
              </a:rPr>
              <a:t>INTEGRACIÓN TEÓRICO-COMPUTACIONAL:</a:t>
            </a:r>
            <a:endParaRPr lang="en-US" sz="1050" dirty="0"/>
          </a:p>
        </p:txBody>
      </p:sp>
      <p:sp>
        <p:nvSpPr>
          <p:cNvPr id="28" name="Text 26"/>
          <p:cNvSpPr/>
          <p:nvPr/>
        </p:nvSpPr>
        <p:spPr>
          <a:xfrm>
            <a:off x="685800" y="5486400"/>
            <a:ext cx="11155680" cy="347472"/>
          </a:xfrm>
          <a:prstGeom prst="rect">
            <a:avLst/>
          </a:prstGeom>
          <a:noFill/>
          <a:ln/>
        </p:spPr>
        <p:txBody>
          <a:bodyPr wrap="square" lIns="0" tIns="0" rIns="0" bIns="0" rtlCol="0" anchor="ctr"/>
          <a:lstStyle/>
          <a:p>
            <a:pPr indent="0" marL="0">
              <a:buNone/>
            </a:pPr>
            <a:r>
              <a:rPr lang="en-US" sz="1000" b="1" dirty="0">
                <a:solidFill>
                  <a:srgbClr val="7FB8FF"/>
                </a:solidFill>
              </a:rPr>
              <a:t>Habermas+Galtung </a:t>
            </a:r>
            <a:pPr indent="0" marL="0">
              <a:buNone/>
            </a:pPr>
            <a:r>
              <a:rPr lang="en-US" sz="1000" dirty="0">
                <a:solidFill>
                  <a:srgbClr val="FFFFFF"/>
                </a:solidFill>
              </a:rPr>
              <a:t>→ DIS Score (η₁) · violaciones al discurso y violencia cultural   </a:t>
            </a:r>
            <a:pPr indent="0" marL="0">
              <a:buNone/>
            </a:pPr>
            <a:r>
              <a:rPr lang="en-US" sz="1000" b="1" dirty="0">
                <a:solidFill>
                  <a:srgbClr val="D4A6FF"/>
                </a:solidFill>
              </a:rPr>
              <a:t>Fricker+Fraser </a:t>
            </a:r>
            <a:pPr indent="0" marL="0">
              <a:buNone/>
            </a:pPr>
            <a:r>
              <a:rPr lang="en-US" sz="1000" dirty="0">
                <a:solidFill>
                  <a:srgbClr val="FFFFFF"/>
                </a:solidFill>
              </a:rPr>
              <a:t>→ IEI Score (η₂) · injusticia epistémica y reconocimiento   </a:t>
            </a:r>
            <a:pPr indent="0" marL="0">
              <a:buNone/>
            </a:pPr>
            <a:r>
              <a:rPr lang="en-US" sz="1000" b="1" dirty="0">
                <a:solidFill>
                  <a:srgbClr val="90EE90"/>
                </a:solidFill>
              </a:rPr>
              <a:t>Habermas+Fraser </a:t>
            </a:r>
            <a:pPr indent="0" marL="0">
              <a:buNone/>
            </a:pPr>
            <a:r>
              <a:rPr lang="en-US" sz="1000" dirty="0">
                <a:solidFill>
                  <a:srgbClr val="FFFFFF"/>
                </a:solidFill>
              </a:rPr>
              <a:t>→ ICM tri-canal · sinceridad expresiva y paridad performativa</a:t>
            </a:r>
            <a:endParaRPr lang="en-US" sz="1000" dirty="0"/>
          </a:p>
        </p:txBody>
      </p:sp>
      <p:sp>
        <p:nvSpPr>
          <p:cNvPr id="29" name="Shape 27"/>
          <p:cNvSpPr/>
          <p:nvPr/>
        </p:nvSpPr>
        <p:spPr>
          <a:xfrm>
            <a:off x="594360" y="5870448"/>
            <a:ext cx="11338560" cy="457200"/>
          </a:xfrm>
          <a:prstGeom prst="rect">
            <a:avLst/>
          </a:prstGeom>
          <a:solidFill>
            <a:srgbClr val="C9A227"/>
          </a:solidFill>
          <a:ln/>
        </p:spPr>
      </p:sp>
      <p:sp>
        <p:nvSpPr>
          <p:cNvPr id="30" name="Text 28"/>
          <p:cNvSpPr/>
          <p:nvPr/>
        </p:nvSpPr>
        <p:spPr>
          <a:xfrm>
            <a:off x="685800" y="5888736"/>
            <a:ext cx="11155680" cy="411480"/>
          </a:xfrm>
          <a:prstGeom prst="rect">
            <a:avLst/>
          </a:prstGeom>
          <a:noFill/>
          <a:ln/>
        </p:spPr>
        <p:txBody>
          <a:bodyPr wrap="square" lIns="0" tIns="0" rIns="0" bIns="0" rtlCol="0" anchor="ctr"/>
          <a:lstStyle/>
          <a:p>
            <a:pPr indent="0" marL="0">
              <a:buNone/>
            </a:pPr>
            <a:r>
              <a:rPr lang="en-US" sz="1050" b="1" dirty="0">
                <a:solidFill>
                  <a:srgbClr val="1F4E79"/>
                </a:solidFill>
              </a:rPr>
              <a:t>ALCANCE H3: Framework CFH + Dataset κ&gt;0.80 + Paper inglés · H4 (5 papers post-defensa) = trabajo futuro declarado</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CFH - Protocolo Matematico y Experimentos v2</dc:title>
  <dc:subject>PptxGenJS Presentation</dc:subject>
  <dc:creator>Mireya Camacho Celis</dc:creator>
  <cp:lastModifiedBy>Mireya Camacho Celis</cp:lastModifiedBy>
  <cp:revision>1</cp:revision>
  <dcterms:created xsi:type="dcterms:W3CDTF">2026-06-02T13:00:27Z</dcterms:created>
  <dcterms:modified xsi:type="dcterms:W3CDTF">2026-06-02T13:00:27Z</dcterms:modified>
</cp:coreProperties>
</file>